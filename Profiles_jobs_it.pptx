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2" r:id="rId9"/>
    <p:sldId id="273" r:id="rId10"/>
    <p:sldId id="274" r:id="rId11"/>
    <p:sldId id="268" r:id="rId12"/>
    <p:sldId id="276" r:id="rId13"/>
    <p:sldId id="277" r:id="rId14"/>
    <p:sldId id="278" r:id="rId15"/>
    <p:sldId id="279" r:id="rId16"/>
    <p:sldId id="281" r:id="rId17"/>
    <p:sldId id="282" r:id="rId18"/>
    <p:sldId id="284" r:id="rId19"/>
    <p:sldId id="285" r:id="rId20"/>
    <p:sldId id="287" r:id="rId21"/>
    <p:sldId id="286" r:id="rId22"/>
    <p:sldId id="288" r:id="rId23"/>
    <p:sldId id="289" r:id="rId24"/>
    <p:sldId id="290" r:id="rId25"/>
    <p:sldId id="291" r:id="rId26"/>
    <p:sldId id="292" r:id="rId27"/>
    <p:sldId id="293" r:id="rId28"/>
    <p:sldId id="294" r:id="rId29"/>
    <p:sldId id="261" r:id="rId30"/>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6327"/>
  </p:normalViewPr>
  <p:slideViewPr>
    <p:cSldViewPr snapToGrid="0" snapToObjects="1">
      <p:cViewPr varScale="1">
        <p:scale>
          <a:sx n="61" d="100"/>
          <a:sy n="61" d="100"/>
        </p:scale>
        <p:origin x="860"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15/02/2021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ww.lesjeudis.com/technologies/marketing" TargetMode="Externa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dirty="0">
                <a:solidFill>
                  <a:schemeClr val="bg1"/>
                </a:solidFill>
              </a:rPr>
              <a:t>Une introduction 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err="1">
                <a:solidFill>
                  <a:schemeClr val="bg1"/>
                </a:solidFill>
              </a:rPr>
              <a:t>Contenu</a:t>
            </a:r>
            <a:endParaRPr lang="en-US" sz="3600" dirty="0">
              <a:solidFill>
                <a:schemeClr val="bg1"/>
              </a:solidFill>
            </a:endParaRP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2078966"/>
            <a:ext cx="5529532" cy="1569660"/>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t>Ingénieur</a:t>
            </a:r>
            <a:r>
              <a:rPr lang="en-US" sz="1200" dirty="0"/>
              <a:t> </a:t>
            </a:r>
            <a:r>
              <a:rPr lang="en-US" sz="1200" dirty="0" err="1"/>
              <a:t>Développement</a:t>
            </a:r>
            <a:r>
              <a:rPr lang="en-US" sz="1200" dirty="0"/>
              <a:t> Application/Web Developer</a:t>
            </a:r>
          </a:p>
          <a:p>
            <a:pPr lvl="2">
              <a:buFont typeface="Wingdings" pitchFamily="2" charset="2"/>
              <a:buChar char="§"/>
            </a:pPr>
            <a:r>
              <a:rPr lang="en-US" sz="1200" dirty="0" err="1"/>
              <a:t>Architecte</a:t>
            </a:r>
            <a:r>
              <a:rPr lang="en-US" sz="1200" dirty="0"/>
              <a:t> Application</a:t>
            </a:r>
          </a:p>
          <a:p>
            <a:pPr lvl="2">
              <a:buFont typeface="Wingdings" pitchFamily="2" charset="2"/>
              <a:buChar char="§"/>
            </a:pPr>
            <a:r>
              <a:rPr lang="en-US" sz="1200" dirty="0"/>
              <a:t>Data Analyst/Scientist/Engineer</a:t>
            </a:r>
          </a:p>
          <a:p>
            <a:pPr lvl="2">
              <a:buFont typeface="Wingdings" pitchFamily="2" charset="2"/>
              <a:buChar char="§"/>
            </a:pPr>
            <a:r>
              <a:rPr lang="en-US" sz="1200" dirty="0" err="1"/>
              <a:t>Ingénieur</a:t>
            </a:r>
            <a:r>
              <a:rPr lang="en-US" sz="1200" dirty="0"/>
              <a:t> Tester</a:t>
            </a:r>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015663"/>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t>Administrateur</a:t>
            </a:r>
            <a:r>
              <a:rPr lang="en-US" sz="1200" dirty="0"/>
              <a:t> </a:t>
            </a:r>
            <a:r>
              <a:rPr lang="en-US" sz="1200" dirty="0" err="1"/>
              <a:t>Réseaur</a:t>
            </a:r>
            <a:endParaRPr lang="en-US" sz="1200" dirty="0"/>
          </a:p>
          <a:p>
            <a:pPr lvl="2">
              <a:buFont typeface="Wingdings" pitchFamily="2" charset="2"/>
              <a:buChar char="§"/>
            </a:pPr>
            <a:r>
              <a:rPr lang="en-US" sz="1200" dirty="0" err="1"/>
              <a:t>Ingénieur</a:t>
            </a:r>
            <a:r>
              <a:rPr lang="en-US" sz="1200" dirty="0"/>
              <a:t> </a:t>
            </a:r>
            <a:r>
              <a:rPr lang="en-US" sz="1200" dirty="0" err="1"/>
              <a:t>Réseau</a:t>
            </a:r>
            <a:endParaRPr lang="en-US" sz="1200" dirty="0"/>
          </a:p>
          <a:p>
            <a:pPr lvl="2">
              <a:buFont typeface="Wingdings" pitchFamily="2" charset="2"/>
              <a:buChar char="§"/>
            </a:pPr>
            <a:r>
              <a:rPr lang="en-US" sz="1200" dirty="0" err="1"/>
              <a:t>Ingénieur</a:t>
            </a:r>
            <a:r>
              <a:rPr lang="en-US" sz="1200" dirty="0"/>
              <a:t> </a:t>
            </a:r>
            <a:r>
              <a:rPr lang="en-US" sz="1200" dirty="0" err="1"/>
              <a:t>Sécurité</a:t>
            </a:r>
            <a:endParaRPr lang="en-US" sz="1200" dirty="0"/>
          </a:p>
          <a:p>
            <a:pPr lvl="2">
              <a:buFont typeface="Wingdings" pitchFamily="2" charset="2"/>
              <a:buChar char="§"/>
            </a:pPr>
            <a:r>
              <a:rPr lang="en-US" sz="1200" dirty="0" err="1"/>
              <a:t>Ingénieur</a:t>
            </a:r>
            <a:r>
              <a:rPr lang="en-US" sz="1200" dirty="0"/>
              <a:t> Cloud</a:t>
            </a:r>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t>Ingénieur</a:t>
            </a:r>
            <a:r>
              <a:rPr lang="en-US" sz="1200" dirty="0"/>
              <a:t> DevOps</a:t>
            </a:r>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7290758" cy="4351338"/>
          </a:xfrm>
        </p:spPr>
        <p:txBody>
          <a:bodyPr>
            <a:normAutofit/>
          </a:bodyPr>
          <a:lstStyle/>
          <a:p>
            <a:r>
              <a:rPr lang="fr-FR" dirty="0"/>
              <a:t>Le secteur des technologies de l'information est un secteur d'activité qui travaille avec le calcul et les médias numériques, ainsi que le stockage.</a:t>
            </a:r>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7290758" cy="4351338"/>
          </a:xfrm>
        </p:spPr>
        <p:txBody>
          <a:bodyPr>
            <a:normAutofit lnSpcReduction="10000"/>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dirty="0" err="1"/>
              <a:t>Logiciel</a:t>
            </a:r>
            <a:endParaRPr lang="en-US" dirty="0"/>
          </a:p>
          <a:p>
            <a:pPr marL="800100" lvl="1" indent="-342900">
              <a:buFont typeface="+mj-lt"/>
              <a:buAutoNum type="arabicPeriod"/>
            </a:pPr>
            <a:r>
              <a:rPr lang="en-US" dirty="0"/>
              <a:t>Matériel</a:t>
            </a:r>
          </a:p>
          <a:p>
            <a:r>
              <a:rPr lang="fr-FR" dirty="0"/>
              <a:t>Tout profil d'emploi dans le domaine des technologies de l'information relève de l'une ou l'autre des deux branches. </a:t>
            </a:r>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Logiciel</a:t>
            </a:r>
            <a:endParaRPr lang="en-US" dirty="0"/>
          </a:p>
        </p:txBody>
      </p:sp>
      <p:sp>
        <p:nvSpPr>
          <p:cNvPr id="6" name="Content Placeholder 5"/>
          <p:cNvSpPr>
            <a:spLocks noGrp="1"/>
          </p:cNvSpPr>
          <p:nvPr>
            <p:ph idx="1"/>
          </p:nvPr>
        </p:nvSpPr>
        <p:spPr>
          <a:xfrm>
            <a:off x="4063042" y="1293962"/>
            <a:ext cx="7290758" cy="4351338"/>
          </a:xfrm>
        </p:spPr>
        <p:txBody>
          <a:bodyPr>
            <a:normAutofit/>
          </a:bodyPr>
          <a:lstStyle/>
          <a:p>
            <a:r>
              <a:rPr lang="fr-FR" dirty="0"/>
              <a:t>Il s'articule autour du cycle de vie complet d'une application / logiciel / site Web. De la conception au développement en passant par la production et la maintenance. </a:t>
            </a:r>
          </a:p>
          <a:p>
            <a:r>
              <a:rPr lang="en-US" dirty="0"/>
              <a:t> </a:t>
            </a:r>
            <a:r>
              <a:rPr lang="fr-FR" dirty="0"/>
              <a:t>L'ensemble de l'industrie du logiciel peut être divisé en deux, en fonction de ses fonctions: </a:t>
            </a:r>
            <a:endParaRPr lang="en-US"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None/>
            </a:pPr>
            <a:endParaRPr lang="en-US" dirty="0"/>
          </a:p>
          <a:p>
            <a:endParaRPr lang="en-US" dirty="0"/>
          </a:p>
        </p:txBody>
      </p:sp>
      <p:pic>
        <p:nvPicPr>
          <p:cNvPr id="3075" name="Picture 3" descr="D:\IT presentatation\DevOps-Development-Operations-Gap-B.jpg"/>
          <p:cNvPicPr>
            <a:picLocks noChangeAspect="1" noChangeArrowheads="1"/>
          </p:cNvPicPr>
          <p:nvPr/>
        </p:nvPicPr>
        <p:blipFill>
          <a:blip r:embed="rId3"/>
          <a:srcRect/>
          <a:stretch>
            <a:fillRect/>
          </a:stretch>
        </p:blipFill>
        <p:spPr bwMode="auto">
          <a:xfrm>
            <a:off x="3683479" y="4244196"/>
            <a:ext cx="8508521" cy="261380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Développement</a:t>
            </a:r>
            <a:r>
              <a:rPr lang="en-US" dirty="0"/>
              <a:t> </a:t>
            </a:r>
            <a:r>
              <a:rPr lang="en-US" dirty="0" err="1"/>
              <a:t>Logiciel</a:t>
            </a:r>
            <a:endParaRPr lang="en-US" dirty="0"/>
          </a:p>
        </p:txBody>
      </p:sp>
      <p:sp>
        <p:nvSpPr>
          <p:cNvPr id="6" name="Content Placeholder 5"/>
          <p:cNvSpPr>
            <a:spLocks noGrp="1"/>
          </p:cNvSpPr>
          <p:nvPr>
            <p:ph idx="1"/>
          </p:nvPr>
        </p:nvSpPr>
        <p:spPr>
          <a:xfrm>
            <a:off x="4063042" y="1825625"/>
            <a:ext cx="7290758" cy="4351338"/>
          </a:xfrm>
        </p:spPr>
        <p:txBody>
          <a:bodyPr>
            <a:normAutofit/>
          </a:bodyPr>
          <a:lstStyle/>
          <a:p>
            <a:r>
              <a:rPr lang="fr-FR" dirty="0"/>
              <a:t>Le</a:t>
            </a:r>
            <a:r>
              <a:rPr lang="fr-FR" b="1" dirty="0"/>
              <a:t> développement </a:t>
            </a:r>
            <a:r>
              <a:rPr lang="fr-FR" dirty="0"/>
              <a:t>d'un </a:t>
            </a:r>
            <a:r>
              <a:rPr lang="fr-FR"/>
              <a:t>logiciel a </a:t>
            </a:r>
            <a:r>
              <a:rPr lang="fr-FR" dirty="0"/>
              <a:t>un cycle de vie qui se compose de 6 étapes majeures.</a:t>
            </a:r>
            <a:r>
              <a:rPr lang="fr-FR" b="1" dirty="0"/>
              <a:t> </a:t>
            </a:r>
          </a:p>
          <a:p>
            <a:r>
              <a:rPr lang="fr-FR" dirty="0"/>
              <a:t>Les principaux profils d'emplois en développement sont les suivants: </a:t>
            </a:r>
            <a:endParaRPr lang="en-US" dirty="0"/>
          </a:p>
          <a:p>
            <a:pPr lvl="1"/>
            <a:r>
              <a:rPr lang="en-US" dirty="0"/>
              <a:t>Application/web developer</a:t>
            </a:r>
          </a:p>
          <a:p>
            <a:pPr lvl="1"/>
            <a:r>
              <a:rPr lang="en-US" dirty="0"/>
              <a:t>Application Analyst/architect</a:t>
            </a:r>
          </a:p>
          <a:p>
            <a:pPr lvl="1"/>
            <a:r>
              <a:rPr lang="en-US" dirty="0"/>
              <a:t>Data Analyst/Scientist</a:t>
            </a:r>
          </a:p>
          <a:p>
            <a:pPr lvl="1"/>
            <a:r>
              <a:rPr lang="en-US" dirty="0" err="1"/>
              <a:t>Testeur</a:t>
            </a:r>
            <a:r>
              <a:rPr lang="en-US" dirty="0"/>
              <a:t>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886825" y="3562102"/>
            <a:ext cx="2744458" cy="2744458"/>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a:t>
            </a:r>
            <a:r>
              <a:rPr lang="en-US" dirty="0" err="1"/>
              <a:t>Développeur</a:t>
            </a:r>
            <a:r>
              <a:rPr lang="en-US" dirty="0"/>
              <a:t> Application / Web </a:t>
            </a:r>
          </a:p>
        </p:txBody>
      </p:sp>
      <p:sp>
        <p:nvSpPr>
          <p:cNvPr id="6" name="Content Placeholder 5"/>
          <p:cNvSpPr>
            <a:spLocks noGrp="1"/>
          </p:cNvSpPr>
          <p:nvPr>
            <p:ph idx="1"/>
          </p:nvPr>
        </p:nvSpPr>
        <p:spPr>
          <a:xfrm>
            <a:off x="4063042" y="1825625"/>
            <a:ext cx="7290758" cy="4351338"/>
          </a:xfrm>
        </p:spPr>
        <p:txBody>
          <a:bodyPr>
            <a:normAutofit fontScale="25000" lnSpcReduction="20000"/>
          </a:bodyPr>
          <a:lstStyle/>
          <a:p>
            <a:pPr>
              <a:lnSpc>
                <a:spcPct val="170000"/>
              </a:lnSpc>
            </a:pPr>
            <a:r>
              <a:rPr lang="fr-FR" sz="4900" b="1" dirty="0"/>
              <a:t>Un développeur d'applications </a:t>
            </a:r>
            <a:r>
              <a:rPr lang="fr-FR" sz="4900" dirty="0"/>
              <a:t>est une personne qui traduit les exigences logicielles en code de programmation exploitable et qui gère et développe des programmes pour les entreprises. </a:t>
            </a:r>
            <a:endParaRPr lang="en-US" sz="4900" dirty="0"/>
          </a:p>
          <a:p>
            <a:pPr>
              <a:lnSpc>
                <a:spcPct val="170000"/>
              </a:lnSpc>
            </a:pPr>
            <a:r>
              <a:rPr lang="fr-FR" sz="4900" dirty="0"/>
              <a:t>Un développeur travaille généralement dans un domaine de développement spécifique tel que les applications de téléphonie mobile, les logiciels de comptabilité, les suites bureautiques ou les logiciels graphiques, et aura une connaissance approfondie d'au moins un langage informatique. </a:t>
            </a:r>
            <a:endParaRPr lang="en-US" sz="4900" dirty="0"/>
          </a:p>
          <a:p>
            <a:pPr>
              <a:lnSpc>
                <a:spcPct val="170000"/>
              </a:lnSpc>
            </a:pPr>
            <a:r>
              <a:rPr lang="fr-FR" sz="4900" dirty="0"/>
              <a:t>Un développeur d'applications peut écrire des applications, ou des applications, pour: </a:t>
            </a:r>
            <a:endParaRPr lang="en-US" sz="4900" dirty="0"/>
          </a:p>
          <a:p>
            <a:pPr lvl="1">
              <a:lnSpc>
                <a:spcPct val="170000"/>
              </a:lnSpc>
            </a:pPr>
            <a:r>
              <a:rPr lang="fr-FR" sz="4400" b="0" i="0" dirty="0">
                <a:solidFill>
                  <a:srgbClr val="000000"/>
                </a:solidFill>
                <a:effectLst/>
              </a:rPr>
              <a:t>Un système particulier, tel que Windows, Linux ou Android</a:t>
            </a:r>
            <a:endParaRPr lang="en-US" sz="4900" dirty="0"/>
          </a:p>
          <a:p>
            <a:pPr lvl="1">
              <a:lnSpc>
                <a:spcPct val="170000"/>
              </a:lnSpc>
            </a:pPr>
            <a:r>
              <a:rPr lang="fr-FR" sz="4900" dirty="0"/>
              <a:t>Sur de nombreuses plates-formes, y compris les ordinateurs et les appareils mobiles </a:t>
            </a:r>
            <a:r>
              <a:rPr lang="en-US" sz="4900" dirty="0"/>
              <a:t>.</a:t>
            </a:r>
          </a:p>
          <a:p>
            <a:pPr>
              <a:lnSpc>
                <a:spcPct val="170000"/>
              </a:lnSpc>
            </a:pPr>
            <a:r>
              <a:rPr lang="fr-FR" sz="4900" dirty="0"/>
              <a:t>Un </a:t>
            </a:r>
            <a:r>
              <a:rPr lang="fr-FR" sz="4900" b="1" dirty="0"/>
              <a:t>développeur Web</a:t>
            </a:r>
            <a:r>
              <a:rPr lang="fr-FR" sz="4900" dirty="0"/>
              <a:t>, en revanche, créera des applications et des services fiables et hautement performants, accessibles sur Internet.</a:t>
            </a:r>
            <a:r>
              <a:rPr lang="en-US" sz="4900" dirty="0"/>
              <a:t>.</a:t>
            </a:r>
          </a:p>
          <a:p>
            <a:pPr marL="800100" lvl="1" indent="-342900">
              <a:buNone/>
            </a:pP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55275"/>
            <a:ext cx="7290758" cy="1325563"/>
          </a:xfrm>
        </p:spPr>
        <p:txBody>
          <a:bodyPr/>
          <a:lstStyle/>
          <a:p>
            <a:r>
              <a:rPr lang="en-US" dirty="0" err="1"/>
              <a:t>Compétences</a:t>
            </a:r>
            <a:r>
              <a:rPr lang="en-US" dirty="0"/>
              <a:t> d’un </a:t>
            </a:r>
            <a:r>
              <a:rPr lang="en-US" dirty="0" err="1"/>
              <a:t>développeur</a:t>
            </a:r>
            <a:r>
              <a:rPr lang="en-US" dirty="0"/>
              <a:t> Applications</a:t>
            </a:r>
          </a:p>
        </p:txBody>
      </p:sp>
      <p:sp>
        <p:nvSpPr>
          <p:cNvPr id="6" name="Content Placeholder 5"/>
          <p:cNvSpPr>
            <a:spLocks noGrp="1"/>
          </p:cNvSpPr>
          <p:nvPr>
            <p:ph idx="1"/>
          </p:nvPr>
        </p:nvSpPr>
        <p:spPr>
          <a:xfrm>
            <a:off x="4063042" y="1480838"/>
            <a:ext cx="7290758" cy="4954468"/>
          </a:xfrm>
        </p:spPr>
        <p:txBody>
          <a:bodyPr>
            <a:normAutofit fontScale="25000" lnSpcReduction="20000"/>
          </a:bodyPr>
          <a:lstStyle/>
          <a:p>
            <a:r>
              <a:rPr lang="fr-FR" sz="5400" dirty="0"/>
              <a:t>Établir une spécification détaillée discutant avec les clients.</a:t>
            </a:r>
          </a:p>
          <a:p>
            <a:r>
              <a:rPr lang="fr-FR" sz="5400" dirty="0"/>
              <a:t>Écrivez le programme - pour ce faire, vous allez décomposer la spécification du programme en ses éléments les plus simples et traduire cette logique dans un langage de programmation.</a:t>
            </a:r>
          </a:p>
          <a:p>
            <a:r>
              <a:rPr lang="fr-FR" sz="5400" dirty="0"/>
              <a:t>Travaillez au sein d'une équipe - qui peut être constituée uniquement pour un projet particulier afin d'écrire une section spécifique du programme.</a:t>
            </a:r>
          </a:p>
          <a:p>
            <a:r>
              <a:rPr lang="fr-FR" sz="5400" dirty="0"/>
              <a:t>Testez des ensembles de données d'échantillons pour vérifier que la sortie du programme fonctionne comme prévu.</a:t>
            </a:r>
          </a:p>
          <a:p>
            <a:r>
              <a:rPr lang="fr-FR" sz="5400" dirty="0"/>
              <a:t>Connaitre un EDI de développement (Visual Studio, Eclipse …), et un langage de programmation (Java, C++….) parfaitement.</a:t>
            </a:r>
          </a:p>
          <a:p>
            <a:r>
              <a:rPr lang="fr-FR" sz="5400" dirty="0"/>
              <a:t>Installez le programme en production, une fois le test terminé.</a:t>
            </a:r>
          </a:p>
          <a:p>
            <a:r>
              <a:rPr lang="fr-FR" sz="5400" dirty="0"/>
              <a:t>Réagissez aux problèmes et corrigez le programme si nécessaire.</a:t>
            </a:r>
          </a:p>
          <a:p>
            <a:r>
              <a:rPr lang="fr-FR" sz="5400" dirty="0"/>
              <a:t>Évaluer et augmenter l'efficacité du programme.</a:t>
            </a:r>
          </a:p>
          <a:p>
            <a:r>
              <a:rPr lang="fr-FR" sz="5400" dirty="0"/>
              <a:t>Adaptez le programme aux nouvelles exigences, si nécessaire.</a:t>
            </a:r>
          </a:p>
          <a:p>
            <a:r>
              <a:rPr lang="fr-FR" sz="5400" dirty="0"/>
              <a:t>Effectuer des tests d'acceptation par les utilisateurs pour s'assurer que le programme peut être utilisé facilement, rapidement et avec précision.</a:t>
            </a:r>
          </a:p>
          <a:p>
            <a:r>
              <a:rPr lang="fr-FR" sz="5400" dirty="0"/>
              <a:t>Rédiger une documentation.</a:t>
            </a:r>
          </a:p>
          <a:p>
            <a:r>
              <a:rPr lang="fr-FR" sz="5400" dirty="0"/>
              <a:t>Consultez des manuels, des périodiques et des rapports techniques pour apprendre de nouvelles façons d'élaborer des programmes et de maintenir les compétences et connaissances existantes.</a:t>
            </a:r>
          </a:p>
          <a:p>
            <a:r>
              <a:rPr lang="fr-FR" sz="5400" dirty="0"/>
              <a:t>Mettre à jour, réparer, modifier et développer des logiciels existants et des applications génériques.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55275"/>
            <a:ext cx="7290758" cy="1325563"/>
          </a:xfrm>
        </p:spPr>
        <p:txBody>
          <a:bodyPr/>
          <a:lstStyle/>
          <a:p>
            <a:r>
              <a:rPr lang="en-US" dirty="0" err="1"/>
              <a:t>Compétence</a:t>
            </a:r>
            <a:r>
              <a:rPr lang="en-US" dirty="0"/>
              <a:t> d’un </a:t>
            </a:r>
            <a:r>
              <a:rPr lang="en-US" dirty="0" err="1"/>
              <a:t>Développeur</a:t>
            </a:r>
            <a:r>
              <a:rPr lang="en-US" dirty="0"/>
              <a:t> Web</a:t>
            </a:r>
          </a:p>
        </p:txBody>
      </p:sp>
      <p:sp>
        <p:nvSpPr>
          <p:cNvPr id="6" name="Content Placeholder 5"/>
          <p:cNvSpPr>
            <a:spLocks noGrp="1"/>
          </p:cNvSpPr>
          <p:nvPr>
            <p:ph idx="1"/>
          </p:nvPr>
        </p:nvSpPr>
        <p:spPr>
          <a:xfrm>
            <a:off x="4063042" y="1480838"/>
            <a:ext cx="7290758" cy="4600785"/>
          </a:xfrm>
        </p:spPr>
        <p:txBody>
          <a:bodyPr>
            <a:normAutofit fontScale="25000" lnSpcReduction="20000"/>
          </a:bodyPr>
          <a:lstStyle/>
          <a:p>
            <a:pPr>
              <a:lnSpc>
                <a:spcPct val="150000"/>
              </a:lnSpc>
            </a:pPr>
            <a:r>
              <a:rPr lang="fr-FR" sz="5400" dirty="0"/>
              <a:t>Écrivez du code dans un ou plusieurs langages de programmation ou de script, tels que PHP ou JavaScript.</a:t>
            </a:r>
          </a:p>
          <a:p>
            <a:pPr>
              <a:lnSpc>
                <a:spcPct val="150000"/>
              </a:lnSpc>
            </a:pPr>
            <a:r>
              <a:rPr lang="fr-FR" sz="5400" dirty="0"/>
              <a:t>Correction de bogues dans les projets existants.</a:t>
            </a:r>
          </a:p>
          <a:p>
            <a:pPr>
              <a:lnSpc>
                <a:spcPct val="150000"/>
              </a:lnSpc>
            </a:pPr>
            <a:r>
              <a:rPr lang="fr-FR" sz="5400" dirty="0"/>
              <a:t>Bonne </a:t>
            </a:r>
            <a:r>
              <a:rPr lang="fr-FR" sz="5400"/>
              <a:t>pratique du </a:t>
            </a:r>
            <a:r>
              <a:rPr lang="fr-FR" sz="5400" dirty="0"/>
              <a:t>test</a:t>
            </a:r>
          </a:p>
          <a:p>
            <a:pPr>
              <a:lnSpc>
                <a:spcPct val="150000"/>
              </a:lnSpc>
            </a:pPr>
            <a:r>
              <a:rPr lang="fr-FR" sz="5400" dirty="0"/>
              <a:t>Bien connaitre les interfaces de programme d'application (API)</a:t>
            </a:r>
          </a:p>
          <a:p>
            <a:pPr>
              <a:lnSpc>
                <a:spcPct val="150000"/>
              </a:lnSpc>
            </a:pPr>
            <a:r>
              <a:rPr lang="fr-FR" sz="5400" dirty="0"/>
              <a:t>Rencontrez les concepteurs, les développeurs et le personnel du projet pour des mises à jour d'avancement.</a:t>
            </a:r>
          </a:p>
          <a:p>
            <a:pPr>
              <a:lnSpc>
                <a:spcPct val="150000"/>
              </a:lnSpc>
            </a:pPr>
            <a:r>
              <a:rPr lang="fr-FR" sz="5400" dirty="0"/>
              <a:t>Rassemblez les exigences des clients et des utilisateurs.</a:t>
            </a:r>
          </a:p>
          <a:p>
            <a:pPr>
              <a:lnSpc>
                <a:spcPct val="150000"/>
              </a:lnSpc>
            </a:pPr>
            <a:r>
              <a:rPr lang="fr-FR" sz="5400" dirty="0"/>
              <a:t>Apprenez et testez de nouvelles technologies, cadres et langages.</a:t>
            </a:r>
          </a:p>
          <a:p>
            <a:pPr>
              <a:lnSpc>
                <a:spcPct val="150000"/>
              </a:lnSpc>
            </a:pPr>
            <a:r>
              <a:rPr lang="fr-FR" sz="5400" dirty="0"/>
              <a:t>Restez à jour avec les nouvelles tendances et les progrès du développement Web.</a:t>
            </a:r>
          </a:p>
          <a:p>
            <a:pPr>
              <a:lnSpc>
                <a:spcPct val="150000"/>
              </a:lnSpc>
            </a:pPr>
            <a:r>
              <a:rPr lang="fr-FR" sz="5400" dirty="0"/>
              <a:t>Effectuer la refactorisation du code et l'optimisation du code existant.</a:t>
            </a:r>
          </a:p>
          <a:p>
            <a:pPr>
              <a:lnSpc>
                <a:spcPct val="150000"/>
              </a:lnSpc>
            </a:pPr>
            <a:r>
              <a:rPr lang="fr-FR" sz="5400" dirty="0"/>
              <a:t>Documentez le code.</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55275"/>
            <a:ext cx="7290758" cy="1325563"/>
          </a:xfrm>
        </p:spPr>
        <p:txBody>
          <a:bodyPr/>
          <a:lstStyle/>
          <a:p>
            <a:r>
              <a:rPr lang="en-US" dirty="0" err="1"/>
              <a:t>Architecte</a:t>
            </a:r>
            <a:r>
              <a:rPr lang="en-US" dirty="0"/>
              <a:t> </a:t>
            </a:r>
            <a:r>
              <a:rPr lang="en-US" dirty="0" err="1"/>
              <a:t>Logiciel</a:t>
            </a:r>
            <a:endParaRPr lang="en-US" dirty="0"/>
          </a:p>
        </p:txBody>
      </p:sp>
      <p:sp>
        <p:nvSpPr>
          <p:cNvPr id="6" name="Content Placeholder 5"/>
          <p:cNvSpPr>
            <a:spLocks noGrp="1"/>
          </p:cNvSpPr>
          <p:nvPr>
            <p:ph idx="1"/>
          </p:nvPr>
        </p:nvSpPr>
        <p:spPr>
          <a:xfrm>
            <a:off x="4063042" y="1480838"/>
            <a:ext cx="7290758" cy="4600785"/>
          </a:xfrm>
        </p:spPr>
        <p:txBody>
          <a:bodyPr>
            <a:normAutofit fontScale="47500" lnSpcReduction="20000"/>
          </a:bodyPr>
          <a:lstStyle/>
          <a:p>
            <a:pPr>
              <a:lnSpc>
                <a:spcPct val="150000"/>
              </a:lnSpc>
            </a:pPr>
            <a:r>
              <a:rPr lang="fr-FR" dirty="0"/>
              <a:t>Les </a:t>
            </a:r>
            <a:r>
              <a:rPr lang="fr-FR" b="1" dirty="0"/>
              <a:t>architectes d'applications </a:t>
            </a:r>
            <a:r>
              <a:rPr lang="fr-FR" dirty="0"/>
              <a:t>sont responsables de l'administration, de la surveillance et de la maintenance des infrastructures et des applications logicielles.</a:t>
            </a:r>
          </a:p>
          <a:p>
            <a:pPr>
              <a:lnSpc>
                <a:spcPct val="150000"/>
              </a:lnSpc>
            </a:pPr>
            <a:r>
              <a:rPr lang="fr-FR" dirty="0"/>
              <a:t>Un architecte supervise les meilleures pratiques et les processus nécessaires au bon fonctionnement d'une entreprise pour fonctionner et réussir, agissant en tant que point de contact technique pour résoudre les problèmes d'application et de système - généralement sur une base immédiate.</a:t>
            </a:r>
          </a:p>
          <a:p>
            <a:pPr>
              <a:lnSpc>
                <a:spcPct val="150000"/>
              </a:lnSpc>
            </a:pPr>
            <a:r>
              <a:rPr lang="fr-FR" dirty="0"/>
              <a:t>Le titre du poste nécessite de travailler au sein de différents services informatiques aux côtés de développeurs d'applications et d'ingénieurs logiciels et impliqué dans des tâches telles que:</a:t>
            </a:r>
          </a:p>
          <a:p>
            <a:pPr>
              <a:lnSpc>
                <a:spcPct val="150000"/>
              </a:lnSpc>
            </a:pPr>
            <a:r>
              <a:rPr lang="fr-FR" dirty="0"/>
              <a:t>Formation et accompagnement du personnel dans l'utilisation des applications</a:t>
            </a:r>
          </a:p>
          <a:p>
            <a:pPr>
              <a:lnSpc>
                <a:spcPct val="150000"/>
              </a:lnSpc>
            </a:pPr>
            <a:r>
              <a:rPr lang="fr-FR" dirty="0"/>
              <a:t>Analyse et diagnostic des erreurs d'application</a:t>
            </a:r>
          </a:p>
          <a:p>
            <a:pPr>
              <a:lnSpc>
                <a:spcPct val="150000"/>
              </a:lnSpc>
            </a:pPr>
            <a:r>
              <a:rPr lang="fr-FR" dirty="0"/>
              <a:t>Résolution des problèmes à la fois à long et à court terme</a:t>
            </a:r>
          </a:p>
          <a:p>
            <a:pPr>
              <a:lnSpc>
                <a:spcPct val="150000"/>
              </a:lnSpc>
            </a:pPr>
            <a:r>
              <a:rPr lang="fr-FR" dirty="0"/>
              <a:t>Conception et développement d'applications existantes et nouvelles</a:t>
            </a:r>
          </a:p>
          <a:p>
            <a:pPr>
              <a:lnSpc>
                <a:spcPct val="150000"/>
              </a:lnSpc>
            </a:pPr>
            <a:r>
              <a:rPr lang="fr-FR" dirty="0"/>
              <a:t>Essais routiers et mise en œuvre de nouvelles applications.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Compétences</a:t>
            </a:r>
            <a:r>
              <a:rPr lang="en-US" dirty="0"/>
              <a:t> d’un </a:t>
            </a:r>
            <a:r>
              <a:rPr lang="en-US" dirty="0" err="1"/>
              <a:t>Architecte</a:t>
            </a:r>
            <a:r>
              <a:rPr lang="en-US" dirty="0"/>
              <a:t> </a:t>
            </a:r>
            <a:r>
              <a:rPr lang="en-US" dirty="0" err="1"/>
              <a:t>Logiciel</a:t>
            </a:r>
            <a:endParaRPr lang="en-US" dirty="0"/>
          </a:p>
        </p:txBody>
      </p:sp>
      <p:sp>
        <p:nvSpPr>
          <p:cNvPr id="6" name="Content Placeholder 5"/>
          <p:cNvSpPr>
            <a:spLocks noGrp="1"/>
          </p:cNvSpPr>
          <p:nvPr>
            <p:ph idx="1"/>
          </p:nvPr>
        </p:nvSpPr>
        <p:spPr>
          <a:xfrm>
            <a:off x="4063042" y="1825625"/>
            <a:ext cx="7290758" cy="4351338"/>
          </a:xfrm>
        </p:spPr>
        <p:txBody>
          <a:bodyPr>
            <a:normAutofit fontScale="25000" lnSpcReduction="20000"/>
          </a:bodyPr>
          <a:lstStyle/>
          <a:p>
            <a:r>
              <a:rPr lang="fr-FR" sz="4800" dirty="0"/>
              <a:t>Identifier le besoin organisationnel de nouvelles applications.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Planifiez des tests réguliers pour améliorer les systèmes et applications actuels.</a:t>
            </a:r>
          </a:p>
          <a:p>
            <a:r>
              <a:rPr lang="fr-FR" sz="4800" dirty="0"/>
              <a:t>Identifiez les changements de fonctionnalité.</a:t>
            </a:r>
          </a:p>
          <a:p>
            <a:r>
              <a:rPr lang="fr-FR" sz="4800" dirty="0"/>
              <a:t>Tenir à jour la documentation des bases de données clés et des applications liées.</a:t>
            </a:r>
          </a:p>
          <a:p>
            <a:r>
              <a:rPr lang="fr-FR" sz="4800" dirty="0"/>
              <a:t>Préparez et gérez les sprints et assurez-vous que toutes les exigences sont correctement remplies.</a:t>
            </a:r>
          </a:p>
          <a:p>
            <a:r>
              <a:rPr lang="fr-FR" sz="4800" dirty="0"/>
              <a:t>Participez régulièrement à des réunions internes et externes pour faire le point sur l'avancement de votre tâche et présenter aux utilisateurs les solutions applicatives que vous proposez.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Data Analyst/Scientist</a:t>
            </a:r>
          </a:p>
        </p:txBody>
      </p:sp>
      <p:sp>
        <p:nvSpPr>
          <p:cNvPr id="6" name="Content Placeholder 5"/>
          <p:cNvSpPr>
            <a:spLocks noGrp="1"/>
          </p:cNvSpPr>
          <p:nvPr>
            <p:ph idx="1"/>
          </p:nvPr>
        </p:nvSpPr>
        <p:spPr>
          <a:xfrm>
            <a:off x="4063042" y="1825625"/>
            <a:ext cx="7290758" cy="4351338"/>
          </a:xfrm>
        </p:spPr>
        <p:txBody>
          <a:bodyPr>
            <a:normAutofit/>
          </a:bodyPr>
          <a:lstStyle/>
          <a:p>
            <a:r>
              <a:rPr lang="fr-FR" dirty="0"/>
              <a:t>Un data </a:t>
            </a:r>
            <a:r>
              <a:rPr lang="fr-FR" dirty="0" err="1"/>
              <a:t>analyst</a:t>
            </a:r>
            <a:r>
              <a:rPr lang="fr-FR" dirty="0"/>
              <a:t> est un professionnel qui récupère et rassemble des données, les organise et les utilise pour tirer des conclusions significatives. Il s’intéresse au </a:t>
            </a:r>
            <a:r>
              <a:rPr lang="fr-FR"/>
              <a:t>Big Data.</a:t>
            </a:r>
            <a:endParaRPr lang="fr-FR" dirty="0"/>
          </a:p>
          <a:p>
            <a:r>
              <a:rPr lang="fr-FR" dirty="0"/>
              <a:t>Un data </a:t>
            </a:r>
            <a:r>
              <a:rPr lang="fr-FR" dirty="0" err="1"/>
              <a:t>scientist</a:t>
            </a:r>
            <a:r>
              <a:rPr lang="fr-FR" dirty="0"/>
              <a:t>, quant à lui, est responsable de l'analyse et de l'interprétation de très grandes quantités de données et est capable d'effectuer une analyse prédictive basée sur des modèles passés.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Comptétences</a:t>
            </a:r>
            <a:r>
              <a:rPr lang="en-US" dirty="0"/>
              <a:t> Data Analyst</a:t>
            </a:r>
          </a:p>
        </p:txBody>
      </p:sp>
      <p:sp>
        <p:nvSpPr>
          <p:cNvPr id="6" name="Content Placeholder 5"/>
          <p:cNvSpPr>
            <a:spLocks noGrp="1"/>
          </p:cNvSpPr>
          <p:nvPr>
            <p:ph idx="1"/>
          </p:nvPr>
        </p:nvSpPr>
        <p:spPr>
          <a:xfrm>
            <a:off x="4063042" y="1825625"/>
            <a:ext cx="7290758" cy="4351338"/>
          </a:xfrm>
        </p:spPr>
        <p:txBody>
          <a:bodyPr>
            <a:normAutofit fontScale="55000" lnSpcReduction="20000"/>
          </a:bodyPr>
          <a:lstStyle/>
          <a:p>
            <a:r>
              <a:rPr lang="fr-FR" dirty="0"/>
              <a:t>Élaborer des processus et des politiques de gestion des documents.</a:t>
            </a:r>
          </a:p>
          <a:p>
            <a:r>
              <a:rPr lang="fr-FR" dirty="0"/>
              <a:t>Identifiez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Rassemblez, comprenez et documentez les exigences commerciales détaillées à l'aide des outils et techniques appropriés.</a:t>
            </a:r>
          </a:p>
          <a:p>
            <a:r>
              <a:rPr lang="fr-FR" dirty="0"/>
              <a:t>Concevoir et réaliser des enquêtes et analyser les données d'enquête.</a:t>
            </a:r>
          </a:p>
          <a:p>
            <a:r>
              <a:rPr lang="fr-FR" dirty="0"/>
              <a:t>Préparez des rapports pour des publics internes et externes à l'aide d'outils de création de rapports d'analyse commerciale.</a:t>
            </a:r>
          </a:p>
          <a:p>
            <a:r>
              <a:rPr lang="fr-FR" dirty="0"/>
              <a:t>Créez des tableaux de bord de données, des graphiques et des visualisations.</a:t>
            </a:r>
          </a:p>
          <a:p>
            <a:r>
              <a:rPr lang="fr-FR" dirty="0"/>
              <a:t>Fournir une analyse comparative des secteurs et des concurrents.</a:t>
            </a:r>
          </a:p>
          <a:p>
            <a:r>
              <a:rPr lang="fr-FR" dirty="0"/>
              <a:t>Exploitez et analysez de grands ensembles de données, tirez des inférences valides et présentez-les avec succès à la direction à l'aide d'un outil de reporting.</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a:t>
            </a:r>
            <a:r>
              <a:rPr lang="en-US" dirty="0"/>
              <a:t> d’un Data Scientist</a:t>
            </a:r>
          </a:p>
        </p:txBody>
      </p:sp>
      <p:sp>
        <p:nvSpPr>
          <p:cNvPr id="6" name="Content Placeholder 5"/>
          <p:cNvSpPr>
            <a:spLocks noGrp="1"/>
          </p:cNvSpPr>
          <p:nvPr>
            <p:ph idx="1"/>
          </p:nvPr>
        </p:nvSpPr>
        <p:spPr>
          <a:xfrm>
            <a:off x="4063042" y="1825625"/>
            <a:ext cx="7290758" cy="4351338"/>
          </a:xfrm>
        </p:spPr>
        <p:txBody>
          <a:bodyPr>
            <a:normAutofit fontScale="85000" lnSpcReduction="10000"/>
          </a:bodyPr>
          <a:lstStyle/>
          <a:p>
            <a:r>
              <a:rPr lang="fr-FR" dirty="0"/>
              <a:t>à la connaissance de l'activité et du fonctionnement de l'entreprise ou de l'organisation qui l'emploie.</a:t>
            </a:r>
          </a:p>
          <a:p>
            <a:r>
              <a:rPr lang="fr-FR" dirty="0"/>
              <a:t>Il est à l'aise avec les techniques du data </a:t>
            </a:r>
            <a:r>
              <a:rPr lang="fr-FR" dirty="0" err="1"/>
              <a:t>mining</a:t>
            </a:r>
            <a:r>
              <a:rPr lang="fr-FR" dirty="0"/>
              <a:t> (exploration des données), les outils mathématiques statistiques et informatiques (IA).</a:t>
            </a:r>
          </a:p>
          <a:p>
            <a:r>
              <a:rPr lang="fr-FR" b="0" i="0" dirty="0">
                <a:solidFill>
                  <a:srgbClr val="182642"/>
                </a:solidFill>
                <a:effectLst/>
                <a:latin typeface="Lato"/>
              </a:rPr>
              <a:t>Il maîtrise les méthodes et normes de conception.</a:t>
            </a:r>
          </a:p>
          <a:p>
            <a:r>
              <a:rPr lang="fr-FR" b="0" i="0" dirty="0">
                <a:solidFill>
                  <a:srgbClr val="182642"/>
                </a:solidFill>
                <a:effectLst/>
                <a:latin typeface="Lato"/>
              </a:rPr>
              <a:t>Il a également la connaissance des systèmes de gestion de bases de données relationnelles ou non capables de gérer de grosses quantités de données.</a:t>
            </a:r>
          </a:p>
          <a:p>
            <a:r>
              <a:rPr lang="fr-FR" b="0" i="0" dirty="0">
                <a:solidFill>
                  <a:srgbClr val="182642"/>
                </a:solidFill>
                <a:effectLst/>
                <a:latin typeface="Lato"/>
              </a:rPr>
              <a:t>Le data </a:t>
            </a:r>
            <a:r>
              <a:rPr lang="fr-FR" b="0" i="0" dirty="0" err="1">
                <a:solidFill>
                  <a:srgbClr val="182642"/>
                </a:solidFill>
                <a:effectLst/>
                <a:latin typeface="Lato"/>
              </a:rPr>
              <a:t>scientist</a:t>
            </a:r>
            <a:r>
              <a:rPr lang="fr-FR" b="0" i="0" dirty="0">
                <a:solidFill>
                  <a:srgbClr val="182642"/>
                </a:solidFill>
                <a:effectLst/>
                <a:latin typeface="Lato"/>
              </a:rPr>
              <a:t> a un bon sens du business et s'intéresse aux </a:t>
            </a:r>
            <a:r>
              <a:rPr lang="fr-FR" b="0" i="0" u="none" strike="noStrike" dirty="0">
                <a:solidFill>
                  <a:srgbClr val="09A0DB"/>
                </a:solidFill>
                <a:effectLst/>
                <a:latin typeface="Lato"/>
                <a:hlinkClick r:id="rId3"/>
              </a:rPr>
              <a:t>techniques du marketing</a:t>
            </a:r>
            <a:r>
              <a:rPr lang="fr-FR" b="0" i="0" dirty="0">
                <a:solidFill>
                  <a:srgbClr val="182642"/>
                </a:solidFill>
                <a:effectLst/>
                <a:latin typeface="Lato"/>
              </a:rPr>
              <a:t>.</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a:t>
            </a:r>
            <a:r>
              <a:rPr lang="en-US" dirty="0" err="1"/>
              <a:t>Testeur</a:t>
            </a:r>
            <a:endParaRPr lang="en-US" dirty="0"/>
          </a:p>
        </p:txBody>
      </p:sp>
      <p:sp>
        <p:nvSpPr>
          <p:cNvPr id="6" name="Content Placeholder 5"/>
          <p:cNvSpPr>
            <a:spLocks noGrp="1"/>
          </p:cNvSpPr>
          <p:nvPr>
            <p:ph idx="1"/>
          </p:nvPr>
        </p:nvSpPr>
        <p:spPr>
          <a:xfrm>
            <a:off x="4063042" y="1690688"/>
            <a:ext cx="7290758" cy="4351338"/>
          </a:xfrm>
        </p:spPr>
        <p:txBody>
          <a:bodyPr>
            <a:noAutofit/>
          </a:bodyPr>
          <a:lstStyle/>
          <a:p>
            <a:pPr>
              <a:lnSpc>
                <a:spcPct val="120000"/>
              </a:lnSpc>
            </a:pPr>
            <a:r>
              <a:rPr lang="fr-FR" sz="1400" b="1" dirty="0"/>
              <a:t>Un testeur </a:t>
            </a:r>
            <a:r>
              <a:rPr lang="fr-FR" sz="1400" dirty="0"/>
              <a:t>est un professionnel qui effectue des tests automatisés et manuels pour s'assurer que le logiciel créé par les développeurs est adapté à son objectif et que tous les bogues ou problèmes sont supprimés dans un produit avant qu'il ne soit déployé auprès des utilisateurs quotidiens. </a:t>
            </a:r>
            <a:endParaRPr lang="en-US" sz="1400" dirty="0"/>
          </a:p>
          <a:p>
            <a:r>
              <a:rPr lang="fr-FR" sz="1400" dirty="0"/>
              <a:t>Un testeur doit être bien informé dans divers types de tests fonctionnels tels que: </a:t>
            </a:r>
            <a:endParaRPr lang="en-US" sz="1400" dirty="0"/>
          </a:p>
          <a:p>
            <a:pPr lvl="1"/>
            <a:r>
              <a:rPr lang="en-US" sz="1400" dirty="0"/>
              <a:t>Tests </a:t>
            </a:r>
            <a:r>
              <a:rPr lang="en-US" sz="1400" dirty="0" err="1"/>
              <a:t>Unitaires</a:t>
            </a:r>
            <a:endParaRPr lang="en-US" sz="1400" dirty="0"/>
          </a:p>
          <a:p>
            <a:pPr lvl="1"/>
            <a:r>
              <a:rPr lang="en-US" sz="1400" dirty="0"/>
              <a:t>Tests </a:t>
            </a:r>
            <a:r>
              <a:rPr lang="en-US" sz="1400" dirty="0" err="1"/>
              <a:t>d’intégration</a:t>
            </a:r>
            <a:endParaRPr lang="en-US" sz="1400" dirty="0"/>
          </a:p>
          <a:p>
            <a:pPr lvl="1"/>
            <a:r>
              <a:rPr lang="en-US" sz="1400" dirty="0"/>
              <a:t>Test </a:t>
            </a:r>
            <a:r>
              <a:rPr lang="en-US" sz="1400" dirty="0" err="1"/>
              <a:t>système</a:t>
            </a:r>
            <a:endParaRPr lang="en-US" sz="1400" dirty="0"/>
          </a:p>
          <a:p>
            <a:pPr lvl="1"/>
            <a:r>
              <a:rPr lang="en-US" sz="1400" dirty="0"/>
              <a:t>Tests de non </a:t>
            </a:r>
            <a:r>
              <a:rPr lang="en-US" sz="1400" dirty="0" err="1"/>
              <a:t>régression</a:t>
            </a:r>
            <a:endParaRPr lang="en-US" sz="1400" dirty="0"/>
          </a:p>
          <a:p>
            <a:r>
              <a:rPr lang="en-US" sz="1400" dirty="0"/>
              <a:t>Et tests non </a:t>
            </a:r>
            <a:r>
              <a:rPr lang="en-US" sz="1400" dirty="0" err="1"/>
              <a:t>fonctionnels</a:t>
            </a:r>
            <a:r>
              <a:rPr lang="en-US" sz="1400" dirty="0"/>
              <a:t>:</a:t>
            </a:r>
          </a:p>
          <a:p>
            <a:pPr lvl="1"/>
            <a:r>
              <a:rPr lang="en-US" sz="1400" dirty="0"/>
              <a:t>Tests de performance</a:t>
            </a:r>
          </a:p>
          <a:p>
            <a:pPr lvl="1"/>
            <a:r>
              <a:rPr lang="en-US" sz="1400" dirty="0"/>
              <a:t>Tests de </a:t>
            </a:r>
            <a:r>
              <a:rPr lang="en-US" sz="1400" dirty="0" err="1"/>
              <a:t>chargement</a:t>
            </a:r>
            <a:endParaRPr lang="en-US" sz="1400" dirty="0"/>
          </a:p>
          <a:p>
            <a:pPr lvl="1"/>
            <a:r>
              <a:rPr lang="en-US" sz="1400" dirty="0"/>
              <a:t>Tests de stress </a:t>
            </a:r>
          </a:p>
          <a:p>
            <a:pPr lvl="1"/>
            <a:r>
              <a:rPr lang="en-US" sz="1400" dirty="0"/>
              <a:t>Tests de </a:t>
            </a:r>
            <a:r>
              <a:rPr lang="en-US" sz="1400" dirty="0" err="1"/>
              <a:t>sécurité</a:t>
            </a:r>
            <a:endParaRPr lang="en-US" sz="1400" dirty="0"/>
          </a:p>
          <a:p>
            <a:pPr lvl="1"/>
            <a:r>
              <a:rPr lang="en-US" sz="1400" dirty="0"/>
              <a:t>Tests de </a:t>
            </a:r>
            <a:r>
              <a:rPr lang="en-US" sz="1400" dirty="0" err="1"/>
              <a:t>compatibilité</a:t>
            </a:r>
            <a:endParaRPr lang="en-US" sz="1400" dirty="0"/>
          </a:p>
          <a:p>
            <a:pPr lvl="1"/>
            <a:r>
              <a:rPr lang="en-US" sz="1400" dirty="0"/>
              <a:t>Tests </a:t>
            </a:r>
            <a:r>
              <a:rPr lang="en-US" sz="1400" dirty="0" err="1"/>
              <a:t>utilisateurs</a:t>
            </a:r>
            <a:endParaRPr lang="en-US" sz="1400" dirty="0"/>
          </a:p>
          <a:p>
            <a:pPr lvl="1"/>
            <a:r>
              <a:rPr lang="en-US" sz="1400" dirty="0"/>
              <a:t>Tests </a:t>
            </a:r>
            <a:r>
              <a:rPr lang="en-US" sz="1400" dirty="0" err="1"/>
              <a:t>conformités</a:t>
            </a:r>
            <a:endParaRPr lang="en-US" sz="1400" dirty="0"/>
          </a:p>
        </p:txBody>
      </p:sp>
    </p:spTree>
    <p:extLst>
      <p:ext uri="{BB962C8B-B14F-4D97-AF65-F5344CB8AC3E}">
        <p14:creationId xmlns:p14="http://schemas.microsoft.com/office/powerpoint/2010/main" val="13984044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Compétences</a:t>
            </a:r>
            <a:r>
              <a:rPr lang="en-US" dirty="0"/>
              <a:t> d'un </a:t>
            </a:r>
            <a:r>
              <a:rPr lang="en-US" dirty="0" err="1"/>
              <a:t>testeur</a:t>
            </a:r>
            <a:r>
              <a:rPr lang="en-US" dirty="0"/>
              <a:t> </a:t>
            </a:r>
          </a:p>
        </p:txBody>
      </p:sp>
      <p:sp>
        <p:nvSpPr>
          <p:cNvPr id="6" name="Content Placeholder 5"/>
          <p:cNvSpPr>
            <a:spLocks noGrp="1"/>
          </p:cNvSpPr>
          <p:nvPr>
            <p:ph idx="1"/>
          </p:nvPr>
        </p:nvSpPr>
        <p:spPr>
          <a:xfrm>
            <a:off x="4063042" y="1825625"/>
            <a:ext cx="7290758" cy="4351338"/>
          </a:xfrm>
        </p:spPr>
        <p:txBody>
          <a:bodyPr>
            <a:normAutofit fontScale="62500" lnSpcReduction="20000"/>
          </a:bodyPr>
          <a:lstStyle/>
          <a:p>
            <a:r>
              <a:rPr lang="fr-FR" dirty="0"/>
              <a:t>Effectuer des tests de résistance, des tests de performance, des tests fonctionnels et des tests d'évolutivité.</a:t>
            </a:r>
          </a:p>
          <a:p>
            <a:r>
              <a:rPr lang="fr-FR" dirty="0"/>
              <a:t>Écrivez et exécutez des scripts de test.</a:t>
            </a:r>
          </a:p>
          <a:p>
            <a:r>
              <a:rPr lang="fr-FR" dirty="0"/>
              <a:t>Exécutez des tests manuels et automatisés.</a:t>
            </a:r>
          </a:p>
          <a:p>
            <a:r>
              <a:rPr lang="fr-FR" dirty="0"/>
              <a:t>Testez dans différents environnements, y compris le Web et le mobile.</a:t>
            </a:r>
          </a:p>
          <a:p>
            <a:r>
              <a:rPr lang="fr-FR" dirty="0"/>
              <a:t>Rédiger des rapports de bogue.</a:t>
            </a:r>
          </a:p>
          <a:p>
            <a:r>
              <a:rPr lang="fr-FR" dirty="0"/>
              <a:t>Examiner la documentation.</a:t>
            </a:r>
          </a:p>
          <a:p>
            <a:r>
              <a:rPr lang="fr-FR" dirty="0"/>
              <a:t>Fournir une assurance qualité.</a:t>
            </a:r>
          </a:p>
          <a:p>
            <a:r>
              <a:rPr lang="fr-FR" dirty="0"/>
              <a:t>Fournir une rétroaction objective aux équipes de projet de développement logiciel.</a:t>
            </a:r>
          </a:p>
          <a:p>
            <a:r>
              <a:rPr lang="fr-FR" dirty="0"/>
              <a:t>Dépanner et résoudre les problèmes.</a:t>
            </a:r>
          </a:p>
          <a:p>
            <a:r>
              <a:rPr lang="fr-FR" dirty="0"/>
              <a:t>Concevez des tests pour atténuer les risques.</a:t>
            </a:r>
          </a:p>
          <a:p>
            <a:r>
              <a:rPr lang="fr-FR" dirty="0"/>
              <a:t>Présenter les résultats aux équipes de développement de logiciels et d'utilisateurs professionnels.</a:t>
            </a:r>
            <a:endParaRPr lang="en-US" dirty="0"/>
          </a:p>
          <a:p>
            <a:pPr>
              <a:buNone/>
            </a:pPr>
            <a:endParaRPr lang="en-US" dirty="0"/>
          </a:p>
        </p:txBody>
      </p:sp>
    </p:spTree>
    <p:extLst>
      <p:ext uri="{BB962C8B-B14F-4D97-AF65-F5344CB8AC3E}">
        <p14:creationId xmlns:p14="http://schemas.microsoft.com/office/powerpoint/2010/main" val="1398404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Opérations</a:t>
            </a:r>
            <a:r>
              <a:rPr lang="en-US" dirty="0"/>
              <a:t> </a:t>
            </a:r>
            <a:r>
              <a:rPr lang="en-US" dirty="0" err="1"/>
              <a:t>Logiciels</a:t>
            </a:r>
            <a:endParaRPr lang="en-US" dirty="0"/>
          </a:p>
        </p:txBody>
      </p:sp>
      <p:sp>
        <p:nvSpPr>
          <p:cNvPr id="6" name="Content Placeholder 5"/>
          <p:cNvSpPr>
            <a:spLocks noGrp="1"/>
          </p:cNvSpPr>
          <p:nvPr>
            <p:ph idx="1"/>
          </p:nvPr>
        </p:nvSpPr>
        <p:spPr>
          <a:xfrm>
            <a:off x="4063042" y="1825625"/>
            <a:ext cx="7290758" cy="4351338"/>
          </a:xfrm>
        </p:spPr>
        <p:txBody>
          <a:bodyPr>
            <a:normAutofit fontScale="85000" lnSpcReduction="20000"/>
          </a:bodyPr>
          <a:lstStyle/>
          <a:p>
            <a:r>
              <a:rPr lang="fr-FR" dirty="0"/>
              <a:t>Les opérations logicielles comprennent des processus administratifs avec prise en charge du matériel et des logiciels.</a:t>
            </a:r>
          </a:p>
          <a:p>
            <a:r>
              <a:rPr lang="fr-FR" dirty="0"/>
              <a:t>Les rôles importants de l'équipe des opérations informatiques comprennent la gestion de la technologie, l'assurance qualité, la gestion de l'infrastructure et la confirmation que les produits finis répondent à tous les besoins et attentes du client.</a:t>
            </a:r>
          </a:p>
          <a:p>
            <a:r>
              <a:rPr lang="fr-FR" dirty="0"/>
              <a:t>Les principaux profils d'emploi dans les opérations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endParaRPr lang="en-US" dirty="0"/>
          </a:p>
          <a:p>
            <a:pPr lvl="1"/>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Database Administrator/ </a:t>
            </a:r>
            <a:r>
              <a:rPr lang="en-US" dirty="0" err="1"/>
              <a:t>Ingénieur</a:t>
            </a:r>
            <a:r>
              <a:rPr lang="en-US" dirty="0"/>
              <a:t> Bases de </a:t>
            </a:r>
            <a:r>
              <a:rPr lang="en-US" dirty="0" err="1"/>
              <a:t>Données</a:t>
            </a:r>
            <a:endParaRPr lang="en-US" dirty="0"/>
          </a:p>
        </p:txBody>
      </p:sp>
      <p:sp>
        <p:nvSpPr>
          <p:cNvPr id="6" name="Content Placeholder 5"/>
          <p:cNvSpPr>
            <a:spLocks noGrp="1"/>
          </p:cNvSpPr>
          <p:nvPr>
            <p:ph idx="1"/>
          </p:nvPr>
        </p:nvSpPr>
        <p:spPr>
          <a:xfrm>
            <a:off x="4063042" y="1825625"/>
            <a:ext cx="7290758" cy="4351338"/>
          </a:xfrm>
        </p:spPr>
        <p:txBody>
          <a:bodyPr>
            <a:normAutofit fontScale="92500"/>
          </a:bodyPr>
          <a:lstStyle/>
          <a:p>
            <a:r>
              <a:rPr lang="fr-FR" dirty="0"/>
              <a:t>Un administrateur de base de données est un professionnel qui maintient les performances, l'intégrité et la sécurité d'une base de données.</a:t>
            </a:r>
            <a:endParaRPr lang="en-US" dirty="0"/>
          </a:p>
          <a:p>
            <a:r>
              <a:rPr lang="fr-FR"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Compétences</a:t>
            </a:r>
            <a:r>
              <a:rPr lang="en-US" dirty="0"/>
              <a:t> d’un DBA</a:t>
            </a:r>
          </a:p>
        </p:txBody>
      </p:sp>
      <p:sp>
        <p:nvSpPr>
          <p:cNvPr id="6" name="Content Placeholder 5"/>
          <p:cNvSpPr>
            <a:spLocks noGrp="1"/>
          </p:cNvSpPr>
          <p:nvPr>
            <p:ph idx="1"/>
          </p:nvPr>
        </p:nvSpPr>
        <p:spPr>
          <a:xfrm>
            <a:off x="4063042" y="1825625"/>
            <a:ext cx="7290758" cy="4351338"/>
          </a:xfrm>
        </p:spPr>
        <p:txBody>
          <a:bodyPr>
            <a:normAutofit fontScale="55000" lnSpcReduction="20000"/>
          </a:bodyPr>
          <a:lstStyle/>
          <a:p>
            <a:r>
              <a:rPr lang="fr-FR" dirty="0"/>
              <a:t>Établir les besoins des utilisateurs et surveiller l'accès et la sécurité des utilisateurs.</a:t>
            </a:r>
          </a:p>
          <a:p>
            <a:r>
              <a:rPr lang="fr-FR" dirty="0"/>
              <a:t>Surveillez les performances et gérez les paramètres afin de fournir des réponses rapides aux utilisateurs frontaux.</a:t>
            </a:r>
          </a:p>
          <a:p>
            <a:r>
              <a:rPr lang="fr-FR" dirty="0"/>
              <a:t>Cartographiez la conception conceptuelle d'une base de données planifiée.</a:t>
            </a:r>
          </a:p>
          <a:p>
            <a:r>
              <a:rPr lang="fr-FR" dirty="0"/>
              <a:t>Installez et testez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Contrôlez les autorisations d'accès et les privilèges.</a:t>
            </a:r>
          </a:p>
          <a:p>
            <a:r>
              <a:rPr lang="fr-FR" dirty="0"/>
              <a:t>Gérez et testez les plans de sauvegarde et de récupération.</a:t>
            </a:r>
          </a:p>
          <a:p>
            <a:r>
              <a:rPr lang="fr-FR" dirty="0"/>
              <a:t>Assurez-vous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a:t>
            </a:r>
            <a:r>
              <a:rPr lang="en-US" dirty="0" err="1"/>
              <a:t>Réseau</a:t>
            </a:r>
            <a:endParaRPr lang="en-US" dirty="0"/>
          </a:p>
        </p:txBody>
      </p:sp>
      <p:sp>
        <p:nvSpPr>
          <p:cNvPr id="6" name="Content Placeholder 5"/>
          <p:cNvSpPr>
            <a:spLocks noGrp="1"/>
          </p:cNvSpPr>
          <p:nvPr>
            <p:ph idx="1"/>
          </p:nvPr>
        </p:nvSpPr>
        <p:spPr>
          <a:xfrm>
            <a:off x="4063042" y="1825625"/>
            <a:ext cx="7290758" cy="4351338"/>
          </a:xfrm>
        </p:spPr>
        <p:txBody>
          <a:bodyPr>
            <a:normAutofit/>
          </a:bodyPr>
          <a:lstStyle/>
          <a:p>
            <a:r>
              <a:rPr lang="fr-FR" dirty="0"/>
              <a:t>Un ingénieur réseau est un professionnel responsable de la mise en place, du développement et de la maintenance des réseaux informatiques au sein d'une organisation ou entre organisations.</a:t>
            </a:r>
          </a:p>
          <a:p>
            <a:r>
              <a:rPr lang="fr-FR" dirty="0"/>
              <a:t>Garantit l'intégrité de l'infrastructure réseau haute disponibilité pour fournir des performances maximales à vos utilisateurs, y compris des réseaux tels que la voix et le pare-feu.</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a:t>
            </a:r>
            <a:r>
              <a:rPr lang="en-US" dirty="0"/>
              <a:t> d’un </a:t>
            </a:r>
            <a:r>
              <a:rPr lang="en-US" dirty="0" err="1"/>
              <a:t>Ingénieur</a:t>
            </a:r>
            <a:r>
              <a:rPr lang="en-US" dirty="0"/>
              <a:t> </a:t>
            </a:r>
            <a:r>
              <a:rPr lang="en-US" dirty="0" err="1"/>
              <a:t>Réseau</a:t>
            </a:r>
            <a:endParaRPr lang="en-US" dirty="0"/>
          </a:p>
        </p:txBody>
      </p:sp>
      <p:sp>
        <p:nvSpPr>
          <p:cNvPr id="6" name="Content Placeholder 5"/>
          <p:cNvSpPr>
            <a:spLocks noGrp="1"/>
          </p:cNvSpPr>
          <p:nvPr>
            <p:ph idx="1"/>
          </p:nvPr>
        </p:nvSpPr>
        <p:spPr>
          <a:xfrm>
            <a:off x="4063042" y="1825625"/>
            <a:ext cx="7290758" cy="4747703"/>
          </a:xfrm>
        </p:spPr>
        <p:txBody>
          <a:bodyPr>
            <a:normAutofit fontScale="47500" lnSpcReduction="20000"/>
          </a:bodyPr>
          <a:lstStyle/>
          <a:p>
            <a:r>
              <a:rPr lang="fr-FR" dirty="0"/>
              <a:t>Établir l'environnement réseau en concevant la configuration du système, en dirigeant l'installation du système et en définissant, documentant et appliquant les normes du système.</a:t>
            </a:r>
          </a:p>
          <a:p>
            <a:r>
              <a:rPr lang="fr-FR" dirty="0"/>
              <a:t>Optimisez les performances du réseau en surveillant les performances, en résolvant les problèmes et les pannes de réseau, en planifiant les mises à niveau et en collaborant avec les architectes réseau sur l'optimisation du réseau.</a:t>
            </a:r>
          </a:p>
          <a:p>
            <a:r>
              <a:rPr lang="fr-FR" dirty="0"/>
              <a:t>Entreprendre des enquêtes sur les pannes du réseau de données dans des environnements locaux et étendus à l'aide d'informations provenant de plusieurs sources.</a:t>
            </a:r>
          </a:p>
          <a:p>
            <a:r>
              <a:rPr lang="fr-FR" dirty="0"/>
              <a:t>Sécurisez les systèmes de réseau en établissant et en appliquant des politiques, et en définissant et en surveillant l'accès.</a:t>
            </a:r>
          </a:p>
          <a:p>
            <a:r>
              <a:rPr lang="fr-FR" dirty="0"/>
              <a:t>Soutenir et administrer les environnements de pare-feu conformément à la politique de sécurité informatique.</a:t>
            </a:r>
          </a:p>
          <a:p>
            <a:r>
              <a:rPr lang="fr-FR" dirty="0"/>
              <a:t>Signaler l'état opérationnel du réseau en collectant et en hiérarchisant les informations et en gérant les projets.</a:t>
            </a:r>
          </a:p>
          <a:p>
            <a:r>
              <a:rPr lang="fr-FR" dirty="0"/>
              <a:t>Mettez à niveau l'équipement de réseau de données vers les dernières versions de micrologiciel stables.</a:t>
            </a:r>
          </a:p>
          <a:p>
            <a:r>
              <a:rPr lang="fr-FR" dirty="0"/>
              <a:t>Configurez les équipements de routage et de commutation, les services vocaux IP hébergés et les pare-feu.</a:t>
            </a:r>
          </a:p>
          <a:p>
            <a:r>
              <a:rPr lang="fr-FR" dirty="0"/>
              <a:t>Fournir une assistance à distance aux ingénieurs sur site et aux utilisateurs finaux / clients pendant l'installation.</a:t>
            </a:r>
          </a:p>
          <a:p>
            <a:r>
              <a:rPr lang="fr-FR" dirty="0"/>
              <a:t>Fournir un dépannage et une recherche de pannes à distance si des problèmes surviennent lors de l'installation initiale.</a:t>
            </a:r>
          </a:p>
          <a:p>
            <a:r>
              <a:rPr lang="fr-FR" dirty="0"/>
              <a:t>Entreprendre la gestion de la capacité et l'audit de l'adressage IP et des appareils hébergés dans les centres de données.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a:t>
            </a:r>
            <a:r>
              <a:rPr lang="en-US" dirty="0" err="1"/>
              <a:t>Sécurité</a:t>
            </a:r>
            <a:endParaRPr lang="en-US" dirty="0"/>
          </a:p>
        </p:txBody>
      </p:sp>
      <p:sp>
        <p:nvSpPr>
          <p:cNvPr id="6" name="Content Placeholder 5"/>
          <p:cNvSpPr>
            <a:spLocks noGrp="1"/>
          </p:cNvSpPr>
          <p:nvPr>
            <p:ph idx="1"/>
          </p:nvPr>
        </p:nvSpPr>
        <p:spPr>
          <a:xfrm>
            <a:off x="4063042" y="1825625"/>
            <a:ext cx="7290758" cy="4351338"/>
          </a:xfrm>
        </p:spPr>
        <p:txBody>
          <a:bodyPr>
            <a:normAutofit lnSpcReduction="10000"/>
          </a:bodyPr>
          <a:lstStyle/>
          <a:p>
            <a:r>
              <a:rPr lang="fr-FR" dirty="0"/>
              <a:t>Un ingénieur en cybersécurité est un professionnel chargé de protéger l'infrastructure informatique (y compris les réseaux, le matériel et les logiciels) contre une gamme d'activités criminelles.</a:t>
            </a:r>
          </a:p>
          <a:p>
            <a:r>
              <a:rPr lang="fr-FR" dirty="0"/>
              <a:t>Surveillez les réseaux et les systèmes, détectez les menaces de sécurité (`` événements ''), analysez et évaluez les alarmes et signalez les menaces, les tentatives d'intrusion et les fausses alarmes, en les résolvant ou en les augmentant, selon la gravité.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a:t>
            </a:r>
            <a:r>
              <a:rPr lang="en-US" dirty="0"/>
              <a:t> d’un </a:t>
            </a:r>
            <a:r>
              <a:rPr lang="en-US" dirty="0" err="1"/>
              <a:t>ingénieur</a:t>
            </a:r>
            <a:r>
              <a:rPr lang="en-US" dirty="0"/>
              <a:t> </a:t>
            </a:r>
            <a:r>
              <a:rPr lang="en-US" dirty="0" err="1"/>
              <a:t>Sécurité</a:t>
            </a:r>
            <a:endParaRPr lang="en-US" dirty="0"/>
          </a:p>
        </p:txBody>
      </p:sp>
      <p:sp>
        <p:nvSpPr>
          <p:cNvPr id="6" name="Content Placeholder 5"/>
          <p:cNvSpPr>
            <a:spLocks noGrp="1"/>
          </p:cNvSpPr>
          <p:nvPr>
            <p:ph idx="1"/>
          </p:nvPr>
        </p:nvSpPr>
        <p:spPr>
          <a:xfrm>
            <a:off x="4063042" y="1825625"/>
            <a:ext cx="7290758" cy="4557921"/>
          </a:xfrm>
        </p:spPr>
        <p:txBody>
          <a:bodyPr>
            <a:normAutofit fontScale="550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Planifiez la reprise après sinistre et créez des plans d'urgence en cas de faille de sécurité.</a:t>
            </a:r>
          </a:p>
          <a:p>
            <a:r>
              <a:rPr lang="fr-FR" dirty="0"/>
              <a:t>Surveillez les attaques, intrusions et activités inhabituelles, non autorisées ou illégales.</a:t>
            </a:r>
          </a:p>
          <a:p>
            <a:r>
              <a:rPr lang="fr-FR" dirty="0"/>
              <a:t>Utilisez des outils d'analyse avancés pour déterminer les modèles de menaces et les vulnérabilités émergentes.</a:t>
            </a:r>
          </a:p>
          <a:p>
            <a:r>
              <a:rPr lang="fr-FR" dirty="0"/>
              <a:t>Participez au «piratage éthique», par exemple en simulant des failles de sécurité.</a:t>
            </a:r>
          </a:p>
          <a:p>
            <a:r>
              <a:rPr lang="fr-FR" dirty="0"/>
              <a:t>Identifiez les faiblesses potentielles et mettez en œuvre des mesures, telles que les pare-feu et le chiffrement.</a:t>
            </a:r>
          </a:p>
          <a:p>
            <a:r>
              <a:rPr lang="fr-FR" dirty="0"/>
              <a:t>Examinez les alertes de sécurité et fournissez une réponse aux incidents.</a:t>
            </a:r>
          </a:p>
          <a:p>
            <a:r>
              <a:rPr lang="fr-FR" dirty="0"/>
              <a:t>Surveillez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Surveillez et répondez aux e-mails de «phishing» et aux activités de «pharming».</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Cloud</a:t>
            </a:r>
          </a:p>
        </p:txBody>
      </p:sp>
      <p:sp>
        <p:nvSpPr>
          <p:cNvPr id="6" name="Content Placeholder 5"/>
          <p:cNvSpPr>
            <a:spLocks noGrp="1"/>
          </p:cNvSpPr>
          <p:nvPr>
            <p:ph idx="1"/>
          </p:nvPr>
        </p:nvSpPr>
        <p:spPr>
          <a:xfrm>
            <a:off x="4063042" y="1825625"/>
            <a:ext cx="7290758" cy="4351338"/>
          </a:xfrm>
        </p:spPr>
        <p:txBody>
          <a:bodyPr>
            <a:normAutofit/>
          </a:bodyPr>
          <a:lstStyle/>
          <a:p>
            <a:r>
              <a:rPr lang="fr-FR" dirty="0"/>
              <a:t>Les ingénieurs cloud sont responsables de l'exécution des tâches techniques associées au cloud </a:t>
            </a:r>
            <a:r>
              <a:rPr lang="fr-FR" dirty="0" err="1"/>
              <a:t>computing</a:t>
            </a:r>
            <a:r>
              <a:rPr lang="fr-FR" dirty="0"/>
              <a:t>. Cela peut impliquer n'importe quoi, de la conception de logiciels et de systèmes cloud à leur mise en œuvre et leur maintenance.</a:t>
            </a:r>
          </a:p>
          <a:p>
            <a:r>
              <a:rPr lang="fr-FR" dirty="0"/>
              <a:t>Implémentez des applications cloud, migrez les applications sur site existantes vers le cloud et déboguez les piles cloud.</a:t>
            </a:r>
            <a:endParaRPr lang="en-US" dirty="0"/>
          </a:p>
          <a:p>
            <a:pPr>
              <a:buNone/>
            </a:pP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a:t>
            </a:r>
            <a:r>
              <a:rPr lang="en-US" dirty="0"/>
              <a:t> d’un </a:t>
            </a:r>
            <a:r>
              <a:rPr lang="en-US" dirty="0" err="1"/>
              <a:t>Ingénieur</a:t>
            </a:r>
            <a:r>
              <a:rPr lang="en-US" dirty="0"/>
              <a:t> Cloud</a:t>
            </a:r>
          </a:p>
        </p:txBody>
      </p:sp>
      <p:sp>
        <p:nvSpPr>
          <p:cNvPr id="6" name="Content Placeholder 5"/>
          <p:cNvSpPr>
            <a:spLocks noGrp="1"/>
          </p:cNvSpPr>
          <p:nvPr>
            <p:ph idx="1"/>
          </p:nvPr>
        </p:nvSpPr>
        <p:spPr>
          <a:xfrm>
            <a:off x="4063042" y="1825625"/>
            <a:ext cx="7290758" cy="4557921"/>
          </a:xfrm>
        </p:spPr>
        <p:txBody>
          <a:bodyPr>
            <a:normAutofit fontScale="55000" lnSpcReduction="20000"/>
          </a:bodyPr>
          <a:lstStyle/>
          <a:p>
            <a:r>
              <a:rPr lang="fr-FR" dirty="0"/>
              <a:t>Collaborez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Concevez, développez et déployez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Identifiez, analysez et résolvez les vulnérabilités de l'infrastructure et les problèmes de déploiement d'applications.</a:t>
            </a:r>
          </a:p>
          <a:p>
            <a:r>
              <a:rPr lang="fr-FR" dirty="0"/>
              <a:t>Examiner régulièrement les systèmes existants et faire des recommandations d'amélioration.</a:t>
            </a:r>
          </a:p>
          <a:p>
            <a:r>
              <a:rPr lang="fr-FR" dirty="0"/>
              <a:t>Interagissez avec les clients, en fournissant une assistance cloud et en formulant des recommandations en fonction des besoins des clients.</a:t>
            </a:r>
            <a:endParaRPr lang="en-US" dirty="0"/>
          </a:p>
          <a:p>
            <a:pPr>
              <a:buNone/>
            </a:pPr>
            <a:endParaRPr lang="en-US" dirty="0"/>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DevOps</a:t>
            </a:r>
            <a:endParaRPr lang="en-US" dirty="0"/>
          </a:p>
        </p:txBody>
      </p:sp>
      <p:sp>
        <p:nvSpPr>
          <p:cNvPr id="6" name="Content Placeholder 5"/>
          <p:cNvSpPr>
            <a:spLocks noGrp="1"/>
          </p:cNvSpPr>
          <p:nvPr>
            <p:ph idx="1"/>
          </p:nvPr>
        </p:nvSpPr>
        <p:spPr>
          <a:xfrm>
            <a:off x="4063042" y="1825625"/>
            <a:ext cx="7290758" cy="4351338"/>
          </a:xfrm>
        </p:spPr>
        <p:txBody>
          <a:bodyPr>
            <a:normAutofit lnSpcReduction="10000"/>
          </a:bodyPr>
          <a:lstStyle/>
          <a:p>
            <a:r>
              <a:rPr lang="fr-FR" dirty="0"/>
              <a:t>Le DevOps est un ensemble de pratiques / combinaison </a:t>
            </a:r>
            <a:r>
              <a:rPr lang="fr-FR" dirty="0" err="1"/>
              <a:t>interfonctionnelle</a:t>
            </a:r>
            <a:r>
              <a:rPr lang="fr-FR" dirty="0"/>
              <a:t> qui combine le développement logiciel (Dev) et les opérations informatiques (Ops).</a:t>
            </a:r>
          </a:p>
          <a:p>
            <a:r>
              <a:rPr lang="fr-FR"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Ingénieur</a:t>
            </a:r>
            <a:r>
              <a:rPr lang="en-US" dirty="0"/>
              <a:t> DevOps</a:t>
            </a:r>
          </a:p>
        </p:txBody>
      </p:sp>
      <p:sp>
        <p:nvSpPr>
          <p:cNvPr id="6" name="Content Placeholder 5"/>
          <p:cNvSpPr>
            <a:spLocks noGrp="1"/>
          </p:cNvSpPr>
          <p:nvPr>
            <p:ph idx="1"/>
          </p:nvPr>
        </p:nvSpPr>
        <p:spPr>
          <a:xfrm>
            <a:off x="4063042" y="1825625"/>
            <a:ext cx="7290758" cy="4351338"/>
          </a:xfrm>
        </p:spPr>
        <p:txBody>
          <a:bodyPr>
            <a:normAutofit/>
          </a:bodyPr>
          <a:lstStyle/>
          <a:p>
            <a:r>
              <a:rPr lang="fr-FR" dirty="0"/>
              <a:t>Les ingénieurs DevOps sont des professionnels qui travaillent avec les développeurs et le personnel informatique pour gérer la production des versions de code.</a:t>
            </a:r>
          </a:p>
          <a:p>
            <a:r>
              <a:rPr lang="fr-FR" dirty="0"/>
              <a:t>Ils automatisent la construction, le test et maintiennent l'infrastructure et les outils pour permettre le développement et la publication rapides des logiciels. </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err="1"/>
              <a:t>Compétence</a:t>
            </a:r>
            <a:r>
              <a:rPr lang="en-US" dirty="0"/>
              <a:t> d’un </a:t>
            </a:r>
            <a:r>
              <a:rPr lang="en-US" dirty="0" err="1"/>
              <a:t>Ingénieur</a:t>
            </a:r>
            <a:r>
              <a:rPr lang="en-US" dirty="0"/>
              <a:t> DevOps</a:t>
            </a:r>
          </a:p>
        </p:txBody>
      </p:sp>
      <p:sp>
        <p:nvSpPr>
          <p:cNvPr id="6" name="Content Placeholder 5"/>
          <p:cNvSpPr>
            <a:spLocks noGrp="1"/>
          </p:cNvSpPr>
          <p:nvPr>
            <p:ph idx="1"/>
          </p:nvPr>
        </p:nvSpPr>
        <p:spPr>
          <a:xfrm>
            <a:off x="4063042" y="1825625"/>
            <a:ext cx="7290758" cy="4351338"/>
          </a:xfrm>
        </p:spPr>
        <p:txBody>
          <a:bodyPr>
            <a:normAutofit fontScale="70000" lnSpcReduction="20000"/>
          </a:bodyPr>
          <a:lstStyle/>
          <a:p>
            <a:pPr fontAlgn="base"/>
            <a:r>
              <a:rPr lang="fr-FR" dirty="0"/>
              <a:t>Construire et mettre en place de nouveaux outils et infrastructures de développement.</a:t>
            </a:r>
          </a:p>
          <a:p>
            <a:pPr fontAlgn="base"/>
            <a:r>
              <a:rPr lang="fr-FR" dirty="0"/>
              <a:t>Travaillez sur des moyens d'automatiser et d'améliorer les processus de développement et de publication.</a:t>
            </a:r>
          </a:p>
          <a:p>
            <a:pPr fontAlgn="base"/>
            <a:r>
              <a:rPr lang="fr-FR" dirty="0"/>
              <a:t>Tester et examiner le code écrit par d'autres et analyser les résultats.</a:t>
            </a:r>
          </a:p>
          <a:p>
            <a:pPr fontAlgn="base"/>
            <a:r>
              <a:rPr lang="fr-FR" dirty="0"/>
              <a:t>Assurez-vous que les systèmes sont sûrs et sécurisés contre les menaces de cybersécurité.</a:t>
            </a:r>
          </a:p>
          <a:p>
            <a:pPr fontAlgn="base"/>
            <a:r>
              <a:rPr lang="fr-FR" dirty="0"/>
              <a:t>Identifier les problèmes techniques et développer des mises à jour logicielles et des «correctifs».</a:t>
            </a:r>
          </a:p>
          <a:p>
            <a:pPr fontAlgn="base"/>
            <a:r>
              <a:rPr lang="fr-FR" dirty="0"/>
              <a:t>Travailler avec les développeurs de logiciels et les ingénieurs en logiciel pour s'assurer que le développement suit les processus établis et fonctionne comme prévu.</a:t>
            </a:r>
          </a:p>
          <a:p>
            <a:pPr fontAlgn="base"/>
            <a:r>
              <a:rPr lang="fr-FR" dirty="0"/>
              <a:t>Planifier les projets et participer aux décisions de gestion de projet.</a:t>
            </a:r>
            <a:endParaRPr lang="en-US" dirty="0"/>
          </a:p>
        </p:txBody>
      </p:sp>
    </p:spTree>
    <p:extLst>
      <p:ext uri="{BB962C8B-B14F-4D97-AF65-F5344CB8AC3E}">
        <p14:creationId xmlns:p14="http://schemas.microsoft.com/office/powerpoint/2010/main" val="13984044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1905</TotalTime>
  <Words>2925</Words>
  <Application>Microsoft Office PowerPoint</Application>
  <PresentationFormat>Grand écran</PresentationFormat>
  <Paragraphs>227</Paragraphs>
  <Slides>29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29</vt:i4>
      </vt:variant>
    </vt:vector>
  </HeadingPairs>
  <TitlesOfParts>
    <vt:vector size="35" baseType="lpstr">
      <vt:lpstr>Arial</vt:lpstr>
      <vt:lpstr>Calibri</vt:lpstr>
      <vt:lpstr>Calibri Light</vt:lpstr>
      <vt:lpstr>Lato</vt:lpstr>
      <vt:lpstr>Wingdings</vt:lpstr>
      <vt:lpstr>Office Theme</vt:lpstr>
      <vt:lpstr>Présentation PowerPoint</vt:lpstr>
      <vt:lpstr>Présentation PowerPoint</vt:lpstr>
      <vt:lpstr>L’IT en tant qu'industrie </vt:lpstr>
      <vt:lpstr>Branches de l’informatique</vt:lpstr>
      <vt:lpstr>Logiciel</vt:lpstr>
      <vt:lpstr>Développement Logiciel</vt:lpstr>
      <vt:lpstr>Ingénieur Développeur Application / Web </vt:lpstr>
      <vt:lpstr>Compétences d’un développeur Applications</vt:lpstr>
      <vt:lpstr>Compétence d’un Développeur Web</vt:lpstr>
      <vt:lpstr>Architecte Logiciel</vt:lpstr>
      <vt:lpstr>Compétences d’un Architecte Logiciel</vt:lpstr>
      <vt:lpstr>Data Analyst/Scientist</vt:lpstr>
      <vt:lpstr>Comptétences Data Analyst</vt:lpstr>
      <vt:lpstr>Compétence d’un Data Scientist</vt:lpstr>
      <vt:lpstr>Ingénieur Testeur</vt:lpstr>
      <vt:lpstr>Compétences d'un testeur </vt:lpstr>
      <vt:lpstr>Opérations Logiciels</vt:lpstr>
      <vt:lpstr>Database Administrator/ Ingénieur Bases de Données</vt:lpstr>
      <vt:lpstr>Compétences d’un DBA</vt:lpstr>
      <vt:lpstr>Ingénieur Réseau</vt:lpstr>
      <vt:lpstr>Compétence d’un Ingénieur Réseau</vt:lpstr>
      <vt:lpstr>Ingénieur Sécurité</vt:lpstr>
      <vt:lpstr>Compétence d’un ingénieur Sécurité</vt:lpstr>
      <vt:lpstr>Ingénieur Cloud</vt:lpstr>
      <vt:lpstr>Compétence d’un Ingénieur Cloud</vt:lpstr>
      <vt:lpstr>DevOps</vt:lpstr>
      <vt:lpstr>Ingénieur DevOps</vt:lpstr>
      <vt:lpstr>Compétence d’un Ingénieur DevOps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216</cp:revision>
  <dcterms:created xsi:type="dcterms:W3CDTF">2021-02-09T15:04:07Z</dcterms:created>
  <dcterms:modified xsi:type="dcterms:W3CDTF">2021-02-15T07:53:38Z</dcterms:modified>
</cp:coreProperties>
</file>