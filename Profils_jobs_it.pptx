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320" r:id="rId14"/>
    <p:sldId id="324" r:id="rId15"/>
    <p:sldId id="322" r:id="rId16"/>
    <p:sldId id="323" r:id="rId17"/>
    <p:sldId id="274" r:id="rId18"/>
    <p:sldId id="268" r:id="rId19"/>
    <p:sldId id="307" r:id="rId20"/>
    <p:sldId id="319" r:id="rId21"/>
    <p:sldId id="276" r:id="rId22"/>
    <p:sldId id="277" r:id="rId23"/>
    <p:sldId id="301" r:id="rId24"/>
    <p:sldId id="302" r:id="rId25"/>
    <p:sldId id="279" r:id="rId26"/>
    <p:sldId id="281" r:id="rId27"/>
    <p:sldId id="303" r:id="rId28"/>
    <p:sldId id="304" r:id="rId29"/>
    <p:sldId id="310" r:id="rId30"/>
    <p:sldId id="311" r:id="rId31"/>
    <p:sldId id="313" r:id="rId32"/>
    <p:sldId id="282" r:id="rId33"/>
    <p:sldId id="284" r:id="rId34"/>
    <p:sldId id="285" r:id="rId35"/>
    <p:sldId id="314" r:id="rId36"/>
    <p:sldId id="287" r:id="rId37"/>
    <p:sldId id="286" r:id="rId38"/>
    <p:sldId id="305" r:id="rId39"/>
    <p:sldId id="306" r:id="rId40"/>
    <p:sldId id="288" r:id="rId41"/>
    <p:sldId id="289" r:id="rId42"/>
    <p:sldId id="315" r:id="rId43"/>
    <p:sldId id="290" r:id="rId44"/>
    <p:sldId id="291" r:id="rId45"/>
    <p:sldId id="297" r:id="rId46"/>
    <p:sldId id="316" r:id="rId47"/>
    <p:sldId id="295" r:id="rId48"/>
    <p:sldId id="296" r:id="rId49"/>
    <p:sldId id="317" r:id="rId50"/>
    <p:sldId id="308" r:id="rId51"/>
    <p:sldId id="309" r:id="rId52"/>
    <p:sldId id="318" r:id="rId53"/>
    <p:sldId id="292" r:id="rId54"/>
    <p:sldId id="293" r:id="rId55"/>
    <p:sldId id="294" r:id="rId56"/>
    <p:sldId id="261" r:id="rId57"/>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varScale="1">
        <p:scale>
          <a:sx n="61" d="100"/>
          <a:sy n="61" d="100"/>
        </p:scale>
        <p:origin x="884" y="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47.xml"/><Relationship Id="rId3" Type="http://schemas.openxmlformats.org/officeDocument/2006/relationships/slide" Target="slide7.xml"/><Relationship Id="rId7" Type="http://schemas.openxmlformats.org/officeDocument/2006/relationships/slide" Target="slide25.xml"/><Relationship Id="rId12" Type="http://schemas.openxmlformats.org/officeDocument/2006/relationships/slide" Target="slide43.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1.xml"/><Relationship Id="rId11" Type="http://schemas.openxmlformats.org/officeDocument/2006/relationships/slide" Target="slide40.xml"/><Relationship Id="rId5" Type="http://schemas.openxmlformats.org/officeDocument/2006/relationships/slide" Target="slide17.xml"/><Relationship Id="rId10" Type="http://schemas.openxmlformats.org/officeDocument/2006/relationships/slide" Target="slide36.xml"/><Relationship Id="rId4" Type="http://schemas.openxmlformats.org/officeDocument/2006/relationships/slide" Target="slide13.xml"/><Relationship Id="rId9" Type="http://schemas.openxmlformats.org/officeDocument/2006/relationships/slide" Target="slide33.xml"/><Relationship Id="rId14" Type="http://schemas.openxmlformats.org/officeDocument/2006/relationships/slide" Target="slide5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1886021"/>
            <a:ext cx="5529532" cy="1938992"/>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Ingénieur</a:t>
            </a:r>
            <a:r>
              <a:rPr lang="en-US" sz="1200" dirty="0">
                <a:hlinkClick r:id="rId4" action="ppaction://hlinksldjump"/>
              </a:rPr>
              <a:t> </a:t>
            </a:r>
            <a:r>
              <a:rPr lang="en-US" sz="1200" dirty="0" err="1">
                <a:hlinkClick r:id="rId4" action="ppaction://hlinksldjump"/>
              </a:rPr>
              <a:t>Iot</a:t>
            </a:r>
            <a:r>
              <a:rPr lang="en-US" sz="1200" dirty="0">
                <a:hlinkClick r:id="rId4" action="ppaction://hlinksldjump"/>
              </a:rPr>
              <a:t> (Internet Of Things)</a:t>
            </a:r>
            <a:endParaRPr lang="en-US" sz="1200" dirty="0"/>
          </a:p>
          <a:p>
            <a:pPr lvl="2">
              <a:buFont typeface="Wingdings" pitchFamily="2" charset="2"/>
              <a:buChar char="§"/>
            </a:pPr>
            <a:r>
              <a:rPr lang="en-US" sz="1200" dirty="0" err="1">
                <a:hlinkClick r:id="rId5" action="ppaction://hlinksldjump"/>
              </a:rPr>
              <a:t>Architecte</a:t>
            </a:r>
            <a:r>
              <a:rPr lang="en-US" sz="1200" dirty="0">
                <a:hlinkClick r:id="rId5" action="ppaction://hlinksldjump"/>
              </a:rPr>
              <a:t> Application</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Data Analyst/Scientist</a:t>
            </a:r>
            <a:endParaRPr lang="en-US" sz="1200" dirty="0"/>
          </a:p>
          <a:p>
            <a:pPr lvl="2">
              <a:buFont typeface="Wingdings" pitchFamily="2" charset="2"/>
              <a:buChar char="§"/>
            </a:pPr>
            <a:r>
              <a:rPr lang="en-US" sz="1200" dirty="0" err="1">
                <a:hlinkClick r:id="rId7" action="ppaction://hlinksldjump"/>
              </a:rPr>
              <a:t>Ingénieur</a:t>
            </a:r>
            <a:r>
              <a:rPr lang="en-US" sz="1200" dirty="0">
                <a:hlinkClick r:id="rId7" action="ppaction://hlinksldjump"/>
              </a:rPr>
              <a:t> </a:t>
            </a:r>
            <a:r>
              <a:rPr lang="en-US" sz="1200" dirty="0" err="1">
                <a:hlinkClick r:id="rId7" action="ppaction://hlinksldjump"/>
              </a:rPr>
              <a:t>Testeur</a:t>
            </a:r>
            <a:endParaRPr lang="en-US" sz="1200" dirty="0"/>
          </a:p>
          <a:p>
            <a:pPr lvl="2">
              <a:buFont typeface="Wingdings" pitchFamily="2" charset="2"/>
              <a:buChar char="§"/>
            </a:pPr>
            <a:r>
              <a:rPr lang="en-US" sz="1200" dirty="0">
                <a:hlinkClick r:id="rId8" action="ppaction://hlinksldjump"/>
              </a:rPr>
              <a:t>Chef de </a:t>
            </a:r>
            <a:r>
              <a:rPr lang="en-US" sz="1200" dirty="0" err="1">
                <a:hlinkClick r:id="rId8" action="ppaction://hlinksldjump"/>
              </a:rPr>
              <a:t>projet</a:t>
            </a:r>
            <a:r>
              <a:rPr lang="en-US" sz="1200" dirty="0">
                <a:hlinkClick r:id="rId8"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200329"/>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9" action="ppaction://hlinksldjump"/>
              </a:rPr>
              <a:t>Administrateur</a:t>
            </a:r>
            <a:r>
              <a:rPr lang="en-US" sz="1200" dirty="0">
                <a:hlinkClick r:id="rId9" action="ppaction://hlinksldjump"/>
              </a:rPr>
              <a:t> Base de </a:t>
            </a:r>
            <a:r>
              <a:rPr lang="en-US" sz="1200" dirty="0" err="1">
                <a:hlinkClick r:id="rId9" action="ppaction://hlinksldjump"/>
              </a:rPr>
              <a:t>Données</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Réseau</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a:t>
            </a:r>
            <a:r>
              <a:rPr lang="en-US" sz="1200" dirty="0" err="1">
                <a:hlinkClick r:id="rId11" action="ppaction://hlinksldjump"/>
              </a:rPr>
              <a:t>Sécurité</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Cloud</a:t>
            </a:r>
            <a:endParaRPr lang="en-US" sz="1200"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a:t>
            </a:r>
            <a:r>
              <a:rPr lang="en-US" sz="1200" dirty="0" err="1">
                <a:hlinkClick r:id="rId13" action="ppaction://hlinksldjump"/>
              </a:rPr>
              <a:t>Système</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4" action="ppaction://hlinksldjump"/>
              </a:rPr>
              <a:t>Ingénieur</a:t>
            </a:r>
            <a:r>
              <a:rPr lang="en-US" sz="1200" dirty="0">
                <a:hlinkClick r:id="rId14"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a:t>Matériel</a:t>
            </a:r>
            <a:endParaRPr lang="en-US" sz="2800" dirty="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a:t>Industrie</a:t>
            </a:r>
            <a:r>
              <a:rPr lang="en-US" dirty="0"/>
              <a:t> du </a:t>
            </a:r>
            <a:r>
              <a:rPr lang="en-US" dirty="0" err="1"/>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Elle s'articule autour du cycle de vie complet d'une application / logiciel / site Web. De la conception au développement en passant par la production et la maintenance. </a:t>
            </a:r>
          </a:p>
          <a:p>
            <a:endParaRPr lang="fr-FR" sz="2400" dirty="0"/>
          </a:p>
          <a:p>
            <a:r>
              <a:rPr lang="en-US" sz="2400" dirty="0"/>
              <a:t> </a:t>
            </a:r>
            <a:r>
              <a:rPr lang="fr-FR" sz="2400" dirty="0"/>
              <a:t>L'ensemble de l'industrie du logiciel peut être divisé en deux domaines: </a:t>
            </a:r>
            <a:endParaRPr lang="en-US" sz="2400"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dirty="0"/>
              <a:t>Operations</a:t>
            </a:r>
          </a:p>
          <a:p>
            <a:pPr marL="800100" lvl="1" indent="-342900">
              <a:buFont typeface="Arial" panose="020B0604020202020204" pitchFamily="34" charset="0"/>
              <a:buNone/>
            </a:pPr>
            <a:endParaRPr lang="en-US" sz="2000" dirty="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a:bodyPr>
          <a:lstStyle/>
          <a:p>
            <a:r>
              <a:rPr lang="fr-FR" dirty="0"/>
              <a:t>Le</a:t>
            </a:r>
            <a:r>
              <a:rPr lang="fr-FR" b="1" dirty="0"/>
              <a:t> développement </a:t>
            </a:r>
            <a:r>
              <a:rPr lang="fr-FR" dirty="0"/>
              <a:t>d'un logiciel a un cycle de vie qui se compose de 6 étapes majeures.</a:t>
            </a:r>
            <a:r>
              <a:rPr lang="fr-FR" b="1" dirty="0"/>
              <a:t> </a:t>
            </a:r>
          </a:p>
          <a:p>
            <a:endParaRPr lang="fr-FR" b="1" dirty="0"/>
          </a:p>
          <a:p>
            <a:r>
              <a:rPr lang="fr-FR" dirty="0"/>
              <a:t>Les principaux profils d'emplois en développement sont les suivants: </a:t>
            </a:r>
            <a:endParaRPr lang="en-US" dirty="0"/>
          </a:p>
          <a:p>
            <a:pPr lvl="1"/>
            <a:r>
              <a:rPr lang="en-US" dirty="0" err="1"/>
              <a:t>Développeurs</a:t>
            </a:r>
            <a:r>
              <a:rPr lang="en-US" dirty="0"/>
              <a:t> Application/web</a:t>
            </a:r>
          </a:p>
          <a:p>
            <a:pPr lvl="1"/>
            <a:r>
              <a:rPr lang="en-US" dirty="0"/>
              <a:t>Architect Application</a:t>
            </a:r>
          </a:p>
          <a:p>
            <a:pPr lvl="1"/>
            <a:r>
              <a:rPr lang="en-US" dirty="0"/>
              <a:t>Data Analyst/Scientist</a:t>
            </a:r>
          </a:p>
          <a:p>
            <a:pPr lvl="1"/>
            <a:r>
              <a:rPr lang="en-US" dirty="0"/>
              <a:t>Tests/Validation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a:t>
            </a: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d'applications est une personne qui traduit les exigences logicielles </a:t>
            </a:r>
            <a:r>
              <a:rPr lang="fr-FR" sz="1800"/>
              <a:t>en code </a:t>
            </a:r>
            <a:r>
              <a:rPr lang="fr-FR" sz="1800" dirty="0"/>
              <a:t>généralement dans un domaine de développement spécifique tel que les applications de téléphonie mobile, les logiciels de comptabilité, les suites bureautiques ou les logiciels graphiques, et aura une connaissance approfondie d'au moins un langage informatique. </a:t>
            </a:r>
          </a:p>
          <a:p>
            <a:pPr>
              <a:lnSpc>
                <a:spcPct val="100000"/>
              </a:lnSpc>
              <a:spcBef>
                <a:spcPts val="0"/>
              </a:spcBef>
            </a:pPr>
            <a:endParaRPr lang="en-US" sz="1800" dirty="0"/>
          </a:p>
          <a:p>
            <a:pPr>
              <a:lnSpc>
                <a:spcPct val="100000"/>
              </a:lnSpc>
              <a:spcBef>
                <a:spcPts val="0"/>
              </a:spcBef>
            </a:pPr>
            <a:r>
              <a:rPr lang="fr-FR" sz="1800" dirty="0"/>
              <a:t>Un développeur d'applications peut écrire des applications, ou des applications, exigences logicielles en code de programmation exploitable et qui gère et développe des programmes pour les entreprises. </a:t>
            </a:r>
          </a:p>
          <a:p>
            <a:pPr>
              <a:lnSpc>
                <a:spcPct val="100000"/>
              </a:lnSpc>
              <a:spcBef>
                <a:spcPts val="0"/>
              </a:spcBef>
            </a:pPr>
            <a:endParaRPr lang="fr-FR" sz="1800" dirty="0"/>
          </a:p>
          <a:p>
            <a:pPr>
              <a:lnSpc>
                <a:spcPct val="100000"/>
              </a:lnSpc>
              <a:spcBef>
                <a:spcPts val="0"/>
              </a:spcBef>
            </a:pPr>
            <a:r>
              <a:rPr lang="fr-FR" sz="1800" dirty="0"/>
              <a:t>Un développeur travaille pour: </a:t>
            </a:r>
          </a:p>
          <a:p>
            <a:pPr lvl="2">
              <a:lnSpc>
                <a:spcPct val="100000"/>
              </a:lnSpc>
              <a:spcBef>
                <a:spcPts val="0"/>
              </a:spcBef>
              <a:buFont typeface="Courier New" panose="02070309020205020404" pitchFamily="49" charset="0"/>
              <a:buChar char="o"/>
            </a:pPr>
            <a:r>
              <a:rPr lang="fr-FR" sz="1600" dirty="0"/>
              <a:t>Un système particulier, tel que Windows, Linux ou Android</a:t>
            </a:r>
          </a:p>
          <a:p>
            <a:pPr lvl="2">
              <a:lnSpc>
                <a:spcPct val="100000"/>
              </a:lnSpc>
              <a:spcBef>
                <a:spcPts val="0"/>
              </a:spcBef>
              <a:buFont typeface="Courier New" panose="02070309020205020404" pitchFamily="49" charset="0"/>
              <a:buChar char="o"/>
            </a:pPr>
            <a:r>
              <a:rPr lang="fr-FR" sz="1800" dirty="0"/>
              <a:t>Sur de nombreuses plates-formes, y compris les ordinateurs et les appareils mobiles </a:t>
            </a:r>
            <a:r>
              <a:rPr lang="en-US" sz="1800" dirty="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en revanche, créera des applications et des services fiables et hautement performants, destinés à un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7" name="Flèche : haut 6">
            <a:hlinkClick r:id="rId3" action="ppaction://hlinksldjump"/>
            <a:extLst>
              <a:ext uri="{FF2B5EF4-FFF2-40B4-BE49-F238E27FC236}">
                <a16:creationId xmlns:a16="http://schemas.microsoft.com/office/drawing/2014/main" id="{70510E9B-6142-4E8F-A08B-9EAB0BE75E05}"/>
              </a:ext>
            </a:extLst>
          </p:cNvPr>
          <p:cNvSpPr/>
          <p:nvPr/>
        </p:nvSpPr>
        <p:spPr>
          <a:xfrm>
            <a:off x="11792606" y="0"/>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a:p>
            <a:r>
              <a:rPr lang="fr-FR" sz="1600" dirty="0"/>
              <a:t>Forte motivation afin de pouvoir s’impliquer dans des projets souvent lourds et longs</a:t>
            </a:r>
            <a:endParaRPr lang="en-US" sz="800" dirty="0"/>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comportementales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Application</a:t>
            </a:r>
          </a:p>
          <a:p>
            <a:pPr>
              <a:lnSpc>
                <a:spcPct val="100000"/>
              </a:lnSpc>
              <a:spcBef>
                <a:spcPts val="600"/>
              </a:spcBef>
            </a:pPr>
            <a:endParaRPr lang="fr-FR" sz="1800" dirty="0"/>
          </a:p>
          <a:p>
            <a:pPr>
              <a:lnSpc>
                <a:spcPct val="100000"/>
              </a:lnSpc>
              <a:spcBef>
                <a:spcPts val="600"/>
              </a:spcBef>
            </a:pPr>
            <a:r>
              <a:rPr lang="fr-FR" sz="1800" dirty="0"/>
              <a:t>Applications web (ex : JavaScript, Flash, </a:t>
            </a:r>
            <a:r>
              <a:rPr lang="fr-FR" sz="1800" dirty="0" err="1"/>
              <a:t>dreamweaver</a:t>
            </a:r>
            <a:r>
              <a:rPr lang="fr-FR" sz="1800" dirty="0"/>
              <a:t>, Visual Basic, PHP, Flash et autres logiciels associés....)</a:t>
            </a:r>
          </a:p>
          <a:p>
            <a:pPr>
              <a:lnSpc>
                <a:spcPct val="100000"/>
              </a:lnSpc>
              <a:spcBef>
                <a:spcPts val="600"/>
              </a:spcBef>
            </a:pPr>
            <a:endParaRPr lang="fr-FR" sz="1800" dirty="0"/>
          </a:p>
          <a:p>
            <a:pPr>
              <a:lnSpc>
                <a:spcPct val="100000"/>
              </a:lnSpc>
              <a:spcBef>
                <a:spcPts val="600"/>
              </a:spcBef>
            </a:pPr>
            <a:r>
              <a:rPr lang="fr-FR" sz="1800" dirty="0"/>
              <a:t>Langages de programmation (ex (X)HTLM, C/C , Java, (</a:t>
            </a:r>
            <a:r>
              <a:rPr lang="fr-FR" sz="1800" dirty="0" err="1"/>
              <a:t>My</a:t>
            </a:r>
            <a:r>
              <a:rPr lang="fr-FR" sz="1800" dirty="0"/>
              <a:t>)SQL, JSP, XSLT...)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Web</a:t>
            </a: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Spécialiste des objets connectés, l’ingénieur IoT (Internet of </a:t>
            </a:r>
            <a:r>
              <a:rPr lang="fr-FR" sz="1800" dirty="0" err="1"/>
              <a:t>Things</a:t>
            </a:r>
            <a:r>
              <a:rPr lang="fr-FR" sz="1800" dirty="0"/>
              <a:t>) imagine et déploie des services innovants utiles aux utilisateurs pour recueillir des informations, contrôler et piloter à distance. </a:t>
            </a:r>
          </a:p>
          <a:p>
            <a:pPr>
              <a:lnSpc>
                <a:spcPct val="100000"/>
              </a:lnSpc>
              <a:spcBef>
                <a:spcPts val="600"/>
              </a:spcBef>
            </a:pPr>
            <a:r>
              <a:rPr lang="fr-FR" sz="1800" dirty="0"/>
              <a:t>Ses atouts ? Brasser informatique, télécom et électronique et rester toujours à l’écoute des besoins.</a:t>
            </a:r>
          </a:p>
          <a:p>
            <a:pPr>
              <a:lnSpc>
                <a:spcPct val="100000"/>
              </a:lnSpc>
              <a:spcBef>
                <a:spcPts val="600"/>
              </a:spcBef>
            </a:pPr>
            <a:r>
              <a:rPr lang="fr-FR" sz="1800" dirty="0"/>
              <a:t>Il sait choisir les technologies les plus appropriées afin de contrôler les dépenses</a:t>
            </a:r>
          </a:p>
          <a:p>
            <a:pPr>
              <a:lnSpc>
                <a:spcPct val="100000"/>
              </a:lnSpc>
              <a:spcBef>
                <a:spcPts val="600"/>
              </a:spcBef>
            </a:pPr>
            <a:r>
              <a:rPr lang="fr-FR" sz="1800" dirty="0"/>
              <a:t>Avec ces innovations au croisement de l’électronique, l’informatique, et les télécoms, le spécialiste IoT peut endosser de nombreuses casquettes : </a:t>
            </a:r>
          </a:p>
          <a:p>
            <a:pPr lvl="1">
              <a:lnSpc>
                <a:spcPct val="100000"/>
              </a:lnSpc>
              <a:spcBef>
                <a:spcPts val="600"/>
              </a:spcBef>
            </a:pPr>
            <a:r>
              <a:rPr lang="fr-FR" sz="1600" dirty="0"/>
              <a:t>concepteur de services (tourné vers l’analyse des besoins utilisateurs) </a:t>
            </a:r>
          </a:p>
          <a:p>
            <a:pPr lvl="1">
              <a:lnSpc>
                <a:spcPct val="100000"/>
              </a:lnSpc>
              <a:spcBef>
                <a:spcPts val="600"/>
              </a:spcBef>
            </a:pPr>
            <a:r>
              <a:rPr lang="fr-FR" sz="1600" dirty="0"/>
              <a:t>chef de projets (imaginer les produits, les tester, les faire évoluer)</a:t>
            </a:r>
          </a:p>
          <a:p>
            <a:pPr lvl="1">
              <a:lnSpc>
                <a:spcPct val="100000"/>
              </a:lnSpc>
              <a:spcBef>
                <a:spcPts val="600"/>
              </a:spcBef>
            </a:pPr>
            <a:r>
              <a:rPr lang="fr-FR" sz="1600" dirty="0"/>
              <a:t>architecte en solutions (connexion des réseaux et plateformes) </a:t>
            </a:r>
          </a:p>
          <a:p>
            <a:pPr lvl="1">
              <a:lnSpc>
                <a:spcPct val="100000"/>
              </a:lnSpc>
              <a:spcBef>
                <a:spcPts val="600"/>
              </a:spcBef>
            </a:pPr>
            <a:r>
              <a:rPr lang="fr-FR" sz="1600" dirty="0"/>
              <a:t>développeur d’applications mobiles ou encore chargé d’affaires </a:t>
            </a:r>
          </a:p>
          <a:p>
            <a:pPr>
              <a:lnSpc>
                <a:spcPct val="100000"/>
              </a:lnSpc>
              <a:spcBef>
                <a:spcPts val="600"/>
              </a:spcBef>
            </a:pPr>
            <a:endParaRPr lang="fr-FR"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a:t>
            </a:r>
          </a:p>
        </p:txBody>
      </p:sp>
      <p:sp>
        <p:nvSpPr>
          <p:cNvPr id="3" name="Flèche : haut 2">
            <a:hlinkClick r:id="rId3" action="ppaction://hlinksldjump"/>
            <a:extLst>
              <a:ext uri="{FF2B5EF4-FFF2-40B4-BE49-F238E27FC236}">
                <a16:creationId xmlns:a16="http://schemas.microsoft.com/office/drawing/2014/main" id="{DBF54A70-C94B-4B3A-A233-A986128B324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52388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Faire preuve de compétences approfondies sur le </a:t>
            </a:r>
            <a:r>
              <a:rPr lang="fr-FR" sz="1800" dirty="0" err="1"/>
              <a:t>back-end</a:t>
            </a:r>
            <a:r>
              <a:rPr lang="fr-FR" sz="1800" dirty="0"/>
              <a:t> (Python, Java, C)</a:t>
            </a:r>
          </a:p>
          <a:p>
            <a:pPr>
              <a:lnSpc>
                <a:spcPct val="100000"/>
              </a:lnSpc>
              <a:spcBef>
                <a:spcPts val="600"/>
              </a:spcBef>
            </a:pPr>
            <a:r>
              <a:rPr lang="fr-FR" sz="1800" dirty="0"/>
              <a:t>Maîtriser le développement de hardware</a:t>
            </a:r>
          </a:p>
          <a:p>
            <a:pPr>
              <a:lnSpc>
                <a:spcPct val="100000"/>
              </a:lnSpc>
              <a:spcBef>
                <a:spcPts val="600"/>
              </a:spcBef>
            </a:pPr>
            <a:r>
              <a:rPr lang="fr-FR" sz="1800" dirty="0"/>
              <a:t>Gérer les données entrantes et les données sortantes, des connaissances en Big Data, modélisation, statistique, Learning Machine et intelligence artificielle seront un atout</a:t>
            </a:r>
          </a:p>
          <a:p>
            <a:pPr>
              <a:lnSpc>
                <a:spcPct val="100000"/>
              </a:lnSpc>
              <a:spcBef>
                <a:spcPts val="600"/>
              </a:spcBef>
            </a:pPr>
            <a:r>
              <a:rPr lang="fr-FR" sz="1800" dirty="0"/>
              <a:t>Maintenir ses compétences à niveau pour suivre le rythme des évolutions technologiques</a:t>
            </a:r>
            <a:endParaRPr lang="fr-FR"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33341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Montage de périphérique matériel – des compétences en ingénierie sont nécessaires même si des modules pré assemblés peuvent être utilisés.</a:t>
            </a:r>
          </a:p>
          <a:p>
            <a:pPr>
              <a:lnSpc>
                <a:spcPct val="100000"/>
              </a:lnSpc>
              <a:spcBef>
                <a:spcPts val="600"/>
              </a:spcBef>
            </a:pPr>
            <a:r>
              <a:rPr lang="fr-FR" sz="2000" dirty="0"/>
              <a:t>Programmation d’un appareil – des connaissances en programmation sont indispensables pour lire les données des capteurs connectés à un appareil IoT et les envoyer à un serveur.</a:t>
            </a:r>
          </a:p>
          <a:p>
            <a:pPr>
              <a:lnSpc>
                <a:spcPct val="100000"/>
              </a:lnSpc>
              <a:spcBef>
                <a:spcPts val="600"/>
              </a:spcBef>
            </a:pPr>
            <a:r>
              <a:rPr lang="fr-FR" sz="2000" dirty="0"/>
              <a:t>Programmation des serveurs qui reçoivent et conservent les données – maîtrise des langages côté serveur comme PHP, ASP.NET ou Node.js et des requêtes dans la base de données reposant sur MySQL par exemple.</a:t>
            </a:r>
          </a:p>
          <a:p>
            <a:pPr>
              <a:lnSpc>
                <a:spcPct val="100000"/>
              </a:lnSpc>
              <a:spcBef>
                <a:spcPts val="600"/>
              </a:spcBef>
            </a:pPr>
            <a:r>
              <a:rPr lang="fr-FR" sz="2000" dirty="0"/>
              <a:t>Affichage des données – connaissances en PHP, JavaScript, HTML, CSS, MySQL pour créer une page web ou une application pour l’utilisateur..</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(suite)</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103839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Les spécialisations en lien avec l’IoT sont proposées à partir de la 2e année du cycle ingénieur dans des écoles spécialisées robotique, </a:t>
            </a:r>
            <a:r>
              <a:rPr lang="fr-FR" sz="2000" dirty="0" err="1"/>
              <a:t>cobotique</a:t>
            </a:r>
            <a:r>
              <a:rPr lang="fr-FR" sz="2000" dirty="0"/>
              <a:t>, électronique, numérique et mécanique.</a:t>
            </a:r>
          </a:p>
          <a:p>
            <a:pPr>
              <a:lnSpc>
                <a:spcPct val="100000"/>
              </a:lnSpc>
              <a:spcBef>
                <a:spcPts val="600"/>
              </a:spcBef>
            </a:pPr>
            <a:r>
              <a:rPr lang="fr-FR" sz="2000" dirty="0"/>
              <a:t>Plusieurs universités (comme à Belfort, Sophia-Antipolis, Besançon) prévoient des masters dédiés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3206117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Les </a:t>
            </a:r>
            <a:r>
              <a:rPr lang="fr-FR" sz="1600" b="1" dirty="0"/>
              <a:t>architectes d'applications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pour fonctionner et réussir,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d'applications et d'ingénieurs logiciels et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échange avec les responsables/demandeurs que veulent de l’automatisation et une réduction des cout et les développeurs pour le développement des demandes.</a:t>
            </a:r>
          </a:p>
          <a:p>
            <a:pPr>
              <a:lnSpc>
                <a:spcPct val="100000"/>
              </a:lnSpc>
              <a:spcBef>
                <a:spcPts val="600"/>
              </a:spcBef>
            </a:pPr>
            <a:r>
              <a:rPr lang="fr-FR" sz="1600" dirty="0"/>
              <a:t>Il a souvent un implication dans le développement.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a:t>
            </a:r>
          </a:p>
        </p:txBody>
      </p:sp>
      <p:sp>
        <p:nvSpPr>
          <p:cNvPr id="9" name="Flèche : haut 8">
            <a:hlinkClick r:id="rId3" action="ppaction://hlinksldjump"/>
            <a:extLst>
              <a:ext uri="{FF2B5EF4-FFF2-40B4-BE49-F238E27FC236}">
                <a16:creationId xmlns:a16="http://schemas.microsoft.com/office/drawing/2014/main" id="{918EDD8A-A62B-49D8-8B14-1A4F45F6DC1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Planifier des tests réguliers pour améliorer les systèmes et applications actuels.</a:t>
            </a:r>
          </a:p>
          <a:p>
            <a:r>
              <a:rPr lang="fr-FR" sz="4800" dirty="0"/>
              <a:t>Identifier les changements de fonctionnalité.</a:t>
            </a:r>
          </a:p>
          <a:p>
            <a:r>
              <a:rPr lang="fr-FR" sz="4800" dirty="0"/>
              <a:t>Participer régulièrement à des réunions internes et externes pour faire le point sur l'avancement de votre tâche et présenter aux utilisateurs les solutions applicatives que vous proposez.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 </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R)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08512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Expérience d’informaticiens confirmés complétée idéalement par une formation spécialisée d’architecte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8694184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La tâche du Data Analyst consiste à traiter les différentes données concernant les clients, les produits ou les performances de l’entreprise afin de dégager des indicateurs utiles aux décideurs. C’est un poste clé du Big Data.</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8" name="Flèche : haut 7">
            <a:hlinkClick r:id="rId3" action="ppaction://hlinksldjump"/>
            <a:extLst>
              <a:ext uri="{FF2B5EF4-FFF2-40B4-BE49-F238E27FC236}">
                <a16:creationId xmlns:a16="http://schemas.microsoft.com/office/drawing/2014/main" id="{173D413F-B421-47BF-B28D-7E5210DB214D}"/>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documents.</a:t>
            </a:r>
          </a:p>
          <a:p>
            <a:r>
              <a:rPr lang="fr-FR" dirty="0"/>
              <a:t>Identifier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a:t>Créer des tableaux de bord de données, des graphiques et des visualisations.</a:t>
            </a:r>
          </a:p>
          <a:p>
            <a:r>
              <a:rPr lang="fr-FR" dirty="0"/>
              <a:t>Fournir une analyse comparative des secteurs et des concurrents.</a:t>
            </a:r>
          </a:p>
          <a:p>
            <a:r>
              <a:rPr lang="fr-FR" dirty="0"/>
              <a:t>Exploiter et analyser de grands ensembles de données, tirer des inférences valides et les présenter 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 </a:t>
            </a:r>
          </a:p>
        </p:txBody>
      </p:sp>
    </p:spTree>
    <p:extLst>
      <p:ext uri="{BB962C8B-B14F-4D97-AF65-F5344CB8AC3E}">
        <p14:creationId xmlns:p14="http://schemas.microsoft.com/office/powerpoint/2010/main" val="1398404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20000"/>
          </a:bodyPr>
          <a:lstStyle/>
          <a:p>
            <a:r>
              <a:rPr lang="fr-FR" sz="2400" dirty="0"/>
              <a:t>Connaissance Hadoop et/ou Spark</a:t>
            </a:r>
          </a:p>
          <a:p>
            <a:r>
              <a:rPr lang="fr-FR" sz="2400" dirty="0"/>
              <a:t>Connaissance des langages informatiques</a:t>
            </a:r>
          </a:p>
          <a:p>
            <a:r>
              <a:rPr lang="fr-FR" sz="2400" dirty="0"/>
              <a:t>Connaissance des outils et méthodes statistiques</a:t>
            </a:r>
          </a:p>
          <a:p>
            <a:endParaRPr lang="fr-FR" sz="2400" dirty="0"/>
          </a:p>
          <a:p>
            <a:r>
              <a:rPr lang="fr-FR" sz="2400" dirty="0"/>
              <a:t>A la connaissance de l'activité et du fonctionnement de l'entreprise ou de l'organisation qui l'emploie.</a:t>
            </a:r>
          </a:p>
          <a:p>
            <a:r>
              <a:rPr lang="fr-FR" sz="2400" dirty="0"/>
              <a:t>Il est à l'aise avec les techniques du data </a:t>
            </a:r>
            <a:r>
              <a:rPr lang="fr-FR" sz="2400" dirty="0" err="1"/>
              <a:t>mining</a:t>
            </a:r>
            <a:r>
              <a:rPr lang="fr-FR" sz="2400" dirty="0"/>
              <a:t> (exploration des données), les outils mathématiques statistiques et informatiques (IA).</a:t>
            </a:r>
          </a:p>
          <a:p>
            <a:r>
              <a:rPr lang="fr-FR" sz="2400" dirty="0"/>
              <a:t>Il maîtrise les méthodes et normes de conception.</a:t>
            </a:r>
          </a:p>
          <a:p>
            <a:r>
              <a:rPr lang="fr-FR" sz="2400" dirty="0"/>
              <a:t>Il a la 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388562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logiciels ou des applications avant leur mise en ligne sur des environnements clients.</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65DB7FE6-1B97-4662-873E-A0ED376A394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a:p>
            <a:r>
              <a:rPr lang="fr-FR" sz="2000" dirty="0"/>
              <a:t>Potentiellement poursuivre la surveillance des performances du logiciel via un monitoring quotidien : les scripts de validation continuent à tourner, mais ils sont devenus des scripts de non-régression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ALM de Hewlett Packard</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2855937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phase d’étude : </a:t>
            </a:r>
          </a:p>
          <a:p>
            <a:r>
              <a:rPr lang="fr-FR" sz="2000" dirty="0"/>
              <a:t>Il 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6D35E340-85BF-420F-A455-08178B5CFFA6}"/>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57419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techniques</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4224580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a:solidFill>
                  <a:schemeClr val="accent1">
                    <a:lumMod val="50000"/>
                  </a:schemeClr>
                </a:solidFill>
                <a:effectLst>
                  <a:outerShdw blurRad="38100" dist="38100" dir="2700000" algn="tl">
                    <a:srgbClr val="000000">
                      <a:alpha val="43137"/>
                    </a:srgbClr>
                  </a:outerShdw>
                </a:effectLst>
              </a:rPr>
              <a:t>2. 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D75FF560-5258-4BEF-9F55-A1C0DD85FE5A}"/>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a:t>Surveiller les performances et gérez les paramètres afin de fournir des réponses rapides aux utilisateurs frontaux.</a:t>
            </a:r>
          </a:p>
          <a:p>
            <a:r>
              <a:rPr lang="fr-FR" dirty="0"/>
              <a:t>Cartographier la conception conceptuelle d'une base de données planifiée.</a:t>
            </a:r>
          </a:p>
          <a:p>
            <a:r>
              <a:rPr lang="fr-FR" dirty="0"/>
              <a:t>Installer et tester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Contrôler les autorisations d'accès et les privilèges.</a:t>
            </a:r>
          </a:p>
          <a:p>
            <a:r>
              <a:rPr lang="fr-FR" dirty="0"/>
              <a:t>Gérer et tester les plans de sauvegarde et de récupération.</a:t>
            </a:r>
          </a:p>
          <a:p>
            <a:r>
              <a:rPr lang="fr-FR" dirty="0"/>
              <a:t>S’assurer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7" name="Flèche : haut 6">
            <a:hlinkClick r:id="rId3" action="ppaction://hlinksldjump"/>
            <a:extLst>
              <a:ext uri="{FF2B5EF4-FFF2-40B4-BE49-F238E27FC236}">
                <a16:creationId xmlns:a16="http://schemas.microsoft.com/office/drawing/2014/main" id="{5CCB9EE1-FCD2-4E6E-92B2-8FDA04DC7394}"/>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a:t>Optimiser les performances du réseau en surveillant les performances, en résolvant les problèmes et les pannes de réseau, en planifiant les mises à niveau et en collaborant avec les architectes réseau sur l'optimisation du réseau.</a:t>
            </a:r>
          </a:p>
          <a:p>
            <a:r>
              <a:rPr lang="fr-FR" sz="1300" dirty="0"/>
              <a:t>Prendre en compte les exigences des utilisateurs en termes d’exigence de performances du réseau (puissance, rapidité, stabilité).</a:t>
            </a:r>
          </a:p>
          <a:p>
            <a:r>
              <a:rPr lang="fr-FR" sz="1300" dirty="0"/>
              <a:t>Sécuriser 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a:t>Configurer 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14025778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Surveillez les réseaux et les systèmes, détectez les menaces de sécurité (`` événements ''),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7" name="Flèche : haut 6">
            <a:hlinkClick r:id="rId3" action="ppaction://hlinksldjump"/>
            <a:extLst>
              <a:ext uri="{FF2B5EF4-FFF2-40B4-BE49-F238E27FC236}">
                <a16:creationId xmlns:a16="http://schemas.microsoft.com/office/drawing/2014/main" id="{4D53288E-DB95-45B7-BAED-13EE8FDD6FD7}"/>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Planifier la reprise après sinistre et créer des plans d'urgence en cas de faille de sécurité.</a:t>
            </a:r>
          </a:p>
          <a:p>
            <a:r>
              <a:rPr lang="fr-FR" dirty="0"/>
              <a:t>Surveiller les attaques, intrusions et activités inhabituelles, non autorisées ou illégales.</a:t>
            </a:r>
          </a:p>
          <a:p>
            <a:r>
              <a:rPr lang="fr-FR" dirty="0"/>
              <a:t>Utiliser des outils d'analyse avancés pour déterminer les modèles de menaces et les vulnérabilités émergentes.</a:t>
            </a:r>
          </a:p>
          <a:p>
            <a:r>
              <a:rPr lang="fr-FR" dirty="0"/>
              <a:t>Participer au «piratage éthique», par exemple en simulant des failles de sécurité.</a:t>
            </a:r>
          </a:p>
          <a:p>
            <a:r>
              <a:rPr lang="fr-FR" dirty="0"/>
              <a:t>Identifier les faiblesses potentielles et mettre en œuvre des mesures, telles que les pare-feu et le chiffrement.</a:t>
            </a:r>
          </a:p>
          <a:p>
            <a:r>
              <a:rPr lang="fr-FR" dirty="0"/>
              <a:t>Examiner les alertes de sécurité et fournir une réponse aux incidents.</a:t>
            </a:r>
          </a:p>
          <a:p>
            <a:r>
              <a:rPr lang="fr-FR" dirty="0"/>
              <a:t>Surveiller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Surveiller et répondre 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Implémentez des applications cloud, migrez les applications sur site existantes vers le cloud et déboguez les piles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7" name="Flèche : haut 6">
            <a:hlinkClick r:id="rId3" action="ppaction://hlinksldjump"/>
            <a:extLst>
              <a:ext uri="{FF2B5EF4-FFF2-40B4-BE49-F238E27FC236}">
                <a16:creationId xmlns:a16="http://schemas.microsoft.com/office/drawing/2014/main" id="{85D777A1-0FE1-429C-828E-A955629A5A09}"/>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a:t>Collaborer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Concevoir, développer et déployer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Identifier, analyser et </a:t>
            </a:r>
            <a:r>
              <a:rPr lang="fr-FR" dirty="0" err="1"/>
              <a:t>résolver</a:t>
            </a:r>
            <a:r>
              <a:rPr lang="fr-FR" dirty="0"/>
              <a:t> les vulnérabilités de l'infrastructure et les problèmes de déploiement d'applications.</a:t>
            </a:r>
          </a:p>
          <a:p>
            <a:r>
              <a:rPr lang="fr-FR" dirty="0"/>
              <a:t>Examiner régulièrement les systèmes existants et faire des recommandations d'amélioration.</a:t>
            </a:r>
          </a:p>
          <a:p>
            <a:r>
              <a:rPr lang="fr-FR" dirty="0"/>
              <a:t>Interagir 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Des outils de virtualisation (VirtualBox, </a:t>
            </a:r>
            <a:r>
              <a:rPr lang="fr-FR" sz="2400" dirty="0" err="1"/>
              <a:t>hyper-v</a:t>
            </a:r>
            <a:r>
              <a:rPr lang="fr-FR" sz="2400" dirty="0"/>
              <a:t>, </a:t>
            </a:r>
            <a:r>
              <a:rPr lang="fr-FR" sz="2400" dirty="0" err="1"/>
              <a:t>Virtualbox</a:t>
            </a:r>
            <a:r>
              <a:rPr lang="fr-FR" sz="2400" dirty="0"/>
              <a:t>).</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24016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E02AAD7D-820B-4572-943B-9261FBACC621}"/>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675785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6873188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Tree>
    <p:extLst>
      <p:ext uri="{BB962C8B-B14F-4D97-AF65-F5344CB8AC3E}">
        <p14:creationId xmlns:p14="http://schemas.microsoft.com/office/powerpoint/2010/main" val="1660568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Le suivi des process</a:t>
            </a:r>
          </a:p>
          <a:p>
            <a:pPr fontAlgn="base"/>
            <a:r>
              <a:rPr lang="fr-FR" dirty="0"/>
              <a:t>La rédaction des analyses de risques</a:t>
            </a:r>
          </a:p>
          <a:p>
            <a:pPr fontAlgn="base"/>
            <a:r>
              <a:rPr lang="fr-FR" dirty="0"/>
              <a:t>La gestion des incidents</a:t>
            </a:r>
          </a:p>
          <a:p>
            <a:pPr fontAlgn="base"/>
            <a:r>
              <a:rPr lang="fr-FR" dirty="0"/>
              <a:t>Les tests, la sélection et la mise en place de technologies, outillages et méthodes de travail</a:t>
            </a:r>
          </a:p>
          <a:p>
            <a:pPr fontAlgn="base"/>
            <a:r>
              <a:rPr lang="fr-FR" dirty="0"/>
              <a:t>L’automatisation des contrôles de sécurité</a:t>
            </a:r>
          </a:p>
          <a:p>
            <a:pPr fontAlgn="base"/>
            <a:r>
              <a:rPr lang="fr-FR" dirty="0"/>
              <a:t>La maintenance du système et du réseau informatique externe et interne de l’entreprise</a:t>
            </a:r>
          </a:p>
          <a:p>
            <a:pPr fontAlgn="base"/>
            <a:r>
              <a:rPr lang="fr-FR" dirty="0"/>
              <a:t>Le contrôle et le management des opérations de sécurité</a:t>
            </a:r>
          </a:p>
          <a:p>
            <a:pPr fontAlgn="base"/>
            <a:r>
              <a:rPr lang="fr-FR" dirty="0"/>
              <a:t>Plus largement, il participe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26901459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a:t>).</a:t>
            </a:r>
          </a:p>
          <a:p>
            <a:pPr marL="0" indent="0">
              <a:buNone/>
            </a:pPr>
            <a:endParaRPr lang="fr-FR" sz="2400" dirty="0"/>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chemeClr val="accent1">
                    <a:lumMod val="50000"/>
                  </a:schemeClr>
                </a:solidFill>
                <a:effectLst>
                  <a:outerShdw blurRad="38100" dist="38100" dir="2700000" algn="tl">
                    <a:srgbClr val="000000">
                      <a:alpha val="43137"/>
                    </a:srgbClr>
                  </a:outerShdw>
                </a:effectLst>
              </a:rPr>
              <a:t>3. DevOps</a:t>
            </a:r>
          </a:p>
        </p:txBody>
      </p:sp>
    </p:spTree>
    <p:extLst>
      <p:ext uri="{BB962C8B-B14F-4D97-AF65-F5344CB8AC3E}">
        <p14:creationId xmlns:p14="http://schemas.microsoft.com/office/powerpoint/2010/main" val="13984044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informatique pour gérer la production des versions de code.</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12539029-3CF8-42B2-8100-0BB8ACF9DF8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Construire et mettre en place de nouveaux outils et infrastructures de développement.</a:t>
            </a:r>
          </a:p>
          <a:p>
            <a:pPr fontAlgn="base"/>
            <a:r>
              <a:rPr lang="fr-FR" sz="2000" dirty="0"/>
              <a:t>Travailler sur des moyens d'automatiser et d'améliorer les processus de développement et de publication.</a:t>
            </a:r>
          </a:p>
          <a:p>
            <a:pPr fontAlgn="base"/>
            <a:r>
              <a:rPr lang="fr-FR" sz="2000" dirty="0"/>
              <a:t>Tester et examiner le code écrit par d'autres et analyser les résultats.</a:t>
            </a:r>
          </a:p>
          <a:p>
            <a:pPr fontAlgn="base"/>
            <a:r>
              <a:rPr lang="fr-FR" sz="2000" dirty="0"/>
              <a:t>S’assurer que les systèmes sont sûrs et sécurisés contre les menaces de cybersécurité.</a:t>
            </a:r>
          </a:p>
          <a:p>
            <a:pPr fontAlgn="base"/>
            <a:r>
              <a:rPr lang="fr-FR" sz="2000" dirty="0"/>
              <a:t>Identifier les problèmes techniques et développer des mises à jour logicielles et des «correctifs».</a:t>
            </a:r>
          </a:p>
          <a:p>
            <a:pPr fontAlgn="base"/>
            <a:r>
              <a:rPr lang="fr-FR" sz="2000" dirty="0"/>
              <a:t>Travailler avec les développeurs de logiciels et les ingénieurs en logiciel pour s'assurer que le développement suit les processus établis et fonctionne comme prévu.</a:t>
            </a:r>
          </a:p>
          <a:p>
            <a:pPr fontAlgn="base"/>
            <a:r>
              <a:rPr lang="fr-FR" sz="2000" dirty="0"/>
              <a:t>Planifier les projets et participer aux décisions de gestion de projet.</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2359</TotalTime>
  <Words>5215</Words>
  <Application>Microsoft Office PowerPoint</Application>
  <PresentationFormat>Grand écran</PresentationFormat>
  <Paragraphs>440</Paragraphs>
  <Slides>56</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56</vt:i4>
      </vt:variant>
    </vt:vector>
  </HeadingPairs>
  <TitlesOfParts>
    <vt:vector size="64"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et des missions </vt:lpstr>
      <vt:lpstr>Ingénieur Développeur Application / Web  Définition du rôle et des missions (suite)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385</cp:revision>
  <dcterms:created xsi:type="dcterms:W3CDTF">2021-02-09T15:04:07Z</dcterms:created>
  <dcterms:modified xsi:type="dcterms:W3CDTF">2021-02-16T08:01:05Z</dcterms:modified>
</cp:coreProperties>
</file>