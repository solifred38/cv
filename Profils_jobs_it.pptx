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58" r:id="rId3"/>
    <p:sldId id="269" r:id="rId4"/>
    <p:sldId id="275" r:id="rId5"/>
    <p:sldId id="270" r:id="rId6"/>
    <p:sldId id="283" r:id="rId7"/>
    <p:sldId id="271" r:id="rId8"/>
    <p:sldId id="273" r:id="rId9"/>
    <p:sldId id="272" r:id="rId10"/>
    <p:sldId id="299" r:id="rId11"/>
    <p:sldId id="300" r:id="rId12"/>
    <p:sldId id="298" r:id="rId13"/>
    <p:sldId id="320" r:id="rId14"/>
    <p:sldId id="324" r:id="rId15"/>
    <p:sldId id="322" r:id="rId16"/>
    <p:sldId id="323" r:id="rId17"/>
    <p:sldId id="274" r:id="rId18"/>
    <p:sldId id="268" r:id="rId19"/>
    <p:sldId id="307" r:id="rId20"/>
    <p:sldId id="319" r:id="rId21"/>
    <p:sldId id="276" r:id="rId22"/>
    <p:sldId id="277" r:id="rId23"/>
    <p:sldId id="301" r:id="rId24"/>
    <p:sldId id="302" r:id="rId25"/>
    <p:sldId id="279" r:id="rId26"/>
    <p:sldId id="281" r:id="rId27"/>
    <p:sldId id="303" r:id="rId28"/>
    <p:sldId id="304" r:id="rId29"/>
    <p:sldId id="310" r:id="rId30"/>
    <p:sldId id="311" r:id="rId31"/>
    <p:sldId id="313" r:id="rId32"/>
    <p:sldId id="282" r:id="rId33"/>
    <p:sldId id="284" r:id="rId34"/>
    <p:sldId id="285" r:id="rId35"/>
    <p:sldId id="314" r:id="rId36"/>
    <p:sldId id="287" r:id="rId37"/>
    <p:sldId id="286" r:id="rId38"/>
    <p:sldId id="305" r:id="rId39"/>
    <p:sldId id="306" r:id="rId40"/>
    <p:sldId id="288" r:id="rId41"/>
    <p:sldId id="289" r:id="rId42"/>
    <p:sldId id="315" r:id="rId43"/>
    <p:sldId id="290" r:id="rId44"/>
    <p:sldId id="291" r:id="rId45"/>
    <p:sldId id="297" r:id="rId46"/>
    <p:sldId id="316" r:id="rId47"/>
    <p:sldId id="295" r:id="rId48"/>
    <p:sldId id="296" r:id="rId49"/>
    <p:sldId id="317" r:id="rId50"/>
    <p:sldId id="308" r:id="rId51"/>
    <p:sldId id="309" r:id="rId52"/>
    <p:sldId id="318" r:id="rId53"/>
    <p:sldId id="292" r:id="rId54"/>
    <p:sldId id="293" r:id="rId55"/>
    <p:sldId id="294" r:id="rId56"/>
    <p:sldId id="261" r:id="rId57"/>
  </p:sldIdLst>
  <p:sldSz cx="12192000" cy="6858000"/>
  <p:notesSz cx="6858000" cy="9144000"/>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24" autoAdjust="0"/>
    <p:restoredTop sz="96327"/>
  </p:normalViewPr>
  <p:slideViewPr>
    <p:cSldViewPr snapToGrid="0" snapToObjects="1">
      <p:cViewPr varScale="1">
        <p:scale>
          <a:sx n="61" d="100"/>
          <a:sy n="61" d="100"/>
        </p:scale>
        <p:origin x="884" y="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17A2A-2FF0-2E40-8A9B-E5208E8F6A4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x-none"/>
          </a:p>
        </p:txBody>
      </p:sp>
      <p:sp>
        <p:nvSpPr>
          <p:cNvPr id="3" name="Subtitle 2">
            <a:extLst>
              <a:ext uri="{FF2B5EF4-FFF2-40B4-BE49-F238E27FC236}">
                <a16:creationId xmlns:a16="http://schemas.microsoft.com/office/drawing/2014/main" id="{92B167A9-E0F1-E346-9A44-CB7CDE716A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x-none"/>
          </a:p>
        </p:txBody>
      </p:sp>
      <p:sp>
        <p:nvSpPr>
          <p:cNvPr id="4" name="Date Placeholder 3">
            <a:extLst>
              <a:ext uri="{FF2B5EF4-FFF2-40B4-BE49-F238E27FC236}">
                <a16:creationId xmlns:a16="http://schemas.microsoft.com/office/drawing/2014/main" id="{9FE50AE3-BB8F-DF41-B8FF-651EB24682FD}"/>
              </a:ext>
            </a:extLst>
          </p:cNvPr>
          <p:cNvSpPr>
            <a:spLocks noGrp="1"/>
          </p:cNvSpPr>
          <p:nvPr>
            <p:ph type="dt" sz="half" idx="10"/>
          </p:nvPr>
        </p:nvSpPr>
        <p:spPr/>
        <p:txBody>
          <a:bodyPr/>
          <a:lstStyle/>
          <a:p>
            <a:fld id="{8C70DBA9-D40E-C549-9F7C-850ED2B6AE7B}" type="datetimeFigureOut">
              <a:rPr lang="x-none" smtClean="0"/>
              <a:pPr/>
              <a:t>16/02/2021</a:t>
            </a:fld>
            <a:endParaRPr lang="x-none"/>
          </a:p>
        </p:txBody>
      </p:sp>
      <p:sp>
        <p:nvSpPr>
          <p:cNvPr id="5" name="Footer Placeholder 4">
            <a:extLst>
              <a:ext uri="{FF2B5EF4-FFF2-40B4-BE49-F238E27FC236}">
                <a16:creationId xmlns:a16="http://schemas.microsoft.com/office/drawing/2014/main" id="{744CB9D6-36F5-4242-8C0F-C6F18DB372A1}"/>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F230F667-42B4-EA4A-BF8C-6A589DE939D0}"/>
              </a:ext>
            </a:extLst>
          </p:cNvPr>
          <p:cNvSpPr>
            <a:spLocks noGrp="1"/>
          </p:cNvSpPr>
          <p:nvPr>
            <p:ph type="sldNum" sz="quarter" idx="12"/>
          </p:nvPr>
        </p:nvSpPr>
        <p:spPr/>
        <p:txBody>
          <a:bodyPr/>
          <a:lstStyle/>
          <a:p>
            <a:fld id="{64EFCAFE-089C-0349-85F0-5FEE40907274}" type="slidenum">
              <a:rPr lang="x-none" smtClean="0"/>
              <a:pPr/>
              <a:t>‹N°›</a:t>
            </a:fld>
            <a:endParaRPr lang="x-none"/>
          </a:p>
        </p:txBody>
      </p:sp>
    </p:spTree>
    <p:extLst>
      <p:ext uri="{BB962C8B-B14F-4D97-AF65-F5344CB8AC3E}">
        <p14:creationId xmlns:p14="http://schemas.microsoft.com/office/powerpoint/2010/main" val="3027436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2E48F-B9BD-B146-998F-5839D40E5672}"/>
              </a:ext>
            </a:extLst>
          </p:cNvPr>
          <p:cNvSpPr>
            <a:spLocks noGrp="1"/>
          </p:cNvSpPr>
          <p:nvPr>
            <p:ph type="title"/>
          </p:nvPr>
        </p:nvSpPr>
        <p:spPr/>
        <p:txBody>
          <a:bodyPr/>
          <a:lstStyle/>
          <a:p>
            <a:r>
              <a:rPr lang="en-GB"/>
              <a:t>Click to edit Master title style</a:t>
            </a:r>
            <a:endParaRPr lang="x-none"/>
          </a:p>
        </p:txBody>
      </p:sp>
      <p:sp>
        <p:nvSpPr>
          <p:cNvPr id="3" name="Content Placeholder 2">
            <a:extLst>
              <a:ext uri="{FF2B5EF4-FFF2-40B4-BE49-F238E27FC236}">
                <a16:creationId xmlns:a16="http://schemas.microsoft.com/office/drawing/2014/main" id="{A02E3093-CE8D-4F4C-B6EE-DCE54B504B8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4" name="Date Placeholder 3">
            <a:extLst>
              <a:ext uri="{FF2B5EF4-FFF2-40B4-BE49-F238E27FC236}">
                <a16:creationId xmlns:a16="http://schemas.microsoft.com/office/drawing/2014/main" id="{BF09A057-2B3A-DD44-A5AE-97F94091CA9A}"/>
              </a:ext>
            </a:extLst>
          </p:cNvPr>
          <p:cNvSpPr>
            <a:spLocks noGrp="1"/>
          </p:cNvSpPr>
          <p:nvPr>
            <p:ph type="dt" sz="half" idx="10"/>
          </p:nvPr>
        </p:nvSpPr>
        <p:spPr/>
        <p:txBody>
          <a:bodyPr/>
          <a:lstStyle/>
          <a:p>
            <a:fld id="{8C70DBA9-D40E-C549-9F7C-850ED2B6AE7B}" type="datetimeFigureOut">
              <a:rPr lang="x-none" smtClean="0"/>
              <a:pPr/>
              <a:t>16/02/2021</a:t>
            </a:fld>
            <a:endParaRPr lang="x-none"/>
          </a:p>
        </p:txBody>
      </p:sp>
      <p:sp>
        <p:nvSpPr>
          <p:cNvPr id="5" name="Footer Placeholder 4">
            <a:extLst>
              <a:ext uri="{FF2B5EF4-FFF2-40B4-BE49-F238E27FC236}">
                <a16:creationId xmlns:a16="http://schemas.microsoft.com/office/drawing/2014/main" id="{526565A1-7EAF-174C-8E09-E141B17804C8}"/>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449686AB-2FBE-3743-B03F-0051B123399E}"/>
              </a:ext>
            </a:extLst>
          </p:cNvPr>
          <p:cNvSpPr>
            <a:spLocks noGrp="1"/>
          </p:cNvSpPr>
          <p:nvPr>
            <p:ph type="sldNum" sz="quarter" idx="12"/>
          </p:nvPr>
        </p:nvSpPr>
        <p:spPr/>
        <p:txBody>
          <a:bodyPr/>
          <a:lstStyle/>
          <a:p>
            <a:fld id="{64EFCAFE-089C-0349-85F0-5FEE40907274}" type="slidenum">
              <a:rPr lang="x-none" smtClean="0"/>
              <a:pPr/>
              <a:t>‹N°›</a:t>
            </a:fld>
            <a:endParaRPr lang="x-none"/>
          </a:p>
        </p:txBody>
      </p:sp>
    </p:spTree>
    <p:extLst>
      <p:ext uri="{BB962C8B-B14F-4D97-AF65-F5344CB8AC3E}">
        <p14:creationId xmlns:p14="http://schemas.microsoft.com/office/powerpoint/2010/main" val="774008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0209C-5990-1B49-8917-094F9E929A1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x-none"/>
          </a:p>
        </p:txBody>
      </p:sp>
      <p:sp>
        <p:nvSpPr>
          <p:cNvPr id="3" name="Text Placeholder 2">
            <a:extLst>
              <a:ext uri="{FF2B5EF4-FFF2-40B4-BE49-F238E27FC236}">
                <a16:creationId xmlns:a16="http://schemas.microsoft.com/office/drawing/2014/main" id="{B4378749-D299-D84E-BADD-AA243C4A60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22016C4-5F0A-7840-BB7E-B2E552E566F7}"/>
              </a:ext>
            </a:extLst>
          </p:cNvPr>
          <p:cNvSpPr>
            <a:spLocks noGrp="1"/>
          </p:cNvSpPr>
          <p:nvPr>
            <p:ph type="dt" sz="half" idx="10"/>
          </p:nvPr>
        </p:nvSpPr>
        <p:spPr/>
        <p:txBody>
          <a:bodyPr/>
          <a:lstStyle/>
          <a:p>
            <a:fld id="{8C70DBA9-D40E-C549-9F7C-850ED2B6AE7B}" type="datetimeFigureOut">
              <a:rPr lang="x-none" smtClean="0"/>
              <a:pPr/>
              <a:t>16/02/2021</a:t>
            </a:fld>
            <a:endParaRPr lang="x-none"/>
          </a:p>
        </p:txBody>
      </p:sp>
      <p:sp>
        <p:nvSpPr>
          <p:cNvPr id="5" name="Footer Placeholder 4">
            <a:extLst>
              <a:ext uri="{FF2B5EF4-FFF2-40B4-BE49-F238E27FC236}">
                <a16:creationId xmlns:a16="http://schemas.microsoft.com/office/drawing/2014/main" id="{8A1FAD20-17B7-EE4F-ACEA-0185257FD221}"/>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7A042EAB-6068-2F4E-943F-794B8CD12F40}"/>
              </a:ext>
            </a:extLst>
          </p:cNvPr>
          <p:cNvSpPr>
            <a:spLocks noGrp="1"/>
          </p:cNvSpPr>
          <p:nvPr>
            <p:ph type="sldNum" sz="quarter" idx="12"/>
          </p:nvPr>
        </p:nvSpPr>
        <p:spPr/>
        <p:txBody>
          <a:bodyPr/>
          <a:lstStyle/>
          <a:p>
            <a:fld id="{64EFCAFE-089C-0349-85F0-5FEE40907274}" type="slidenum">
              <a:rPr lang="x-none" smtClean="0"/>
              <a:pPr/>
              <a:t>‹N°›</a:t>
            </a:fld>
            <a:endParaRPr lang="x-none"/>
          </a:p>
        </p:txBody>
      </p:sp>
    </p:spTree>
    <p:extLst>
      <p:ext uri="{BB962C8B-B14F-4D97-AF65-F5344CB8AC3E}">
        <p14:creationId xmlns:p14="http://schemas.microsoft.com/office/powerpoint/2010/main" val="2723720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1EB3B-C53E-AA4C-B7A0-13FDAA95EE59}"/>
              </a:ext>
            </a:extLst>
          </p:cNvPr>
          <p:cNvSpPr>
            <a:spLocks noGrp="1"/>
          </p:cNvSpPr>
          <p:nvPr>
            <p:ph type="title"/>
          </p:nvPr>
        </p:nvSpPr>
        <p:spPr/>
        <p:txBody>
          <a:bodyPr/>
          <a:lstStyle/>
          <a:p>
            <a:r>
              <a:rPr lang="en-GB"/>
              <a:t>Click to edit Master title style</a:t>
            </a:r>
            <a:endParaRPr lang="x-none"/>
          </a:p>
        </p:txBody>
      </p:sp>
      <p:sp>
        <p:nvSpPr>
          <p:cNvPr id="3" name="Content Placeholder 2">
            <a:extLst>
              <a:ext uri="{FF2B5EF4-FFF2-40B4-BE49-F238E27FC236}">
                <a16:creationId xmlns:a16="http://schemas.microsoft.com/office/drawing/2014/main" id="{A347F1EB-6563-8D4A-8C21-038AAAF252B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4" name="Content Placeholder 3">
            <a:extLst>
              <a:ext uri="{FF2B5EF4-FFF2-40B4-BE49-F238E27FC236}">
                <a16:creationId xmlns:a16="http://schemas.microsoft.com/office/drawing/2014/main" id="{D1D67101-3F16-1247-98FA-7505527FE6F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5" name="Date Placeholder 4">
            <a:extLst>
              <a:ext uri="{FF2B5EF4-FFF2-40B4-BE49-F238E27FC236}">
                <a16:creationId xmlns:a16="http://schemas.microsoft.com/office/drawing/2014/main" id="{891FA766-9C30-834F-A4EF-9A236DF4A557}"/>
              </a:ext>
            </a:extLst>
          </p:cNvPr>
          <p:cNvSpPr>
            <a:spLocks noGrp="1"/>
          </p:cNvSpPr>
          <p:nvPr>
            <p:ph type="dt" sz="half" idx="10"/>
          </p:nvPr>
        </p:nvSpPr>
        <p:spPr/>
        <p:txBody>
          <a:bodyPr/>
          <a:lstStyle/>
          <a:p>
            <a:fld id="{8C70DBA9-D40E-C549-9F7C-850ED2B6AE7B}" type="datetimeFigureOut">
              <a:rPr lang="x-none" smtClean="0"/>
              <a:pPr/>
              <a:t>16/02/2021</a:t>
            </a:fld>
            <a:endParaRPr lang="x-none"/>
          </a:p>
        </p:txBody>
      </p:sp>
      <p:sp>
        <p:nvSpPr>
          <p:cNvPr id="6" name="Footer Placeholder 5">
            <a:extLst>
              <a:ext uri="{FF2B5EF4-FFF2-40B4-BE49-F238E27FC236}">
                <a16:creationId xmlns:a16="http://schemas.microsoft.com/office/drawing/2014/main" id="{96E21626-D81C-0B41-B4C8-6E7AB9EBDC28}"/>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23F7179D-6073-BF43-B684-B27BEC0BDE86}"/>
              </a:ext>
            </a:extLst>
          </p:cNvPr>
          <p:cNvSpPr>
            <a:spLocks noGrp="1"/>
          </p:cNvSpPr>
          <p:nvPr>
            <p:ph type="sldNum" sz="quarter" idx="12"/>
          </p:nvPr>
        </p:nvSpPr>
        <p:spPr/>
        <p:txBody>
          <a:bodyPr/>
          <a:lstStyle/>
          <a:p>
            <a:fld id="{64EFCAFE-089C-0349-85F0-5FEE40907274}" type="slidenum">
              <a:rPr lang="x-none" smtClean="0"/>
              <a:pPr/>
              <a:t>‹N°›</a:t>
            </a:fld>
            <a:endParaRPr lang="x-none"/>
          </a:p>
        </p:txBody>
      </p:sp>
    </p:spTree>
    <p:extLst>
      <p:ext uri="{BB962C8B-B14F-4D97-AF65-F5344CB8AC3E}">
        <p14:creationId xmlns:p14="http://schemas.microsoft.com/office/powerpoint/2010/main" val="2964209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9CB91-775F-D044-BDE2-0FCBCE7E0DB3}"/>
              </a:ext>
            </a:extLst>
          </p:cNvPr>
          <p:cNvSpPr>
            <a:spLocks noGrp="1"/>
          </p:cNvSpPr>
          <p:nvPr>
            <p:ph type="title"/>
          </p:nvPr>
        </p:nvSpPr>
        <p:spPr>
          <a:xfrm>
            <a:off x="839788" y="365125"/>
            <a:ext cx="10515600" cy="1325563"/>
          </a:xfrm>
        </p:spPr>
        <p:txBody>
          <a:bodyPr/>
          <a:lstStyle/>
          <a:p>
            <a:r>
              <a:rPr lang="en-GB"/>
              <a:t>Click to edit Master title style</a:t>
            </a:r>
            <a:endParaRPr lang="x-none"/>
          </a:p>
        </p:txBody>
      </p:sp>
      <p:sp>
        <p:nvSpPr>
          <p:cNvPr id="3" name="Text Placeholder 2">
            <a:extLst>
              <a:ext uri="{FF2B5EF4-FFF2-40B4-BE49-F238E27FC236}">
                <a16:creationId xmlns:a16="http://schemas.microsoft.com/office/drawing/2014/main" id="{81A4BE6D-21BB-314D-882B-ABA3E8C992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3A68C4D-1202-B74D-A3F7-9FE7D173343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5" name="Text Placeholder 4">
            <a:extLst>
              <a:ext uri="{FF2B5EF4-FFF2-40B4-BE49-F238E27FC236}">
                <a16:creationId xmlns:a16="http://schemas.microsoft.com/office/drawing/2014/main" id="{F112C724-48A1-3C4D-A01C-3A7F3A1C0D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BAE3F74-F2C1-0C46-AC45-485A82FDC6D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7" name="Date Placeholder 6">
            <a:extLst>
              <a:ext uri="{FF2B5EF4-FFF2-40B4-BE49-F238E27FC236}">
                <a16:creationId xmlns:a16="http://schemas.microsoft.com/office/drawing/2014/main" id="{F688A28F-4B85-674D-8031-AB9B298553ED}"/>
              </a:ext>
            </a:extLst>
          </p:cNvPr>
          <p:cNvSpPr>
            <a:spLocks noGrp="1"/>
          </p:cNvSpPr>
          <p:nvPr>
            <p:ph type="dt" sz="half" idx="10"/>
          </p:nvPr>
        </p:nvSpPr>
        <p:spPr/>
        <p:txBody>
          <a:bodyPr/>
          <a:lstStyle/>
          <a:p>
            <a:fld id="{8C70DBA9-D40E-C549-9F7C-850ED2B6AE7B}" type="datetimeFigureOut">
              <a:rPr lang="x-none" smtClean="0"/>
              <a:pPr/>
              <a:t>16/02/2021</a:t>
            </a:fld>
            <a:endParaRPr lang="x-none"/>
          </a:p>
        </p:txBody>
      </p:sp>
      <p:sp>
        <p:nvSpPr>
          <p:cNvPr id="8" name="Footer Placeholder 7">
            <a:extLst>
              <a:ext uri="{FF2B5EF4-FFF2-40B4-BE49-F238E27FC236}">
                <a16:creationId xmlns:a16="http://schemas.microsoft.com/office/drawing/2014/main" id="{2E9CEF26-66C2-BD40-9358-D3E74E217D6A}"/>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a16="http://schemas.microsoft.com/office/drawing/2014/main" id="{8DF6D21C-1441-8040-B669-F63140209003}"/>
              </a:ext>
            </a:extLst>
          </p:cNvPr>
          <p:cNvSpPr>
            <a:spLocks noGrp="1"/>
          </p:cNvSpPr>
          <p:nvPr>
            <p:ph type="sldNum" sz="quarter" idx="12"/>
          </p:nvPr>
        </p:nvSpPr>
        <p:spPr/>
        <p:txBody>
          <a:bodyPr/>
          <a:lstStyle/>
          <a:p>
            <a:fld id="{64EFCAFE-089C-0349-85F0-5FEE40907274}" type="slidenum">
              <a:rPr lang="x-none" smtClean="0"/>
              <a:pPr/>
              <a:t>‹N°›</a:t>
            </a:fld>
            <a:endParaRPr lang="x-none"/>
          </a:p>
        </p:txBody>
      </p:sp>
    </p:spTree>
    <p:extLst>
      <p:ext uri="{BB962C8B-B14F-4D97-AF65-F5344CB8AC3E}">
        <p14:creationId xmlns:p14="http://schemas.microsoft.com/office/powerpoint/2010/main" val="11749416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DFC87-F48D-BC49-9F1D-6AE158BBB522}"/>
              </a:ext>
            </a:extLst>
          </p:cNvPr>
          <p:cNvSpPr>
            <a:spLocks noGrp="1"/>
          </p:cNvSpPr>
          <p:nvPr>
            <p:ph type="title"/>
          </p:nvPr>
        </p:nvSpPr>
        <p:spPr/>
        <p:txBody>
          <a:bodyPr/>
          <a:lstStyle/>
          <a:p>
            <a:r>
              <a:rPr lang="en-GB"/>
              <a:t>Click to edit Master title style</a:t>
            </a:r>
            <a:endParaRPr lang="x-none"/>
          </a:p>
        </p:txBody>
      </p:sp>
      <p:sp>
        <p:nvSpPr>
          <p:cNvPr id="3" name="Date Placeholder 2">
            <a:extLst>
              <a:ext uri="{FF2B5EF4-FFF2-40B4-BE49-F238E27FC236}">
                <a16:creationId xmlns:a16="http://schemas.microsoft.com/office/drawing/2014/main" id="{1F587F50-3ACA-7446-AA11-2ACC5A085D43}"/>
              </a:ext>
            </a:extLst>
          </p:cNvPr>
          <p:cNvSpPr>
            <a:spLocks noGrp="1"/>
          </p:cNvSpPr>
          <p:nvPr>
            <p:ph type="dt" sz="half" idx="10"/>
          </p:nvPr>
        </p:nvSpPr>
        <p:spPr/>
        <p:txBody>
          <a:bodyPr/>
          <a:lstStyle/>
          <a:p>
            <a:fld id="{8C70DBA9-D40E-C549-9F7C-850ED2B6AE7B}" type="datetimeFigureOut">
              <a:rPr lang="x-none" smtClean="0"/>
              <a:pPr/>
              <a:t>16/02/2021</a:t>
            </a:fld>
            <a:endParaRPr lang="x-none"/>
          </a:p>
        </p:txBody>
      </p:sp>
      <p:sp>
        <p:nvSpPr>
          <p:cNvPr id="4" name="Footer Placeholder 3">
            <a:extLst>
              <a:ext uri="{FF2B5EF4-FFF2-40B4-BE49-F238E27FC236}">
                <a16:creationId xmlns:a16="http://schemas.microsoft.com/office/drawing/2014/main" id="{E616A4FA-DB0F-184C-949B-98169FFE1400}"/>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a16="http://schemas.microsoft.com/office/drawing/2014/main" id="{2AE15ABD-6E2F-B443-BD2A-DBA3357E8FB4}"/>
              </a:ext>
            </a:extLst>
          </p:cNvPr>
          <p:cNvSpPr>
            <a:spLocks noGrp="1"/>
          </p:cNvSpPr>
          <p:nvPr>
            <p:ph type="sldNum" sz="quarter" idx="12"/>
          </p:nvPr>
        </p:nvSpPr>
        <p:spPr/>
        <p:txBody>
          <a:bodyPr/>
          <a:lstStyle/>
          <a:p>
            <a:fld id="{64EFCAFE-089C-0349-85F0-5FEE40907274}" type="slidenum">
              <a:rPr lang="x-none" smtClean="0"/>
              <a:pPr/>
              <a:t>‹N°›</a:t>
            </a:fld>
            <a:endParaRPr lang="x-none"/>
          </a:p>
        </p:txBody>
      </p:sp>
    </p:spTree>
    <p:extLst>
      <p:ext uri="{BB962C8B-B14F-4D97-AF65-F5344CB8AC3E}">
        <p14:creationId xmlns:p14="http://schemas.microsoft.com/office/powerpoint/2010/main" val="71737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FBF121-DC11-2642-BE62-78AF101246E8}"/>
              </a:ext>
            </a:extLst>
          </p:cNvPr>
          <p:cNvSpPr>
            <a:spLocks noGrp="1"/>
          </p:cNvSpPr>
          <p:nvPr>
            <p:ph type="dt" sz="half" idx="10"/>
          </p:nvPr>
        </p:nvSpPr>
        <p:spPr/>
        <p:txBody>
          <a:bodyPr/>
          <a:lstStyle/>
          <a:p>
            <a:fld id="{8C70DBA9-D40E-C549-9F7C-850ED2B6AE7B}" type="datetimeFigureOut">
              <a:rPr lang="x-none" smtClean="0"/>
              <a:pPr/>
              <a:t>16/02/2021</a:t>
            </a:fld>
            <a:endParaRPr lang="x-none"/>
          </a:p>
        </p:txBody>
      </p:sp>
      <p:sp>
        <p:nvSpPr>
          <p:cNvPr id="3" name="Footer Placeholder 2">
            <a:extLst>
              <a:ext uri="{FF2B5EF4-FFF2-40B4-BE49-F238E27FC236}">
                <a16:creationId xmlns:a16="http://schemas.microsoft.com/office/drawing/2014/main" id="{6F46E423-499B-1B41-9E9B-99219A0CF906}"/>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a16="http://schemas.microsoft.com/office/drawing/2014/main" id="{2B86B0D6-750A-E649-BBD2-C69E8C5B83DB}"/>
              </a:ext>
            </a:extLst>
          </p:cNvPr>
          <p:cNvSpPr>
            <a:spLocks noGrp="1"/>
          </p:cNvSpPr>
          <p:nvPr>
            <p:ph type="sldNum" sz="quarter" idx="12"/>
          </p:nvPr>
        </p:nvSpPr>
        <p:spPr/>
        <p:txBody>
          <a:bodyPr/>
          <a:lstStyle/>
          <a:p>
            <a:fld id="{64EFCAFE-089C-0349-85F0-5FEE40907274}" type="slidenum">
              <a:rPr lang="x-none" smtClean="0"/>
              <a:pPr/>
              <a:t>‹N°›</a:t>
            </a:fld>
            <a:endParaRPr lang="x-none"/>
          </a:p>
        </p:txBody>
      </p:sp>
    </p:spTree>
    <p:extLst>
      <p:ext uri="{BB962C8B-B14F-4D97-AF65-F5344CB8AC3E}">
        <p14:creationId xmlns:p14="http://schemas.microsoft.com/office/powerpoint/2010/main" val="2109448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85610-725B-B540-A137-E9D16AFC048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x-none"/>
          </a:p>
        </p:txBody>
      </p:sp>
      <p:sp>
        <p:nvSpPr>
          <p:cNvPr id="3" name="Content Placeholder 2">
            <a:extLst>
              <a:ext uri="{FF2B5EF4-FFF2-40B4-BE49-F238E27FC236}">
                <a16:creationId xmlns:a16="http://schemas.microsoft.com/office/drawing/2014/main" id="{BCFAA86B-9151-0846-8A36-03F6A639E8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4" name="Text Placeholder 3">
            <a:extLst>
              <a:ext uri="{FF2B5EF4-FFF2-40B4-BE49-F238E27FC236}">
                <a16:creationId xmlns:a16="http://schemas.microsoft.com/office/drawing/2014/main" id="{9C9B5F47-E787-6740-B4D6-518C12ECBE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ED109BB-0F63-014E-B4EB-C277ED11F56C}"/>
              </a:ext>
            </a:extLst>
          </p:cNvPr>
          <p:cNvSpPr>
            <a:spLocks noGrp="1"/>
          </p:cNvSpPr>
          <p:nvPr>
            <p:ph type="dt" sz="half" idx="10"/>
          </p:nvPr>
        </p:nvSpPr>
        <p:spPr/>
        <p:txBody>
          <a:bodyPr/>
          <a:lstStyle/>
          <a:p>
            <a:fld id="{8C70DBA9-D40E-C549-9F7C-850ED2B6AE7B}" type="datetimeFigureOut">
              <a:rPr lang="x-none" smtClean="0"/>
              <a:pPr/>
              <a:t>16/02/2021</a:t>
            </a:fld>
            <a:endParaRPr lang="x-none"/>
          </a:p>
        </p:txBody>
      </p:sp>
      <p:sp>
        <p:nvSpPr>
          <p:cNvPr id="6" name="Footer Placeholder 5">
            <a:extLst>
              <a:ext uri="{FF2B5EF4-FFF2-40B4-BE49-F238E27FC236}">
                <a16:creationId xmlns:a16="http://schemas.microsoft.com/office/drawing/2014/main" id="{715241E4-7222-764C-85BA-576AD6005517}"/>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486288CF-F1C1-7649-A5D2-4272F9FB146F}"/>
              </a:ext>
            </a:extLst>
          </p:cNvPr>
          <p:cNvSpPr>
            <a:spLocks noGrp="1"/>
          </p:cNvSpPr>
          <p:nvPr>
            <p:ph type="sldNum" sz="quarter" idx="12"/>
          </p:nvPr>
        </p:nvSpPr>
        <p:spPr/>
        <p:txBody>
          <a:bodyPr/>
          <a:lstStyle/>
          <a:p>
            <a:fld id="{64EFCAFE-089C-0349-85F0-5FEE40907274}" type="slidenum">
              <a:rPr lang="x-none" smtClean="0"/>
              <a:pPr/>
              <a:t>‹N°›</a:t>
            </a:fld>
            <a:endParaRPr lang="x-none"/>
          </a:p>
        </p:txBody>
      </p:sp>
    </p:spTree>
    <p:extLst>
      <p:ext uri="{BB962C8B-B14F-4D97-AF65-F5344CB8AC3E}">
        <p14:creationId xmlns:p14="http://schemas.microsoft.com/office/powerpoint/2010/main" val="483078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1F6C3-EF41-ED40-8FDB-23F9E75C786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x-none"/>
          </a:p>
        </p:txBody>
      </p:sp>
      <p:sp>
        <p:nvSpPr>
          <p:cNvPr id="3" name="Picture Placeholder 2">
            <a:extLst>
              <a:ext uri="{FF2B5EF4-FFF2-40B4-BE49-F238E27FC236}">
                <a16:creationId xmlns:a16="http://schemas.microsoft.com/office/drawing/2014/main" id="{73A0D5DE-80D4-274F-AC84-B5B21154DA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a:extLst>
              <a:ext uri="{FF2B5EF4-FFF2-40B4-BE49-F238E27FC236}">
                <a16:creationId xmlns:a16="http://schemas.microsoft.com/office/drawing/2014/main" id="{F8104EF4-6397-3649-B4A0-D79B8F5DAF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41D3502-17E9-5845-9ECB-056A17D72DE2}"/>
              </a:ext>
            </a:extLst>
          </p:cNvPr>
          <p:cNvSpPr>
            <a:spLocks noGrp="1"/>
          </p:cNvSpPr>
          <p:nvPr>
            <p:ph type="dt" sz="half" idx="10"/>
          </p:nvPr>
        </p:nvSpPr>
        <p:spPr/>
        <p:txBody>
          <a:bodyPr/>
          <a:lstStyle/>
          <a:p>
            <a:fld id="{8C70DBA9-D40E-C549-9F7C-850ED2B6AE7B}" type="datetimeFigureOut">
              <a:rPr lang="x-none" smtClean="0"/>
              <a:pPr/>
              <a:t>16/02/2021</a:t>
            </a:fld>
            <a:endParaRPr lang="x-none"/>
          </a:p>
        </p:txBody>
      </p:sp>
      <p:sp>
        <p:nvSpPr>
          <p:cNvPr id="6" name="Footer Placeholder 5">
            <a:extLst>
              <a:ext uri="{FF2B5EF4-FFF2-40B4-BE49-F238E27FC236}">
                <a16:creationId xmlns:a16="http://schemas.microsoft.com/office/drawing/2014/main" id="{B0B5F3D0-CB82-F841-8CDD-2C2F0F8358A7}"/>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25D661E6-A849-0F44-ABFB-ECCE976CC12D}"/>
              </a:ext>
            </a:extLst>
          </p:cNvPr>
          <p:cNvSpPr>
            <a:spLocks noGrp="1"/>
          </p:cNvSpPr>
          <p:nvPr>
            <p:ph type="sldNum" sz="quarter" idx="12"/>
          </p:nvPr>
        </p:nvSpPr>
        <p:spPr/>
        <p:txBody>
          <a:bodyPr/>
          <a:lstStyle/>
          <a:p>
            <a:fld id="{64EFCAFE-089C-0349-85F0-5FEE40907274}" type="slidenum">
              <a:rPr lang="x-none" smtClean="0"/>
              <a:pPr/>
              <a:t>‹N°›</a:t>
            </a:fld>
            <a:endParaRPr lang="x-none"/>
          </a:p>
        </p:txBody>
      </p:sp>
    </p:spTree>
    <p:extLst>
      <p:ext uri="{BB962C8B-B14F-4D97-AF65-F5344CB8AC3E}">
        <p14:creationId xmlns:p14="http://schemas.microsoft.com/office/powerpoint/2010/main" val="916667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389B6-5D9E-4043-9A8F-BECD6E1B07E3}"/>
              </a:ext>
            </a:extLst>
          </p:cNvPr>
          <p:cNvSpPr>
            <a:spLocks noGrp="1"/>
          </p:cNvSpPr>
          <p:nvPr>
            <p:ph type="title"/>
          </p:nvPr>
        </p:nvSpPr>
        <p:spPr/>
        <p:txBody>
          <a:bodyPr/>
          <a:lstStyle/>
          <a:p>
            <a:r>
              <a:rPr lang="en-GB"/>
              <a:t>Click to edit Master title style</a:t>
            </a:r>
            <a:endParaRPr lang="x-none"/>
          </a:p>
        </p:txBody>
      </p:sp>
      <p:sp>
        <p:nvSpPr>
          <p:cNvPr id="3" name="Vertical Text Placeholder 2">
            <a:extLst>
              <a:ext uri="{FF2B5EF4-FFF2-40B4-BE49-F238E27FC236}">
                <a16:creationId xmlns:a16="http://schemas.microsoft.com/office/drawing/2014/main" id="{F92526EE-F39A-7741-8F9D-95F17311AF2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4" name="Date Placeholder 3">
            <a:extLst>
              <a:ext uri="{FF2B5EF4-FFF2-40B4-BE49-F238E27FC236}">
                <a16:creationId xmlns:a16="http://schemas.microsoft.com/office/drawing/2014/main" id="{6EB1DE46-D753-7E42-9F01-FD21D8C85EEB}"/>
              </a:ext>
            </a:extLst>
          </p:cNvPr>
          <p:cNvSpPr>
            <a:spLocks noGrp="1"/>
          </p:cNvSpPr>
          <p:nvPr>
            <p:ph type="dt" sz="half" idx="10"/>
          </p:nvPr>
        </p:nvSpPr>
        <p:spPr/>
        <p:txBody>
          <a:bodyPr/>
          <a:lstStyle/>
          <a:p>
            <a:fld id="{8C70DBA9-D40E-C549-9F7C-850ED2B6AE7B}" type="datetimeFigureOut">
              <a:rPr lang="x-none" smtClean="0"/>
              <a:pPr/>
              <a:t>16/02/2021</a:t>
            </a:fld>
            <a:endParaRPr lang="x-none"/>
          </a:p>
        </p:txBody>
      </p:sp>
      <p:sp>
        <p:nvSpPr>
          <p:cNvPr id="5" name="Footer Placeholder 4">
            <a:extLst>
              <a:ext uri="{FF2B5EF4-FFF2-40B4-BE49-F238E27FC236}">
                <a16:creationId xmlns:a16="http://schemas.microsoft.com/office/drawing/2014/main" id="{22D157AA-ED43-7F4B-83D6-22429BD77D8C}"/>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701CA035-91B3-2F41-BDFD-7F1E3E25EFE9}"/>
              </a:ext>
            </a:extLst>
          </p:cNvPr>
          <p:cNvSpPr>
            <a:spLocks noGrp="1"/>
          </p:cNvSpPr>
          <p:nvPr>
            <p:ph type="sldNum" sz="quarter" idx="12"/>
          </p:nvPr>
        </p:nvSpPr>
        <p:spPr/>
        <p:txBody>
          <a:bodyPr/>
          <a:lstStyle/>
          <a:p>
            <a:fld id="{64EFCAFE-089C-0349-85F0-5FEE40907274}" type="slidenum">
              <a:rPr lang="x-none" smtClean="0"/>
              <a:pPr/>
              <a:t>‹N°›</a:t>
            </a:fld>
            <a:endParaRPr lang="x-none"/>
          </a:p>
        </p:txBody>
      </p:sp>
    </p:spTree>
    <p:extLst>
      <p:ext uri="{BB962C8B-B14F-4D97-AF65-F5344CB8AC3E}">
        <p14:creationId xmlns:p14="http://schemas.microsoft.com/office/powerpoint/2010/main" val="1255720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C3C00F-BB0B-7449-AA5E-9CDC854E432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x-none"/>
          </a:p>
        </p:txBody>
      </p:sp>
      <p:sp>
        <p:nvSpPr>
          <p:cNvPr id="3" name="Vertical Text Placeholder 2">
            <a:extLst>
              <a:ext uri="{FF2B5EF4-FFF2-40B4-BE49-F238E27FC236}">
                <a16:creationId xmlns:a16="http://schemas.microsoft.com/office/drawing/2014/main" id="{641C707F-160A-4243-843E-90F3B51736E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4" name="Date Placeholder 3">
            <a:extLst>
              <a:ext uri="{FF2B5EF4-FFF2-40B4-BE49-F238E27FC236}">
                <a16:creationId xmlns:a16="http://schemas.microsoft.com/office/drawing/2014/main" id="{4E3B0F26-CFA2-FE46-9597-D182E716145B}"/>
              </a:ext>
            </a:extLst>
          </p:cNvPr>
          <p:cNvSpPr>
            <a:spLocks noGrp="1"/>
          </p:cNvSpPr>
          <p:nvPr>
            <p:ph type="dt" sz="half" idx="10"/>
          </p:nvPr>
        </p:nvSpPr>
        <p:spPr/>
        <p:txBody>
          <a:bodyPr/>
          <a:lstStyle/>
          <a:p>
            <a:fld id="{8C70DBA9-D40E-C549-9F7C-850ED2B6AE7B}" type="datetimeFigureOut">
              <a:rPr lang="x-none" smtClean="0"/>
              <a:pPr/>
              <a:t>16/02/2021</a:t>
            </a:fld>
            <a:endParaRPr lang="x-none"/>
          </a:p>
        </p:txBody>
      </p:sp>
      <p:sp>
        <p:nvSpPr>
          <p:cNvPr id="5" name="Footer Placeholder 4">
            <a:extLst>
              <a:ext uri="{FF2B5EF4-FFF2-40B4-BE49-F238E27FC236}">
                <a16:creationId xmlns:a16="http://schemas.microsoft.com/office/drawing/2014/main" id="{5BE99DDA-D9DE-844D-A314-BC0258380C2F}"/>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66A50BE6-602A-B44D-87F9-FB904878DBF2}"/>
              </a:ext>
            </a:extLst>
          </p:cNvPr>
          <p:cNvSpPr>
            <a:spLocks noGrp="1"/>
          </p:cNvSpPr>
          <p:nvPr>
            <p:ph type="sldNum" sz="quarter" idx="12"/>
          </p:nvPr>
        </p:nvSpPr>
        <p:spPr/>
        <p:txBody>
          <a:bodyPr/>
          <a:lstStyle/>
          <a:p>
            <a:fld id="{64EFCAFE-089C-0349-85F0-5FEE40907274}" type="slidenum">
              <a:rPr lang="x-none" smtClean="0"/>
              <a:pPr/>
              <a:t>‹N°›</a:t>
            </a:fld>
            <a:endParaRPr lang="x-none"/>
          </a:p>
        </p:txBody>
      </p:sp>
    </p:spTree>
    <p:extLst>
      <p:ext uri="{BB962C8B-B14F-4D97-AF65-F5344CB8AC3E}">
        <p14:creationId xmlns:p14="http://schemas.microsoft.com/office/powerpoint/2010/main" val="4271481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325231-3B40-5C40-B274-CF3046C70B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x-none"/>
          </a:p>
        </p:txBody>
      </p:sp>
      <p:sp>
        <p:nvSpPr>
          <p:cNvPr id="3" name="Text Placeholder 2">
            <a:extLst>
              <a:ext uri="{FF2B5EF4-FFF2-40B4-BE49-F238E27FC236}">
                <a16:creationId xmlns:a16="http://schemas.microsoft.com/office/drawing/2014/main" id="{BB1E1FD4-D2A7-9249-9FA3-2B8D1AD8FC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4" name="Date Placeholder 3">
            <a:extLst>
              <a:ext uri="{FF2B5EF4-FFF2-40B4-BE49-F238E27FC236}">
                <a16:creationId xmlns:a16="http://schemas.microsoft.com/office/drawing/2014/main" id="{9DB2A841-6EB9-3B40-8356-74B77F4581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70DBA9-D40E-C549-9F7C-850ED2B6AE7B}" type="datetimeFigureOut">
              <a:rPr lang="x-none" smtClean="0"/>
              <a:pPr/>
              <a:t>16/02/2021</a:t>
            </a:fld>
            <a:endParaRPr lang="x-none"/>
          </a:p>
        </p:txBody>
      </p:sp>
      <p:sp>
        <p:nvSpPr>
          <p:cNvPr id="5" name="Footer Placeholder 4">
            <a:extLst>
              <a:ext uri="{FF2B5EF4-FFF2-40B4-BE49-F238E27FC236}">
                <a16:creationId xmlns:a16="http://schemas.microsoft.com/office/drawing/2014/main" id="{A85D3080-D60E-3E45-B8CF-1342B96716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a16="http://schemas.microsoft.com/office/drawing/2014/main" id="{A88BF69A-A726-2B46-B995-8A3F93BF4F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EFCAFE-089C-0349-85F0-5FEE40907274}" type="slidenum">
              <a:rPr lang="x-none" smtClean="0"/>
              <a:pPr/>
              <a:t>‹N°›</a:t>
            </a:fld>
            <a:endParaRPr lang="x-none"/>
          </a:p>
        </p:txBody>
      </p:sp>
    </p:spTree>
    <p:extLst>
      <p:ext uri="{BB962C8B-B14F-4D97-AF65-F5344CB8AC3E}">
        <p14:creationId xmlns:p14="http://schemas.microsoft.com/office/powerpoint/2010/main" val="17326086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slide" Target="slide33.xml"/><Relationship Id="rId13" Type="http://schemas.openxmlformats.org/officeDocument/2006/relationships/slide" Target="slide54.xml"/><Relationship Id="rId3" Type="http://schemas.openxmlformats.org/officeDocument/2006/relationships/slide" Target="slide7.xml"/><Relationship Id="rId7" Type="http://schemas.openxmlformats.org/officeDocument/2006/relationships/slide" Target="slide29.xml"/><Relationship Id="rId12" Type="http://schemas.openxmlformats.org/officeDocument/2006/relationships/slide" Target="slide47.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slide" Target="slide25.xml"/><Relationship Id="rId11" Type="http://schemas.openxmlformats.org/officeDocument/2006/relationships/slide" Target="slide43.xml"/><Relationship Id="rId5" Type="http://schemas.openxmlformats.org/officeDocument/2006/relationships/slide" Target="slide21.xml"/><Relationship Id="rId10" Type="http://schemas.openxmlformats.org/officeDocument/2006/relationships/slide" Target="slide40.xml"/><Relationship Id="rId4" Type="http://schemas.openxmlformats.org/officeDocument/2006/relationships/slide" Target="slide17.xml"/><Relationship Id="rId9" Type="http://schemas.openxmlformats.org/officeDocument/2006/relationships/slide" Target="slide36.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DCDCC-1767-9C4E-BEBE-95E51E39679D}"/>
              </a:ext>
            </a:extLst>
          </p:cNvPr>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1932317" y="2499145"/>
            <a:ext cx="7798279" cy="1938992"/>
          </a:xfrm>
          <a:prstGeom prst="rect">
            <a:avLst/>
          </a:prstGeom>
          <a:noFill/>
        </p:spPr>
        <p:txBody>
          <a:bodyPr wrap="square" rtlCol="0">
            <a:spAutoFit/>
          </a:bodyPr>
          <a:lstStyle/>
          <a:p>
            <a:pPr algn="ctr"/>
            <a:r>
              <a:rPr lang="fr-FR" sz="4000">
                <a:solidFill>
                  <a:schemeClr val="bg1"/>
                </a:solidFill>
              </a:rPr>
              <a:t>Introduction </a:t>
            </a:r>
            <a:r>
              <a:rPr lang="fr-FR" sz="4000" dirty="0">
                <a:solidFill>
                  <a:schemeClr val="bg1"/>
                </a:solidFill>
              </a:rPr>
              <a:t>aux différents profils d'emploi en technologie de l'information </a:t>
            </a:r>
            <a:endParaRPr lang="en-US" sz="4000" dirty="0">
              <a:solidFill>
                <a:schemeClr val="bg1"/>
              </a:solidFill>
            </a:endParaRPr>
          </a:p>
        </p:txBody>
      </p:sp>
    </p:spTree>
    <p:extLst>
      <p:ext uri="{BB962C8B-B14F-4D97-AF65-F5344CB8AC3E}">
        <p14:creationId xmlns:p14="http://schemas.microsoft.com/office/powerpoint/2010/main" val="3347570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A05F37F-29A1-344A-AF12-76A7B86069A3}"/>
              </a:ext>
            </a:extLst>
          </p:cNvPr>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60717" y="2846717"/>
            <a:ext cx="4658264" cy="646331"/>
          </a:xfrm>
          <a:prstGeom prst="rect">
            <a:avLst/>
          </a:prstGeom>
          <a:noFill/>
        </p:spPr>
        <p:txBody>
          <a:bodyPr wrap="square" rtlCol="0">
            <a:spAutoFit/>
          </a:bodyPr>
          <a:lstStyle/>
          <a:p>
            <a:r>
              <a:rPr lang="en-US" sz="3600" dirty="0">
                <a:solidFill>
                  <a:schemeClr val="bg1"/>
                </a:solidFill>
              </a:rPr>
              <a:t>Table des Matières</a:t>
            </a:r>
          </a:p>
        </p:txBody>
      </p:sp>
      <p:sp>
        <p:nvSpPr>
          <p:cNvPr id="4" name="TextBox 3"/>
          <p:cNvSpPr txBox="1"/>
          <p:nvPr/>
        </p:nvSpPr>
        <p:spPr>
          <a:xfrm>
            <a:off x="6090249" y="577970"/>
            <a:ext cx="5529532" cy="923330"/>
          </a:xfrm>
          <a:prstGeom prst="rect">
            <a:avLst/>
          </a:prstGeom>
          <a:noFill/>
        </p:spPr>
        <p:txBody>
          <a:bodyPr wrap="square" rtlCol="0">
            <a:spAutoFit/>
          </a:bodyPr>
          <a:lstStyle/>
          <a:p>
            <a:pPr>
              <a:buFont typeface="Arial" pitchFamily="34" charset="0"/>
              <a:buChar char="•"/>
            </a:pPr>
            <a:r>
              <a:rPr lang="en-US" dirty="0"/>
              <a:t> </a:t>
            </a:r>
            <a:r>
              <a:rPr lang="fr-FR" dirty="0"/>
              <a:t>Introduction à la technologie de l'information en tant qu'industrie </a:t>
            </a:r>
            <a:endParaRPr lang="en-US" dirty="0"/>
          </a:p>
          <a:p>
            <a:pPr>
              <a:buFont typeface="Arial" pitchFamily="34" charset="0"/>
              <a:buChar char="•"/>
            </a:pPr>
            <a:r>
              <a:rPr lang="en-US" dirty="0"/>
              <a:t> </a:t>
            </a:r>
            <a:r>
              <a:rPr lang="fr-FR" dirty="0"/>
              <a:t>Branches de la technologie de l'information </a:t>
            </a:r>
            <a:endParaRPr lang="en-US" dirty="0"/>
          </a:p>
        </p:txBody>
      </p:sp>
      <p:sp>
        <p:nvSpPr>
          <p:cNvPr id="6" name="TextBox 5"/>
          <p:cNvSpPr txBox="1"/>
          <p:nvPr/>
        </p:nvSpPr>
        <p:spPr>
          <a:xfrm>
            <a:off x="6090249" y="1886021"/>
            <a:ext cx="5529532" cy="1938992"/>
          </a:xfrm>
          <a:prstGeom prst="rect">
            <a:avLst/>
          </a:prstGeom>
          <a:noFill/>
        </p:spPr>
        <p:txBody>
          <a:bodyPr wrap="square" rtlCol="0">
            <a:spAutoFit/>
          </a:bodyPr>
          <a:lstStyle/>
          <a:p>
            <a:pPr>
              <a:buFont typeface="Arial" pitchFamily="34" charset="0"/>
              <a:buChar char="•"/>
            </a:pPr>
            <a:r>
              <a:rPr lang="en-US" sz="1200" b="1" dirty="0" err="1"/>
              <a:t>Logiciel</a:t>
            </a:r>
            <a:endParaRPr lang="en-US" sz="1200" b="1" dirty="0"/>
          </a:p>
          <a:p>
            <a:pPr lvl="1">
              <a:buFont typeface="Wingdings" pitchFamily="2" charset="2"/>
              <a:buChar char="q"/>
            </a:pPr>
            <a:r>
              <a:rPr lang="en-US" sz="1200" b="1" dirty="0"/>
              <a:t>Development</a:t>
            </a:r>
          </a:p>
          <a:p>
            <a:pPr lvl="2">
              <a:buFont typeface="Wingdings" pitchFamily="2" charset="2"/>
              <a:buChar char="§"/>
            </a:pPr>
            <a:r>
              <a:rPr lang="en-US" sz="1200" dirty="0" err="1">
                <a:hlinkClick r:id="rId3" action="ppaction://hlinksldjump"/>
              </a:rPr>
              <a:t>Ingénieur</a:t>
            </a:r>
            <a:r>
              <a:rPr lang="en-US" sz="1200" dirty="0">
                <a:hlinkClick r:id="rId3" action="ppaction://hlinksldjump"/>
              </a:rPr>
              <a:t> </a:t>
            </a:r>
            <a:r>
              <a:rPr lang="en-US" sz="1200" dirty="0" err="1">
                <a:hlinkClick r:id="rId3" action="ppaction://hlinksldjump"/>
              </a:rPr>
              <a:t>Développement</a:t>
            </a:r>
            <a:r>
              <a:rPr lang="en-US" sz="1200" dirty="0">
                <a:hlinkClick r:id="rId3" action="ppaction://hlinksldjump"/>
              </a:rPr>
              <a:t> Application/Web Developer</a:t>
            </a:r>
            <a:endParaRPr lang="en-US" sz="1200" dirty="0"/>
          </a:p>
          <a:p>
            <a:pPr lvl="2">
              <a:buFont typeface="Wingdings" pitchFamily="2" charset="2"/>
              <a:buChar char="§"/>
            </a:pPr>
            <a:r>
              <a:rPr lang="en-US" sz="1200" dirty="0" err="1"/>
              <a:t>Ingénieur</a:t>
            </a:r>
            <a:r>
              <a:rPr lang="en-US" sz="1200" dirty="0"/>
              <a:t> </a:t>
            </a:r>
            <a:r>
              <a:rPr lang="en-US" sz="1200" dirty="0" err="1"/>
              <a:t>Iot</a:t>
            </a:r>
            <a:r>
              <a:rPr lang="en-US" sz="1200" dirty="0"/>
              <a:t> (Internet Of Things)</a:t>
            </a:r>
          </a:p>
          <a:p>
            <a:pPr lvl="2">
              <a:buFont typeface="Wingdings" pitchFamily="2" charset="2"/>
              <a:buChar char="§"/>
            </a:pPr>
            <a:r>
              <a:rPr lang="en-US" sz="1200" dirty="0" err="1">
                <a:hlinkClick r:id="rId4" action="ppaction://hlinksldjump"/>
              </a:rPr>
              <a:t>Architecte</a:t>
            </a:r>
            <a:r>
              <a:rPr lang="en-US" sz="1200" dirty="0">
                <a:hlinkClick r:id="rId4" action="ppaction://hlinksldjump"/>
              </a:rPr>
              <a:t> Application</a:t>
            </a:r>
            <a:endParaRPr lang="en-US" sz="1200" dirty="0"/>
          </a:p>
          <a:p>
            <a:pPr lvl="2">
              <a:buFont typeface="Wingdings" pitchFamily="2" charset="2"/>
              <a:buChar char="§"/>
            </a:pPr>
            <a:r>
              <a:rPr lang="en-US" sz="1200" dirty="0" err="1">
                <a:hlinkClick r:id="rId5" action="ppaction://hlinksldjump"/>
              </a:rPr>
              <a:t>Ingénieur</a:t>
            </a:r>
            <a:r>
              <a:rPr lang="en-US" sz="1200" dirty="0">
                <a:hlinkClick r:id="rId5" action="ppaction://hlinksldjump"/>
              </a:rPr>
              <a:t> Data Analyst/Scientist</a:t>
            </a:r>
            <a:endParaRPr lang="en-US" sz="1200" dirty="0"/>
          </a:p>
          <a:p>
            <a:pPr lvl="2">
              <a:buFont typeface="Wingdings" pitchFamily="2" charset="2"/>
              <a:buChar char="§"/>
            </a:pPr>
            <a:r>
              <a:rPr lang="en-US" sz="1200" dirty="0" err="1">
                <a:hlinkClick r:id="rId6" action="ppaction://hlinksldjump"/>
              </a:rPr>
              <a:t>Ingénieur</a:t>
            </a:r>
            <a:r>
              <a:rPr lang="en-US" sz="1200" dirty="0">
                <a:hlinkClick r:id="rId6" action="ppaction://hlinksldjump"/>
              </a:rPr>
              <a:t> </a:t>
            </a:r>
            <a:r>
              <a:rPr lang="en-US" sz="1200" dirty="0" err="1">
                <a:hlinkClick r:id="rId6" action="ppaction://hlinksldjump"/>
              </a:rPr>
              <a:t>Testeur</a:t>
            </a:r>
            <a:endParaRPr lang="en-US" sz="1200" dirty="0"/>
          </a:p>
          <a:p>
            <a:pPr lvl="2">
              <a:buFont typeface="Wingdings" pitchFamily="2" charset="2"/>
              <a:buChar char="§"/>
            </a:pPr>
            <a:r>
              <a:rPr lang="en-US" sz="1200" dirty="0">
                <a:hlinkClick r:id="rId7" action="ppaction://hlinksldjump"/>
              </a:rPr>
              <a:t>Chef de </a:t>
            </a:r>
            <a:r>
              <a:rPr lang="en-US" sz="1200" dirty="0" err="1">
                <a:hlinkClick r:id="rId7" action="ppaction://hlinksldjump"/>
              </a:rPr>
              <a:t>projet</a:t>
            </a:r>
            <a:r>
              <a:rPr lang="en-US" sz="1200" dirty="0">
                <a:hlinkClick r:id="rId7" action="ppaction://hlinksldjump"/>
              </a:rPr>
              <a:t> Informatique</a:t>
            </a:r>
            <a:endParaRPr lang="en-US" sz="1200" dirty="0"/>
          </a:p>
          <a:p>
            <a:pPr lvl="2">
              <a:buFont typeface="Wingdings" pitchFamily="2" charset="2"/>
              <a:buChar char="§"/>
            </a:pPr>
            <a:endParaRPr lang="en-US" sz="1200" dirty="0"/>
          </a:p>
          <a:p>
            <a:pPr lvl="1">
              <a:buFont typeface="Arial" pitchFamily="34" charset="0"/>
              <a:buChar char="•"/>
            </a:pPr>
            <a:endParaRPr lang="en-US" sz="1200" dirty="0"/>
          </a:p>
        </p:txBody>
      </p:sp>
      <p:sp>
        <p:nvSpPr>
          <p:cNvPr id="7" name="TextBox 6"/>
          <p:cNvSpPr txBox="1"/>
          <p:nvPr/>
        </p:nvSpPr>
        <p:spPr>
          <a:xfrm>
            <a:off x="6090249" y="3640347"/>
            <a:ext cx="5727940" cy="1200329"/>
          </a:xfrm>
          <a:prstGeom prst="rect">
            <a:avLst/>
          </a:prstGeom>
          <a:noFill/>
        </p:spPr>
        <p:txBody>
          <a:bodyPr wrap="square" rtlCol="0">
            <a:spAutoFit/>
          </a:bodyPr>
          <a:lstStyle/>
          <a:p>
            <a:pPr lvl="1">
              <a:buFont typeface="Wingdings" pitchFamily="2" charset="2"/>
              <a:buChar char="q"/>
            </a:pPr>
            <a:r>
              <a:rPr lang="en-US" sz="1200" b="1" dirty="0"/>
              <a:t>Operations</a:t>
            </a:r>
          </a:p>
          <a:p>
            <a:pPr lvl="2">
              <a:buFont typeface="Wingdings" pitchFamily="2" charset="2"/>
              <a:buChar char="§"/>
            </a:pPr>
            <a:r>
              <a:rPr lang="en-US" sz="1200" dirty="0" err="1">
                <a:hlinkClick r:id="rId8" action="ppaction://hlinksldjump"/>
              </a:rPr>
              <a:t>Administrateur</a:t>
            </a:r>
            <a:r>
              <a:rPr lang="en-US" sz="1200" dirty="0">
                <a:hlinkClick r:id="rId8" action="ppaction://hlinksldjump"/>
              </a:rPr>
              <a:t> Base de </a:t>
            </a:r>
            <a:r>
              <a:rPr lang="en-US" sz="1200" dirty="0" err="1">
                <a:hlinkClick r:id="rId8" action="ppaction://hlinksldjump"/>
              </a:rPr>
              <a:t>Données</a:t>
            </a:r>
            <a:endParaRPr lang="en-US" sz="1200" dirty="0"/>
          </a:p>
          <a:p>
            <a:pPr lvl="2">
              <a:buFont typeface="Wingdings" pitchFamily="2" charset="2"/>
              <a:buChar char="§"/>
            </a:pPr>
            <a:r>
              <a:rPr lang="en-US" sz="1200" dirty="0" err="1">
                <a:hlinkClick r:id="rId9" action="ppaction://hlinksldjump"/>
              </a:rPr>
              <a:t>Ingénieur</a:t>
            </a:r>
            <a:r>
              <a:rPr lang="en-US" sz="1200" dirty="0">
                <a:hlinkClick r:id="rId9" action="ppaction://hlinksldjump"/>
              </a:rPr>
              <a:t> </a:t>
            </a:r>
            <a:r>
              <a:rPr lang="en-US" sz="1200" dirty="0" err="1">
                <a:hlinkClick r:id="rId9" action="ppaction://hlinksldjump"/>
              </a:rPr>
              <a:t>Réseau</a:t>
            </a:r>
            <a:endParaRPr lang="en-US" sz="1200" dirty="0"/>
          </a:p>
          <a:p>
            <a:pPr lvl="2">
              <a:buFont typeface="Wingdings" pitchFamily="2" charset="2"/>
              <a:buChar char="§"/>
            </a:pPr>
            <a:r>
              <a:rPr lang="en-US" sz="1200" dirty="0" err="1">
                <a:hlinkClick r:id="rId10" action="ppaction://hlinksldjump"/>
              </a:rPr>
              <a:t>Ingénieur</a:t>
            </a:r>
            <a:r>
              <a:rPr lang="en-US" sz="1200" dirty="0">
                <a:hlinkClick r:id="rId10" action="ppaction://hlinksldjump"/>
              </a:rPr>
              <a:t> </a:t>
            </a:r>
            <a:r>
              <a:rPr lang="en-US" sz="1200" dirty="0" err="1">
                <a:hlinkClick r:id="rId10" action="ppaction://hlinksldjump"/>
              </a:rPr>
              <a:t>Sécurité</a:t>
            </a:r>
            <a:endParaRPr lang="en-US" sz="1200" dirty="0"/>
          </a:p>
          <a:p>
            <a:pPr lvl="2">
              <a:buFont typeface="Wingdings" pitchFamily="2" charset="2"/>
              <a:buChar char="§"/>
            </a:pPr>
            <a:r>
              <a:rPr lang="en-US" sz="1200" dirty="0" err="1">
                <a:hlinkClick r:id="rId11" action="ppaction://hlinksldjump"/>
              </a:rPr>
              <a:t>Ingénieur</a:t>
            </a:r>
            <a:r>
              <a:rPr lang="en-US" sz="1200" dirty="0">
                <a:hlinkClick r:id="rId11" action="ppaction://hlinksldjump"/>
              </a:rPr>
              <a:t> Cloud</a:t>
            </a:r>
            <a:endParaRPr lang="en-US" sz="1200" dirty="0"/>
          </a:p>
          <a:p>
            <a:pPr lvl="2">
              <a:buFont typeface="Wingdings" pitchFamily="2" charset="2"/>
              <a:buChar char="§"/>
            </a:pPr>
            <a:r>
              <a:rPr lang="en-US" sz="1200" dirty="0" err="1">
                <a:hlinkClick r:id="rId12" action="ppaction://hlinksldjump"/>
              </a:rPr>
              <a:t>Ingénieur</a:t>
            </a:r>
            <a:r>
              <a:rPr lang="en-US" sz="1200" dirty="0">
                <a:hlinkClick r:id="rId12" action="ppaction://hlinksldjump"/>
              </a:rPr>
              <a:t> </a:t>
            </a:r>
            <a:r>
              <a:rPr lang="en-US" sz="1200" dirty="0" err="1">
                <a:hlinkClick r:id="rId12" action="ppaction://hlinksldjump"/>
              </a:rPr>
              <a:t>Système</a:t>
            </a:r>
            <a:endParaRPr lang="en-US" sz="1200" dirty="0"/>
          </a:p>
        </p:txBody>
      </p:sp>
      <p:sp>
        <p:nvSpPr>
          <p:cNvPr id="8" name="TextBox 7"/>
          <p:cNvSpPr txBox="1"/>
          <p:nvPr/>
        </p:nvSpPr>
        <p:spPr>
          <a:xfrm>
            <a:off x="6219645" y="5331125"/>
            <a:ext cx="5598544" cy="461665"/>
          </a:xfrm>
          <a:prstGeom prst="rect">
            <a:avLst/>
          </a:prstGeom>
          <a:noFill/>
        </p:spPr>
        <p:txBody>
          <a:bodyPr wrap="square" rtlCol="0">
            <a:spAutoFit/>
          </a:bodyPr>
          <a:lstStyle/>
          <a:p>
            <a:pPr lvl="1">
              <a:buFont typeface="Wingdings" pitchFamily="2" charset="2"/>
              <a:buChar char="q"/>
            </a:pPr>
            <a:r>
              <a:rPr lang="en-US" sz="1200" b="1" dirty="0" err="1"/>
              <a:t>DevOps</a:t>
            </a:r>
            <a:endParaRPr lang="en-US" sz="1200" b="1" dirty="0"/>
          </a:p>
          <a:p>
            <a:pPr lvl="2">
              <a:buFont typeface="Wingdings" pitchFamily="2" charset="2"/>
              <a:buChar char="§"/>
            </a:pPr>
            <a:r>
              <a:rPr lang="en-US" sz="1200" dirty="0" err="1">
                <a:hlinkClick r:id="rId13" action="ppaction://hlinksldjump"/>
              </a:rPr>
              <a:t>Ingénieur</a:t>
            </a:r>
            <a:r>
              <a:rPr lang="en-US" sz="1200" dirty="0">
                <a:hlinkClick r:id="rId13" action="ppaction://hlinksldjump"/>
              </a:rPr>
              <a:t> DevOps</a:t>
            </a:r>
            <a:endParaRPr lang="en-US" sz="1200" dirty="0"/>
          </a:p>
        </p:txBody>
      </p:sp>
    </p:spTree>
    <p:extLst>
      <p:ext uri="{BB962C8B-B14F-4D97-AF65-F5344CB8AC3E}">
        <p14:creationId xmlns:p14="http://schemas.microsoft.com/office/powerpoint/2010/main" val="41431787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7290758" cy="1325563"/>
          </a:xfrm>
        </p:spPr>
        <p:txBody>
          <a:bodyPr/>
          <a:lstStyle/>
          <a:p>
            <a:r>
              <a:rPr lang="en-US" dirty="0"/>
              <a:t>L’IT </a:t>
            </a:r>
            <a:r>
              <a:rPr lang="en-US" dirty="0" err="1"/>
              <a:t>en</a:t>
            </a:r>
            <a:r>
              <a:rPr lang="en-US" dirty="0"/>
              <a:t> tant </a:t>
            </a:r>
            <a:r>
              <a:rPr lang="en-US" dirty="0" err="1"/>
              <a:t>qu'industrie</a:t>
            </a:r>
            <a:r>
              <a:rPr lang="en-US" dirty="0"/>
              <a:t> </a:t>
            </a:r>
          </a:p>
        </p:txBody>
      </p:sp>
      <p:sp>
        <p:nvSpPr>
          <p:cNvPr id="6" name="Content Placeholder 5"/>
          <p:cNvSpPr>
            <a:spLocks noGrp="1"/>
          </p:cNvSpPr>
          <p:nvPr>
            <p:ph idx="1"/>
          </p:nvPr>
        </p:nvSpPr>
        <p:spPr>
          <a:xfrm>
            <a:off x="4063042" y="1825625"/>
            <a:ext cx="8128958" cy="4351338"/>
          </a:xfrm>
        </p:spPr>
        <p:txBody>
          <a:bodyPr>
            <a:normAutofit/>
          </a:bodyPr>
          <a:lstStyle/>
          <a:p>
            <a:r>
              <a:rPr lang="fr-FR" dirty="0"/>
              <a:t>Le secteur des technologies de l'information est un secteur d'activité qui travaille avec le calcul et les médias numériques, ainsi que le stockage.</a:t>
            </a:r>
          </a:p>
          <a:p>
            <a:pPr marL="0" indent="0">
              <a:buNone/>
            </a:pPr>
            <a:endParaRPr lang="fr-FR" dirty="0"/>
          </a:p>
          <a:p>
            <a:r>
              <a:rPr lang="fr-FR" dirty="0"/>
              <a:t>Il fournit des services et une assistance à divers produits informatiques, logiciels, applications et sites Web, maintenance, assistance pour les périphériques matériels, conseil, etc. </a:t>
            </a:r>
            <a:endParaRPr lang="en-US" dirty="0"/>
          </a:p>
          <a:p>
            <a:endParaRPr lang="en-US" dirty="0"/>
          </a:p>
        </p:txBody>
      </p:sp>
    </p:spTree>
    <p:extLst>
      <p:ext uri="{BB962C8B-B14F-4D97-AF65-F5344CB8AC3E}">
        <p14:creationId xmlns:p14="http://schemas.microsoft.com/office/powerpoint/2010/main" val="13984044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7290758" cy="1325563"/>
          </a:xfrm>
        </p:spPr>
        <p:txBody>
          <a:bodyPr/>
          <a:lstStyle/>
          <a:p>
            <a:r>
              <a:rPr lang="en-US" dirty="0"/>
              <a:t>Branches de </a:t>
            </a:r>
            <a:r>
              <a:rPr lang="en-US" dirty="0" err="1"/>
              <a:t>l’informatique</a:t>
            </a:r>
            <a:endParaRPr lang="en-US" dirty="0"/>
          </a:p>
        </p:txBody>
      </p:sp>
      <p:sp>
        <p:nvSpPr>
          <p:cNvPr id="6" name="Content Placeholder 5"/>
          <p:cNvSpPr>
            <a:spLocks noGrp="1"/>
          </p:cNvSpPr>
          <p:nvPr>
            <p:ph idx="1"/>
          </p:nvPr>
        </p:nvSpPr>
        <p:spPr>
          <a:xfrm>
            <a:off x="4063042" y="1825625"/>
            <a:ext cx="8128958" cy="4351338"/>
          </a:xfrm>
        </p:spPr>
        <p:txBody>
          <a:bodyPr>
            <a:normAutofit/>
          </a:bodyPr>
          <a:lstStyle/>
          <a:p>
            <a:r>
              <a:rPr lang="fr-FR" dirty="0"/>
              <a:t>L'industrie informatique et ses fonctions peuvent être divisées en deux grandes branches: </a:t>
            </a:r>
            <a:endParaRPr lang="en-US" dirty="0"/>
          </a:p>
          <a:p>
            <a:pPr marL="800100" lvl="1" indent="-342900">
              <a:buFont typeface="+mj-lt"/>
              <a:buAutoNum type="arabicPeriod"/>
            </a:pPr>
            <a:r>
              <a:rPr lang="en-US" sz="2800" dirty="0" err="1"/>
              <a:t>Logiciel</a:t>
            </a:r>
            <a:endParaRPr lang="en-US" sz="2800" dirty="0"/>
          </a:p>
          <a:p>
            <a:pPr marL="800100" lvl="1" indent="-342900">
              <a:buFont typeface="+mj-lt"/>
              <a:buAutoNum type="arabicPeriod"/>
            </a:pPr>
            <a:r>
              <a:rPr lang="en-US" sz="2800" dirty="0" err="1"/>
              <a:t>Matériel</a:t>
            </a:r>
            <a:endParaRPr lang="en-US" sz="2800" dirty="0"/>
          </a:p>
          <a:p>
            <a:pPr marL="457200" lvl="1" indent="0">
              <a:buNone/>
            </a:pPr>
            <a:endParaRPr lang="en-US" dirty="0"/>
          </a:p>
          <a:p>
            <a:r>
              <a:rPr lang="fr-FR" dirty="0"/>
              <a:t>Dans cette présentation, nous nous concentrons sur les principaux profils d'emploi dans l'industrie du </a:t>
            </a:r>
            <a:r>
              <a:rPr lang="fr-FR" b="1" dirty="0"/>
              <a:t>logiciel</a:t>
            </a:r>
            <a:r>
              <a:rPr lang="fr-FR" dirty="0"/>
              <a:t>. </a:t>
            </a:r>
            <a:endParaRPr lang="en-US" dirty="0"/>
          </a:p>
          <a:p>
            <a:endParaRPr lang="en-US" dirty="0"/>
          </a:p>
        </p:txBody>
      </p:sp>
    </p:spTree>
    <p:extLst>
      <p:ext uri="{BB962C8B-B14F-4D97-AF65-F5344CB8AC3E}">
        <p14:creationId xmlns:p14="http://schemas.microsoft.com/office/powerpoint/2010/main" val="1398404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1"/>
            <a:ext cx="7290758" cy="1325563"/>
          </a:xfrm>
        </p:spPr>
        <p:txBody>
          <a:bodyPr/>
          <a:lstStyle/>
          <a:p>
            <a:r>
              <a:rPr lang="en-US" dirty="0" err="1"/>
              <a:t>Industrie</a:t>
            </a:r>
            <a:r>
              <a:rPr lang="en-US" dirty="0"/>
              <a:t> du </a:t>
            </a:r>
            <a:r>
              <a:rPr lang="en-US" dirty="0" err="1"/>
              <a:t>Logiciel</a:t>
            </a:r>
            <a:endParaRPr lang="en-US" dirty="0"/>
          </a:p>
        </p:txBody>
      </p:sp>
      <p:pic>
        <p:nvPicPr>
          <p:cNvPr id="3075" name="Picture 3" descr="D:\IT presentatation\DevOps-Development-Operations-Gap-B.jpg"/>
          <p:cNvPicPr>
            <a:picLocks noChangeAspect="1" noChangeArrowheads="1"/>
          </p:cNvPicPr>
          <p:nvPr/>
        </p:nvPicPr>
        <p:blipFill rotWithShape="1">
          <a:blip r:embed="rId3"/>
          <a:srcRect b="11708"/>
          <a:stretch/>
        </p:blipFill>
        <p:spPr bwMode="auto">
          <a:xfrm>
            <a:off x="3683479" y="4467500"/>
            <a:ext cx="8508521" cy="2364377"/>
          </a:xfrm>
          <a:prstGeom prst="rect">
            <a:avLst/>
          </a:prstGeom>
          <a:noFill/>
        </p:spPr>
      </p:pic>
      <p:sp>
        <p:nvSpPr>
          <p:cNvPr id="7" name="Content Placeholder 5"/>
          <p:cNvSpPr txBox="1">
            <a:spLocks/>
          </p:cNvSpPr>
          <p:nvPr/>
        </p:nvSpPr>
        <p:spPr>
          <a:xfrm>
            <a:off x="4063042" y="1455525"/>
            <a:ext cx="8128958"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400" dirty="0"/>
              <a:t>Elle s'articule autour du cycle de vie complet d'une application / logiciel / site Web. De la conception au développement en passant par la production et la maintenance. </a:t>
            </a:r>
          </a:p>
          <a:p>
            <a:endParaRPr lang="fr-FR" sz="2400" dirty="0"/>
          </a:p>
          <a:p>
            <a:r>
              <a:rPr lang="en-US" sz="2400" dirty="0"/>
              <a:t> </a:t>
            </a:r>
            <a:r>
              <a:rPr lang="fr-FR" sz="2400" dirty="0"/>
              <a:t>L'ensemble de l'industrie du logiciel peut être divisé en deux domaines: </a:t>
            </a:r>
            <a:endParaRPr lang="en-US" sz="2400" dirty="0"/>
          </a:p>
          <a:p>
            <a:pPr marL="800100" lvl="1" indent="-342900">
              <a:buFont typeface="+mj-lt"/>
              <a:buAutoNum type="arabicPeriod"/>
            </a:pPr>
            <a:r>
              <a:rPr lang="en-US" dirty="0" err="1"/>
              <a:t>Développement</a:t>
            </a:r>
            <a:endParaRPr lang="en-US" dirty="0"/>
          </a:p>
          <a:p>
            <a:pPr marL="800100" lvl="1" indent="-342900">
              <a:buFont typeface="+mj-lt"/>
              <a:buAutoNum type="arabicPeriod"/>
            </a:pPr>
            <a:r>
              <a:rPr lang="en-US" dirty="0"/>
              <a:t>Operations</a:t>
            </a:r>
          </a:p>
          <a:p>
            <a:pPr marL="800100" lvl="1" indent="-342900">
              <a:buFont typeface="Arial" panose="020B0604020202020204" pitchFamily="34" charset="0"/>
              <a:buNone/>
            </a:pPr>
            <a:endParaRPr lang="en-US" sz="2000" dirty="0"/>
          </a:p>
          <a:p>
            <a:endParaRPr lang="en-US" sz="2400" dirty="0"/>
          </a:p>
        </p:txBody>
      </p:sp>
    </p:spTree>
    <p:extLst>
      <p:ext uri="{BB962C8B-B14F-4D97-AF65-F5344CB8AC3E}">
        <p14:creationId xmlns:p14="http://schemas.microsoft.com/office/powerpoint/2010/main" val="1398404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7290758" cy="1325563"/>
          </a:xfrm>
        </p:spPr>
        <p:txBody>
          <a:bodyPr/>
          <a:lstStyle/>
          <a:p>
            <a:pPr marL="742950" indent="-742950">
              <a:buFont typeface="+mj-lt"/>
              <a:buAutoNum type="arabicPeriod"/>
            </a:pPr>
            <a:r>
              <a:rPr lang="en-US" dirty="0" err="1">
                <a:solidFill>
                  <a:schemeClr val="accent1">
                    <a:lumMod val="50000"/>
                  </a:schemeClr>
                </a:solidFill>
                <a:effectLst>
                  <a:outerShdw blurRad="38100" dist="38100" dir="2700000" algn="tl">
                    <a:srgbClr val="000000">
                      <a:alpha val="43137"/>
                    </a:srgbClr>
                  </a:outerShdw>
                </a:effectLst>
              </a:rPr>
              <a:t>Développement</a:t>
            </a:r>
            <a:r>
              <a:rPr lang="en-US" dirty="0">
                <a:solidFill>
                  <a:schemeClr val="accent1">
                    <a:lumMod val="50000"/>
                  </a:schemeClr>
                </a:solidFill>
                <a:effectLst>
                  <a:outerShdw blurRad="38100" dist="38100" dir="2700000" algn="tl">
                    <a:srgbClr val="000000">
                      <a:alpha val="43137"/>
                    </a:srgbClr>
                  </a:outerShdw>
                </a:effectLst>
              </a:rPr>
              <a:t> </a:t>
            </a:r>
            <a:r>
              <a:rPr lang="en-US" dirty="0" err="1">
                <a:solidFill>
                  <a:schemeClr val="accent1">
                    <a:lumMod val="50000"/>
                  </a:schemeClr>
                </a:solidFill>
                <a:effectLst>
                  <a:outerShdw blurRad="38100" dist="38100" dir="2700000" algn="tl">
                    <a:srgbClr val="000000">
                      <a:alpha val="43137"/>
                    </a:srgbClr>
                  </a:outerShdw>
                </a:effectLst>
              </a:rPr>
              <a:t>Logiciel</a:t>
            </a:r>
            <a:endParaRPr lang="en-US" dirty="0">
              <a:solidFill>
                <a:schemeClr val="accent1">
                  <a:lumMod val="50000"/>
                </a:schemeClr>
              </a:solidFill>
              <a:effectLst>
                <a:outerShdw blurRad="38100" dist="38100" dir="2700000" algn="tl">
                  <a:srgbClr val="000000">
                    <a:alpha val="43137"/>
                  </a:srgbClr>
                </a:outerShdw>
              </a:effectLst>
            </a:endParaRPr>
          </a:p>
        </p:txBody>
      </p:sp>
      <p:sp>
        <p:nvSpPr>
          <p:cNvPr id="6" name="Content Placeholder 5"/>
          <p:cNvSpPr>
            <a:spLocks noGrp="1"/>
          </p:cNvSpPr>
          <p:nvPr>
            <p:ph idx="1"/>
          </p:nvPr>
        </p:nvSpPr>
        <p:spPr>
          <a:xfrm>
            <a:off x="4063042" y="1825625"/>
            <a:ext cx="8128958" cy="4351338"/>
          </a:xfrm>
        </p:spPr>
        <p:txBody>
          <a:bodyPr>
            <a:normAutofit/>
          </a:bodyPr>
          <a:lstStyle/>
          <a:p>
            <a:r>
              <a:rPr lang="fr-FR" dirty="0"/>
              <a:t>Le</a:t>
            </a:r>
            <a:r>
              <a:rPr lang="fr-FR" b="1" dirty="0"/>
              <a:t> développement </a:t>
            </a:r>
            <a:r>
              <a:rPr lang="fr-FR" dirty="0"/>
              <a:t>d'un logiciel a un cycle de vie qui se compose de 6 étapes majeures.</a:t>
            </a:r>
            <a:r>
              <a:rPr lang="fr-FR" b="1" dirty="0"/>
              <a:t> </a:t>
            </a:r>
          </a:p>
          <a:p>
            <a:endParaRPr lang="fr-FR" b="1" dirty="0"/>
          </a:p>
          <a:p>
            <a:r>
              <a:rPr lang="fr-FR" dirty="0"/>
              <a:t>Les principaux profils d'emplois en développement sont les suivants: </a:t>
            </a:r>
            <a:endParaRPr lang="en-US" dirty="0"/>
          </a:p>
          <a:p>
            <a:pPr lvl="1"/>
            <a:r>
              <a:rPr lang="en-US" dirty="0" err="1"/>
              <a:t>Développeurs</a:t>
            </a:r>
            <a:r>
              <a:rPr lang="en-US" dirty="0"/>
              <a:t> Application/web</a:t>
            </a:r>
          </a:p>
          <a:p>
            <a:pPr lvl="1"/>
            <a:r>
              <a:rPr lang="en-US" dirty="0"/>
              <a:t>Architect Application</a:t>
            </a:r>
          </a:p>
          <a:p>
            <a:pPr lvl="1"/>
            <a:r>
              <a:rPr lang="en-US" dirty="0"/>
              <a:t>Data Analyst/Scientist</a:t>
            </a:r>
          </a:p>
          <a:p>
            <a:pPr lvl="1"/>
            <a:r>
              <a:rPr lang="en-US" dirty="0"/>
              <a:t>Tests/Validation </a:t>
            </a:r>
            <a:r>
              <a:rPr lang="en-US" dirty="0" err="1"/>
              <a:t>logiciel</a:t>
            </a:r>
            <a:endParaRPr lang="en-US" dirty="0"/>
          </a:p>
          <a:p>
            <a:pPr marL="800100" lvl="1" indent="-342900">
              <a:buNone/>
            </a:pPr>
            <a:endParaRPr lang="en-US" dirty="0"/>
          </a:p>
          <a:p>
            <a:endParaRPr lang="en-US" dirty="0"/>
          </a:p>
        </p:txBody>
      </p:sp>
      <p:pic>
        <p:nvPicPr>
          <p:cNvPr id="7" name="Picture 2" descr="D:\IT presentatation\627x627-SftwareDev-Feature-HUSS.jpg"/>
          <p:cNvPicPr>
            <a:picLocks noChangeAspect="1" noChangeArrowheads="1"/>
          </p:cNvPicPr>
          <p:nvPr/>
        </p:nvPicPr>
        <p:blipFill>
          <a:blip r:embed="rId3"/>
          <a:srcRect/>
          <a:stretch>
            <a:fillRect/>
          </a:stretch>
        </p:blipFill>
        <p:spPr bwMode="auto">
          <a:xfrm>
            <a:off x="8769259" y="3706188"/>
            <a:ext cx="3039564" cy="3039564"/>
          </a:xfrm>
          <a:prstGeom prst="rect">
            <a:avLst/>
          </a:prstGeom>
          <a:noFill/>
        </p:spPr>
      </p:pic>
    </p:spTree>
    <p:extLst>
      <p:ext uri="{BB962C8B-B14F-4D97-AF65-F5344CB8AC3E}">
        <p14:creationId xmlns:p14="http://schemas.microsoft.com/office/powerpoint/2010/main" val="1398404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8128958" cy="1325563"/>
          </a:xfrm>
        </p:spPr>
        <p:txBody>
          <a:bodyPr>
            <a:normAutofit fontScale="90000"/>
          </a:bodyPr>
          <a:lstStyle/>
          <a:p>
            <a:r>
              <a:rPr lang="en-US" sz="3600" dirty="0" err="1"/>
              <a:t>Ingénieur</a:t>
            </a:r>
            <a:r>
              <a:rPr lang="en-US" sz="3600" dirty="0"/>
              <a:t> </a:t>
            </a:r>
            <a:r>
              <a:rPr lang="en-US" sz="3600" dirty="0" err="1"/>
              <a:t>Développeur</a:t>
            </a:r>
            <a:r>
              <a:rPr lang="en-US" sz="3600" dirty="0"/>
              <a:t> Application / Web</a:t>
            </a:r>
            <a:br>
              <a:rPr lang="en-US" sz="3600" dirty="0"/>
            </a:br>
            <a:br>
              <a:rPr lang="en-US" sz="3600" dirty="0"/>
            </a:br>
            <a:r>
              <a:rPr lang="en-US" sz="3100" i="1" dirty="0" err="1">
                <a:effectLst>
                  <a:outerShdw blurRad="38100" dist="38100" dir="2700000" algn="tl">
                    <a:srgbClr val="000000">
                      <a:alpha val="43137"/>
                    </a:srgbClr>
                  </a:outerShdw>
                </a:effectLst>
              </a:rPr>
              <a:t>Définition</a:t>
            </a:r>
            <a:r>
              <a:rPr lang="en-US" sz="3100" i="1" dirty="0">
                <a:effectLst>
                  <a:outerShdw blurRad="38100" dist="38100" dir="2700000" algn="tl">
                    <a:srgbClr val="000000">
                      <a:alpha val="43137"/>
                    </a:srgbClr>
                  </a:outerShdw>
                </a:effectLst>
              </a:rPr>
              <a:t> du </a:t>
            </a:r>
            <a:r>
              <a:rPr lang="en-US" sz="3100" i="1" dirty="0" err="1">
                <a:effectLst>
                  <a:outerShdw blurRad="38100" dist="38100" dir="2700000" algn="tl">
                    <a:srgbClr val="000000">
                      <a:alpha val="43137"/>
                    </a:srgbClr>
                  </a:outerShdw>
                </a:effectLst>
              </a:rPr>
              <a:t>rôle</a:t>
            </a:r>
            <a:r>
              <a:rPr lang="en-US" sz="3100" i="1" dirty="0">
                <a:effectLst>
                  <a:outerShdw blurRad="38100" dist="38100" dir="2700000" algn="tl">
                    <a:srgbClr val="000000">
                      <a:alpha val="43137"/>
                    </a:srgbClr>
                  </a:outerShdw>
                </a:effectLst>
              </a:rPr>
              <a:t> et des missions </a:t>
            </a:r>
          </a:p>
        </p:txBody>
      </p:sp>
      <p:sp>
        <p:nvSpPr>
          <p:cNvPr id="6" name="Content Placeholder 5"/>
          <p:cNvSpPr>
            <a:spLocks noGrp="1"/>
          </p:cNvSpPr>
          <p:nvPr>
            <p:ph idx="1"/>
          </p:nvPr>
        </p:nvSpPr>
        <p:spPr>
          <a:xfrm>
            <a:off x="4063042" y="1825625"/>
            <a:ext cx="8128958" cy="3517084"/>
          </a:xfrm>
        </p:spPr>
        <p:txBody>
          <a:bodyPr>
            <a:noAutofit/>
          </a:bodyPr>
          <a:lstStyle/>
          <a:p>
            <a:pPr>
              <a:lnSpc>
                <a:spcPct val="100000"/>
              </a:lnSpc>
              <a:spcBef>
                <a:spcPts val="0"/>
              </a:spcBef>
            </a:pPr>
            <a:r>
              <a:rPr lang="fr-FR" sz="1800" dirty="0"/>
              <a:t>Un développeur d'applications est une personne qui traduit les généralement dans un domaine de développement spécifique tel que les applications de téléphonie mobile, les logiciels de comptabilité, les suites bureautiques ou les logiciels graphiques, et aura une connaissance approfondie d'au moins un langage informatique. </a:t>
            </a:r>
          </a:p>
          <a:p>
            <a:pPr>
              <a:lnSpc>
                <a:spcPct val="100000"/>
              </a:lnSpc>
              <a:spcBef>
                <a:spcPts val="0"/>
              </a:spcBef>
            </a:pPr>
            <a:endParaRPr lang="en-US" sz="1800" dirty="0"/>
          </a:p>
          <a:p>
            <a:pPr>
              <a:lnSpc>
                <a:spcPct val="100000"/>
              </a:lnSpc>
              <a:spcBef>
                <a:spcPts val="0"/>
              </a:spcBef>
            </a:pPr>
            <a:r>
              <a:rPr lang="fr-FR" sz="1800" dirty="0"/>
              <a:t>Un développeur d'applications peut écrire des applications, ou des applications, exigences logicielles en code de programmation exploitable et qui gère et développe des programmes pour les entreprises. </a:t>
            </a:r>
          </a:p>
          <a:p>
            <a:pPr>
              <a:lnSpc>
                <a:spcPct val="100000"/>
              </a:lnSpc>
              <a:spcBef>
                <a:spcPts val="0"/>
              </a:spcBef>
            </a:pPr>
            <a:endParaRPr lang="fr-FR" sz="1800" dirty="0"/>
          </a:p>
          <a:p>
            <a:pPr>
              <a:lnSpc>
                <a:spcPct val="100000"/>
              </a:lnSpc>
              <a:spcBef>
                <a:spcPts val="0"/>
              </a:spcBef>
            </a:pPr>
            <a:r>
              <a:rPr lang="fr-FR" sz="1800" dirty="0"/>
              <a:t>Un développeur travaille pour: </a:t>
            </a:r>
          </a:p>
          <a:p>
            <a:pPr lvl="2">
              <a:lnSpc>
                <a:spcPct val="100000"/>
              </a:lnSpc>
              <a:spcBef>
                <a:spcPts val="0"/>
              </a:spcBef>
              <a:buFont typeface="Courier New" panose="02070309020205020404" pitchFamily="49" charset="0"/>
              <a:buChar char="o"/>
            </a:pPr>
            <a:r>
              <a:rPr lang="fr-FR" sz="1600" dirty="0"/>
              <a:t>Un système particulier, tel que Windows, Linux ou Android</a:t>
            </a:r>
          </a:p>
          <a:p>
            <a:pPr lvl="2">
              <a:lnSpc>
                <a:spcPct val="100000"/>
              </a:lnSpc>
              <a:spcBef>
                <a:spcPts val="0"/>
              </a:spcBef>
              <a:buFont typeface="Courier New" panose="02070309020205020404" pitchFamily="49" charset="0"/>
              <a:buChar char="o"/>
            </a:pPr>
            <a:r>
              <a:rPr lang="fr-FR" sz="1800" dirty="0"/>
              <a:t>Sur de nombreuses plates-formes, y compris les ordinateurs et les appareils mobiles </a:t>
            </a:r>
            <a:r>
              <a:rPr lang="en-US" sz="1800" dirty="0"/>
              <a:t>.</a:t>
            </a:r>
          </a:p>
          <a:p>
            <a:pPr marL="914400" lvl="2" indent="0">
              <a:lnSpc>
                <a:spcPct val="100000"/>
              </a:lnSpc>
              <a:spcBef>
                <a:spcPts val="0"/>
              </a:spcBef>
              <a:buNone/>
            </a:pPr>
            <a:endParaRPr lang="en-US" sz="1800" dirty="0"/>
          </a:p>
          <a:p>
            <a:pPr>
              <a:lnSpc>
                <a:spcPct val="100000"/>
              </a:lnSpc>
              <a:spcBef>
                <a:spcPts val="0"/>
              </a:spcBef>
            </a:pPr>
            <a:r>
              <a:rPr lang="fr-FR" sz="1800" dirty="0"/>
              <a:t>Un développeur Web, en revanche, créera des applications et des services fiables et hautement performants, destinés à un utilisation sur internet.</a:t>
            </a:r>
            <a:endParaRPr lang="en-US" sz="1800" dirty="0"/>
          </a:p>
          <a:p>
            <a:pPr marL="800100" lvl="1" indent="-342900">
              <a:lnSpc>
                <a:spcPct val="100000"/>
              </a:lnSpc>
              <a:spcBef>
                <a:spcPts val="0"/>
              </a:spcBef>
              <a:buNone/>
            </a:pPr>
            <a:endParaRPr lang="en-US" sz="1800" dirty="0"/>
          </a:p>
          <a:p>
            <a:pPr>
              <a:lnSpc>
                <a:spcPct val="100000"/>
              </a:lnSpc>
              <a:spcBef>
                <a:spcPts val="0"/>
              </a:spcBef>
            </a:pPr>
            <a:endParaRPr lang="en-US" sz="1800" dirty="0"/>
          </a:p>
        </p:txBody>
      </p:sp>
      <p:sp>
        <p:nvSpPr>
          <p:cNvPr id="2" name="ZoneTexte 1"/>
          <p:cNvSpPr txBox="1"/>
          <p:nvPr/>
        </p:nvSpPr>
        <p:spPr>
          <a:xfrm>
            <a:off x="397394" y="1367522"/>
            <a:ext cx="2490950" cy="707886"/>
          </a:xfrm>
          <a:prstGeom prst="rect">
            <a:avLst/>
          </a:prstGeom>
          <a:noFill/>
        </p:spPr>
        <p:txBody>
          <a:bodyPr wrap="square" rtlCol="0">
            <a:spAutoFit/>
          </a:bodyPr>
          <a:lstStyle/>
          <a:p>
            <a:pPr algn="ctr"/>
            <a:r>
              <a:rPr lang="fr-FR" sz="2000" dirty="0">
                <a:solidFill>
                  <a:schemeClr val="bg1"/>
                </a:solidFill>
              </a:rPr>
              <a:t>1- Développement logiciel</a:t>
            </a:r>
          </a:p>
        </p:txBody>
      </p:sp>
    </p:spTree>
    <p:extLst>
      <p:ext uri="{BB962C8B-B14F-4D97-AF65-F5344CB8AC3E}">
        <p14:creationId xmlns:p14="http://schemas.microsoft.com/office/powerpoint/2010/main" val="1398404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4063042" y="1915886"/>
            <a:ext cx="8128958" cy="4775200"/>
          </a:xfrm>
        </p:spPr>
        <p:txBody>
          <a:bodyPr>
            <a:noAutofit/>
          </a:bodyPr>
          <a:lstStyle/>
          <a:p>
            <a:r>
              <a:rPr lang="fr-FR" sz="1800" dirty="0"/>
              <a:t>Analyser les besoins du client spécifiés par la maîtrise d’ouvrage et les traduire en cahier des charges techniques.</a:t>
            </a:r>
          </a:p>
          <a:p>
            <a:r>
              <a:rPr lang="fr-FR" sz="1800" dirty="0"/>
              <a:t>Ecrire les spécifications techniques générales et détaillées en envisageant les problèmes éventuels et les évolutions.</a:t>
            </a:r>
          </a:p>
          <a:p>
            <a:r>
              <a:rPr lang="fr-FR" sz="1800" dirty="0"/>
              <a:t>Rédiger les lignes de codes nécessaires à la création d’un produit web, pouvant contenir du texte, des images, de la vidéo et/ou du son.</a:t>
            </a:r>
          </a:p>
          <a:p>
            <a:r>
              <a:rPr lang="fr-FR" sz="1800" dirty="0"/>
              <a:t>Appliquer les règles de navigation, créer des liens entre les pages.</a:t>
            </a:r>
          </a:p>
          <a:p>
            <a:r>
              <a:rPr lang="fr-FR" sz="1800" dirty="0"/>
              <a:t>Développer les interfaces.</a:t>
            </a:r>
          </a:p>
          <a:p>
            <a:r>
              <a:rPr lang="fr-FR" sz="1800" dirty="0"/>
              <a:t>Corriger et optimiser les fonctionnalités (qualité, charte graphique, ergonomie...).</a:t>
            </a:r>
          </a:p>
          <a:p>
            <a:r>
              <a:rPr lang="fr-FR" sz="1800" dirty="0"/>
              <a:t>Documenter les applications pour les développements ultérieurs et la mise en production.</a:t>
            </a:r>
          </a:p>
          <a:p>
            <a:r>
              <a:rPr lang="fr-FR" sz="1800" dirty="0"/>
              <a:t>Préparer et réaliser les tests unitaires.</a:t>
            </a:r>
          </a:p>
          <a:p>
            <a:r>
              <a:rPr lang="fr-FR" sz="1800" dirty="0"/>
              <a:t>Apporter les correctifs nécessaires suite à ces tests ou aux tests fonctionnels réalisés par les utilisateurs ou la maîtrise d’ouvrage.</a:t>
            </a:r>
          </a:p>
          <a:p>
            <a:pPr>
              <a:lnSpc>
                <a:spcPct val="150000"/>
              </a:lnSpc>
            </a:pPr>
            <a:endParaRPr lang="fr-FR" sz="1600" dirty="0"/>
          </a:p>
          <a:p>
            <a:pPr>
              <a:lnSpc>
                <a:spcPct val="150000"/>
              </a:lnSpc>
            </a:pPr>
            <a:endParaRPr lang="en-US" sz="800" dirty="0"/>
          </a:p>
        </p:txBody>
      </p:sp>
      <p:sp>
        <p:nvSpPr>
          <p:cNvPr id="7" name="ZoneTexte 6"/>
          <p:cNvSpPr txBox="1"/>
          <p:nvPr/>
        </p:nvSpPr>
        <p:spPr>
          <a:xfrm>
            <a:off x="397394" y="1367522"/>
            <a:ext cx="2490950" cy="707886"/>
          </a:xfrm>
          <a:prstGeom prst="rect">
            <a:avLst/>
          </a:prstGeom>
          <a:noFill/>
        </p:spPr>
        <p:txBody>
          <a:bodyPr wrap="square" rtlCol="0">
            <a:spAutoFit/>
          </a:bodyPr>
          <a:lstStyle/>
          <a:p>
            <a:pPr algn="ctr"/>
            <a:r>
              <a:rPr lang="fr-FR" sz="2000" dirty="0">
                <a:solidFill>
                  <a:schemeClr val="bg1"/>
                </a:solidFill>
              </a:rPr>
              <a:t>1- Développement logiciel</a:t>
            </a:r>
          </a:p>
        </p:txBody>
      </p:sp>
      <p:sp>
        <p:nvSpPr>
          <p:cNvPr id="9" name="Title 3"/>
          <p:cNvSpPr>
            <a:spLocks noGrp="1"/>
          </p:cNvSpPr>
          <p:nvPr>
            <p:ph type="title"/>
          </p:nvPr>
        </p:nvSpPr>
        <p:spPr>
          <a:xfrm>
            <a:off x="4063042" y="365125"/>
            <a:ext cx="8128958" cy="1325563"/>
          </a:xfrm>
        </p:spPr>
        <p:txBody>
          <a:bodyPr>
            <a:normAutofit fontScale="90000"/>
          </a:bodyPr>
          <a:lstStyle/>
          <a:p>
            <a:r>
              <a:rPr lang="en-US" sz="3600" dirty="0" err="1"/>
              <a:t>Ingénieur</a:t>
            </a:r>
            <a:r>
              <a:rPr lang="en-US" sz="3600" dirty="0"/>
              <a:t> </a:t>
            </a:r>
            <a:r>
              <a:rPr lang="en-US" sz="3600" dirty="0" err="1"/>
              <a:t>Développeur</a:t>
            </a:r>
            <a:r>
              <a:rPr lang="en-US" sz="3600" dirty="0"/>
              <a:t> Application / Web</a:t>
            </a:r>
            <a:br>
              <a:rPr lang="en-US" sz="3600" dirty="0"/>
            </a:br>
            <a:br>
              <a:rPr lang="en-US" sz="3600" dirty="0"/>
            </a:br>
            <a:r>
              <a:rPr lang="en-US" sz="3100" i="1" dirty="0" err="1">
                <a:effectLst>
                  <a:outerShdw blurRad="38100" dist="38100" dir="2700000" algn="tl">
                    <a:srgbClr val="000000">
                      <a:alpha val="43137"/>
                    </a:srgbClr>
                  </a:outerShdw>
                </a:effectLst>
              </a:rPr>
              <a:t>Définition</a:t>
            </a:r>
            <a:r>
              <a:rPr lang="en-US" sz="3100" i="1" dirty="0">
                <a:effectLst>
                  <a:outerShdw blurRad="38100" dist="38100" dir="2700000" algn="tl">
                    <a:srgbClr val="000000">
                      <a:alpha val="43137"/>
                    </a:srgbClr>
                  </a:outerShdw>
                </a:effectLst>
              </a:rPr>
              <a:t> du </a:t>
            </a:r>
            <a:r>
              <a:rPr lang="en-US" sz="3100" i="1" dirty="0" err="1">
                <a:effectLst>
                  <a:outerShdw blurRad="38100" dist="38100" dir="2700000" algn="tl">
                    <a:srgbClr val="000000">
                      <a:alpha val="43137"/>
                    </a:srgbClr>
                  </a:outerShdw>
                </a:effectLst>
              </a:rPr>
              <a:t>rôle</a:t>
            </a:r>
            <a:r>
              <a:rPr lang="en-US" sz="3100" i="1" dirty="0">
                <a:effectLst>
                  <a:outerShdw blurRad="38100" dist="38100" dir="2700000" algn="tl">
                    <a:srgbClr val="000000">
                      <a:alpha val="43137"/>
                    </a:srgbClr>
                  </a:outerShdw>
                </a:effectLst>
              </a:rPr>
              <a:t> et des missions (suite)</a:t>
            </a:r>
          </a:p>
        </p:txBody>
      </p:sp>
    </p:spTree>
    <p:extLst>
      <p:ext uri="{BB962C8B-B14F-4D97-AF65-F5344CB8AC3E}">
        <p14:creationId xmlns:p14="http://schemas.microsoft.com/office/powerpoint/2010/main" val="13984044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3917898" y="1930400"/>
            <a:ext cx="8274101" cy="4601028"/>
          </a:xfrm>
        </p:spPr>
        <p:txBody>
          <a:bodyPr>
            <a:noAutofit/>
          </a:bodyPr>
          <a:lstStyle/>
          <a:p>
            <a:r>
              <a:rPr lang="fr-FR" sz="1600" dirty="0"/>
              <a:t>Forte motivation pour l’informatique et pour l’apprentissage de nouveaux langages et systèmes</a:t>
            </a:r>
          </a:p>
          <a:p>
            <a:r>
              <a:rPr lang="fr-FR" sz="1600" dirty="0"/>
              <a:t>Souplesse pour répondre aux demandes des clients tout en respectant les normes de développement.</a:t>
            </a:r>
          </a:p>
          <a:p>
            <a:r>
              <a:rPr lang="fr-FR" sz="1600" dirty="0"/>
              <a:t>Rapidité d'exécution pour rendre les livrables dans les délais impartis</a:t>
            </a:r>
          </a:p>
          <a:p>
            <a:r>
              <a:rPr lang="fr-FR" sz="1600" dirty="0"/>
              <a:t>Facilité à s'adapter à de nouveaux langages et de nouvelles méthodes de développement</a:t>
            </a:r>
          </a:p>
          <a:p>
            <a:r>
              <a:rPr lang="fr-FR" sz="1600" dirty="0"/>
              <a:t>Polyvalence, créativité pour identifier les solutions techniques appropriées</a:t>
            </a:r>
          </a:p>
          <a:p>
            <a:r>
              <a:rPr lang="fr-FR" sz="1600" dirty="0"/>
              <a:t>Bonnes qualités relationnelles (écoute et expression) permettant de communiquer efficacement avec les utilisateurs</a:t>
            </a:r>
          </a:p>
          <a:p>
            <a:r>
              <a:rPr lang="fr-FR" sz="1600" dirty="0"/>
              <a:t>Ouverture d’esprit, compte tenu de la variété des problématiques clients et technologiques</a:t>
            </a:r>
          </a:p>
          <a:p>
            <a:r>
              <a:rPr lang="fr-FR" sz="1600" dirty="0"/>
              <a:t>Capacité à travailler en équipe. Connaissance des protocoles Agiles.</a:t>
            </a:r>
          </a:p>
          <a:p>
            <a:r>
              <a:rPr lang="fr-FR" sz="1600" dirty="0"/>
              <a:t>Autonomie : l’ingénieur développement est souvent amené à exercer son activité en dehors de son entreprise, il lui faut donc faire preuve d’autonomie une fois placé chez un client car il ne dispose pas toujours d’un support</a:t>
            </a:r>
          </a:p>
          <a:p>
            <a:r>
              <a:rPr lang="fr-FR" sz="1600" dirty="0"/>
              <a:t>Forte motivation afin de pouvoir s’impliquer dans des projets souvent lourds et longs</a:t>
            </a:r>
            <a:endParaRPr lang="en-US" sz="800" dirty="0"/>
          </a:p>
        </p:txBody>
      </p:sp>
      <p:sp>
        <p:nvSpPr>
          <p:cNvPr id="8" name="Title 3"/>
          <p:cNvSpPr txBox="1">
            <a:spLocks/>
          </p:cNvSpPr>
          <p:nvPr/>
        </p:nvSpPr>
        <p:spPr>
          <a:xfrm>
            <a:off x="4063042" y="365125"/>
            <a:ext cx="8128958"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Ingénieur</a:t>
            </a:r>
            <a:r>
              <a:rPr lang="en-US" sz="3600" dirty="0"/>
              <a:t> </a:t>
            </a:r>
            <a:r>
              <a:rPr lang="en-US" sz="3600" dirty="0" err="1"/>
              <a:t>Développeur</a:t>
            </a:r>
            <a:r>
              <a:rPr lang="en-US" sz="3600" dirty="0"/>
              <a:t> Application / Web</a:t>
            </a:r>
            <a:br>
              <a:rPr lang="en-US" sz="3600" dirty="0"/>
            </a:br>
            <a:br>
              <a:rPr lang="en-US" sz="3600" dirty="0"/>
            </a:br>
            <a:r>
              <a:rPr lang="en-US" sz="3100" i="1" dirty="0" err="1">
                <a:effectLst>
                  <a:outerShdw blurRad="38100" dist="38100" dir="2700000" algn="tl">
                    <a:srgbClr val="000000">
                      <a:alpha val="43137"/>
                    </a:srgbClr>
                  </a:outerShdw>
                </a:effectLst>
              </a:rPr>
              <a:t>Compétences</a:t>
            </a:r>
            <a:r>
              <a:rPr lang="en-US" sz="3100" i="1" dirty="0">
                <a:effectLst>
                  <a:outerShdw blurRad="38100" dist="38100" dir="2700000" algn="tl">
                    <a:srgbClr val="000000">
                      <a:alpha val="43137"/>
                    </a:srgbClr>
                  </a:outerShdw>
                </a:effectLst>
              </a:rPr>
              <a:t> </a:t>
            </a:r>
            <a:r>
              <a:rPr lang="en-US" sz="3100" i="1" dirty="0" err="1">
                <a:effectLst>
                  <a:outerShdw blurRad="38100" dist="38100" dir="2700000" algn="tl">
                    <a:srgbClr val="000000">
                      <a:alpha val="43137"/>
                    </a:srgbClr>
                  </a:outerShdw>
                </a:effectLst>
              </a:rPr>
              <a:t>comportementales</a:t>
            </a:r>
            <a:r>
              <a:rPr lang="en-US" sz="3100" i="1" dirty="0">
                <a:effectLst>
                  <a:outerShdw blurRad="38100" dist="38100" dir="2700000" algn="tl">
                    <a:srgbClr val="000000">
                      <a:alpha val="43137"/>
                    </a:srgbClr>
                  </a:outerShdw>
                </a:effectLst>
              </a:rPr>
              <a:t> </a:t>
            </a:r>
            <a:r>
              <a:rPr lang="en-US" sz="3100" i="1" dirty="0" err="1">
                <a:effectLst>
                  <a:outerShdw blurRad="38100" dist="38100" dir="2700000" algn="tl">
                    <a:srgbClr val="000000">
                      <a:alpha val="43137"/>
                    </a:srgbClr>
                  </a:outerShdw>
                </a:effectLst>
              </a:rPr>
              <a:t>génériques</a:t>
            </a:r>
            <a:endParaRPr lang="en-US" sz="3100" i="1" dirty="0">
              <a:effectLst>
                <a:outerShdw blurRad="38100" dist="38100" dir="2700000" algn="tl">
                  <a:srgbClr val="000000">
                    <a:alpha val="43137"/>
                  </a:srgbClr>
                </a:outerShdw>
              </a:effectLst>
            </a:endParaRPr>
          </a:p>
        </p:txBody>
      </p:sp>
      <p:sp>
        <p:nvSpPr>
          <p:cNvPr id="9" name="ZoneTexte 8"/>
          <p:cNvSpPr txBox="1"/>
          <p:nvPr/>
        </p:nvSpPr>
        <p:spPr>
          <a:xfrm>
            <a:off x="397394" y="1367522"/>
            <a:ext cx="2490950" cy="707886"/>
          </a:xfrm>
          <a:prstGeom prst="rect">
            <a:avLst/>
          </a:prstGeom>
          <a:noFill/>
        </p:spPr>
        <p:txBody>
          <a:bodyPr wrap="square" rtlCol="0">
            <a:spAutoFit/>
          </a:bodyPr>
          <a:lstStyle/>
          <a:p>
            <a:pPr algn="ctr"/>
            <a:r>
              <a:rPr lang="fr-FR" sz="2000" dirty="0">
                <a:solidFill>
                  <a:schemeClr val="bg1"/>
                </a:solidFill>
              </a:rPr>
              <a:t>1- Développement logiciel</a:t>
            </a:r>
          </a:p>
        </p:txBody>
      </p:sp>
    </p:spTree>
    <p:extLst>
      <p:ext uri="{BB962C8B-B14F-4D97-AF65-F5344CB8AC3E}">
        <p14:creationId xmlns:p14="http://schemas.microsoft.com/office/powerpoint/2010/main" val="13984044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3889829" y="2055813"/>
            <a:ext cx="8302171" cy="4802188"/>
          </a:xfrm>
        </p:spPr>
        <p:txBody>
          <a:bodyPr>
            <a:noAutofit/>
          </a:bodyPr>
          <a:lstStyle/>
          <a:p>
            <a:r>
              <a:rPr lang="fr-FR" sz="1800" dirty="0"/>
              <a:t>Maîtrise des méthodes et outils de développement (UML, Merise, Rational Rose, méthodes agiles, méthodologies objet…)</a:t>
            </a:r>
          </a:p>
          <a:p>
            <a:r>
              <a:rPr lang="fr-FR" sz="1800" dirty="0"/>
              <a:t>Environnement de développement (ex : technologie objet, </a:t>
            </a:r>
            <a:r>
              <a:rPr lang="fr-FR" sz="1800" dirty="0" err="1"/>
              <a:t>NETPlateforme</a:t>
            </a:r>
            <a:r>
              <a:rPr lang="fr-FR" sz="1800" dirty="0"/>
              <a:t> de développement : J2EE...)</a:t>
            </a:r>
          </a:p>
          <a:p>
            <a:r>
              <a:rPr lang="fr-FR" sz="1800" dirty="0"/>
              <a:t>Connaissance des </a:t>
            </a:r>
            <a:r>
              <a:rPr lang="fr-FR" sz="1800" dirty="0" err="1"/>
              <a:t>framework</a:t>
            </a:r>
            <a:endParaRPr lang="fr-FR" sz="1800" dirty="0"/>
          </a:p>
          <a:p>
            <a:r>
              <a:rPr lang="fr-FR" sz="1800" dirty="0"/>
              <a:t>Connaissance de plusieurs langages de programmation (C,C#, javascript, C++, COBOL, Visual C++, Assembleur…), ainsi que de certains systèmes d’exploitation (Windows, Unix, Linux…) ou d’OS (operating system) temps réel (QNX, </a:t>
            </a:r>
            <a:r>
              <a:rPr lang="fr-FR" sz="1800" dirty="0" err="1"/>
              <a:t>eCos</a:t>
            </a:r>
            <a:r>
              <a:rPr lang="fr-FR" sz="1800" dirty="0"/>
              <a:t>, </a:t>
            </a:r>
            <a:r>
              <a:rPr lang="fr-FR" sz="1800" dirty="0" err="1"/>
              <a:t>VxWorks</a:t>
            </a:r>
            <a:r>
              <a:rPr lang="fr-FR" sz="1800" dirty="0"/>
              <a:t>...)</a:t>
            </a:r>
          </a:p>
          <a:p>
            <a:r>
              <a:rPr lang="fr-FR" sz="1800" dirty="0"/>
              <a:t>Bonne connaissance des normes et procédures de sécurité</a:t>
            </a:r>
          </a:p>
          <a:p>
            <a:r>
              <a:rPr lang="fr-FR" sz="1800" dirty="0"/>
              <a:t>Compréhension de l’environnement et du fonctionnement de l’entreprise</a:t>
            </a:r>
          </a:p>
          <a:p>
            <a:r>
              <a:rPr lang="fr-FR" sz="1800" dirty="0"/>
              <a:t>Une bonne maîtrise de l’anglais technique peut être suffisante mais un bon niveau en anglais est un atout majeur pour comprendre les documentations techniques et/ou se voir confier des missions en environnement international</a:t>
            </a:r>
            <a:endParaRPr lang="en-US" sz="900" dirty="0"/>
          </a:p>
        </p:txBody>
      </p:sp>
      <p:sp>
        <p:nvSpPr>
          <p:cNvPr id="7" name="ZoneTexte 6"/>
          <p:cNvSpPr txBox="1"/>
          <p:nvPr/>
        </p:nvSpPr>
        <p:spPr>
          <a:xfrm>
            <a:off x="397394" y="1367522"/>
            <a:ext cx="2490950" cy="707886"/>
          </a:xfrm>
          <a:prstGeom prst="rect">
            <a:avLst/>
          </a:prstGeom>
          <a:noFill/>
        </p:spPr>
        <p:txBody>
          <a:bodyPr wrap="square" rtlCol="0">
            <a:spAutoFit/>
          </a:bodyPr>
          <a:lstStyle/>
          <a:p>
            <a:pPr algn="ctr"/>
            <a:r>
              <a:rPr lang="fr-FR" sz="2000" dirty="0">
                <a:solidFill>
                  <a:schemeClr val="bg1"/>
                </a:solidFill>
              </a:rPr>
              <a:t>1- Développement logiciel</a:t>
            </a:r>
          </a:p>
        </p:txBody>
      </p:sp>
      <p:sp>
        <p:nvSpPr>
          <p:cNvPr id="8" name="Title 3"/>
          <p:cNvSpPr txBox="1">
            <a:spLocks/>
          </p:cNvSpPr>
          <p:nvPr/>
        </p:nvSpPr>
        <p:spPr>
          <a:xfrm>
            <a:off x="4063042" y="365125"/>
            <a:ext cx="8128958" cy="1325563"/>
          </a:xfrm>
          <a:prstGeom prst="rect">
            <a:avLst/>
          </a:prstGeom>
        </p:spPr>
        <p:txBody>
          <a:bodyPr vert="horz" lIns="91440" tIns="45720" rIns="91440" bIns="45720" rtlCol="0" anchor="ctr">
            <a:normAutofit fontScale="8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Ingénieur</a:t>
            </a:r>
            <a:r>
              <a:rPr lang="en-US" sz="3600" dirty="0"/>
              <a:t> </a:t>
            </a:r>
            <a:r>
              <a:rPr lang="en-US" sz="3600" dirty="0" err="1"/>
              <a:t>Développeur</a:t>
            </a:r>
            <a:r>
              <a:rPr lang="en-US" sz="3600" dirty="0"/>
              <a:t> Application / Web</a:t>
            </a:r>
            <a:br>
              <a:rPr lang="en-US" sz="3600" dirty="0"/>
            </a:br>
            <a:br>
              <a:rPr lang="en-US" sz="3600" dirty="0"/>
            </a:br>
            <a:r>
              <a:rPr lang="en-US" sz="3100" i="1" dirty="0" err="1">
                <a:effectLst>
                  <a:outerShdw blurRad="38100" dist="38100" dir="2700000" algn="tl">
                    <a:srgbClr val="000000">
                      <a:alpha val="43137"/>
                    </a:srgbClr>
                  </a:outerShdw>
                </a:effectLst>
              </a:rPr>
              <a:t>Compétences</a:t>
            </a:r>
            <a:r>
              <a:rPr lang="en-US" sz="3100" i="1" dirty="0">
                <a:effectLst>
                  <a:outerShdw blurRad="38100" dist="38100" dir="2700000" algn="tl">
                    <a:srgbClr val="000000">
                      <a:alpha val="43137"/>
                    </a:srgbClr>
                  </a:outerShdw>
                </a:effectLst>
              </a:rPr>
              <a:t> techniques </a:t>
            </a:r>
            <a:r>
              <a:rPr lang="en-US" sz="3100" i="1" dirty="0" err="1">
                <a:effectLst>
                  <a:outerShdw blurRad="38100" dist="38100" dir="2700000" algn="tl">
                    <a:srgbClr val="000000">
                      <a:alpha val="43137"/>
                    </a:srgbClr>
                  </a:outerShdw>
                </a:effectLst>
              </a:rPr>
              <a:t>spécif</a:t>
            </a:r>
            <a:r>
              <a:rPr lang="en-US" sz="3100" i="1" dirty="0">
                <a:effectLst>
                  <a:outerShdw blurRad="38100" dist="38100" dir="2700000" algn="tl">
                    <a:srgbClr val="000000">
                      <a:alpha val="43137"/>
                    </a:srgbClr>
                  </a:outerShdw>
                </a:effectLst>
              </a:rPr>
              <a:t>. </a:t>
            </a:r>
            <a:r>
              <a:rPr lang="en-US" sz="3100" i="1" dirty="0" err="1">
                <a:effectLst>
                  <a:outerShdw blurRad="38100" dist="38100" dir="2700000" algn="tl">
                    <a:srgbClr val="000000">
                      <a:alpha val="43137"/>
                    </a:srgbClr>
                  </a:outerShdw>
                </a:effectLst>
              </a:rPr>
              <a:t>Développeur</a:t>
            </a:r>
            <a:r>
              <a:rPr lang="en-US" sz="3100" i="1" dirty="0">
                <a:effectLst>
                  <a:outerShdw blurRad="38100" dist="38100" dir="2700000" algn="tl">
                    <a:srgbClr val="000000">
                      <a:alpha val="43137"/>
                    </a:srgbClr>
                  </a:outerShdw>
                </a:effectLst>
              </a:rPr>
              <a:t> </a:t>
            </a:r>
            <a:r>
              <a:rPr lang="en-US" sz="3100" i="1" dirty="0" err="1">
                <a:effectLst>
                  <a:outerShdw blurRad="38100" dist="38100" dir="2700000" algn="tl">
                    <a:srgbClr val="000000">
                      <a:alpha val="43137"/>
                    </a:srgbClr>
                  </a:outerShdw>
                </a:effectLst>
              </a:rPr>
              <a:t>d’applications</a:t>
            </a:r>
            <a:endParaRPr lang="en-US" sz="3100" i="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022920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4063042" y="2055813"/>
            <a:ext cx="8128958" cy="4802187"/>
          </a:xfrm>
        </p:spPr>
        <p:txBody>
          <a:bodyPr>
            <a:noAutofit/>
          </a:bodyPr>
          <a:lstStyle/>
          <a:p>
            <a:pPr>
              <a:lnSpc>
                <a:spcPct val="100000"/>
              </a:lnSpc>
              <a:spcBef>
                <a:spcPts val="600"/>
              </a:spcBef>
            </a:pPr>
            <a:r>
              <a:rPr lang="fr-FR" sz="1800" dirty="0"/>
              <a:t>Idem Développeur Application</a:t>
            </a:r>
          </a:p>
          <a:p>
            <a:pPr>
              <a:lnSpc>
                <a:spcPct val="100000"/>
              </a:lnSpc>
              <a:spcBef>
                <a:spcPts val="600"/>
              </a:spcBef>
            </a:pPr>
            <a:endParaRPr lang="fr-FR" sz="1800" dirty="0"/>
          </a:p>
          <a:p>
            <a:pPr>
              <a:lnSpc>
                <a:spcPct val="100000"/>
              </a:lnSpc>
              <a:spcBef>
                <a:spcPts val="600"/>
              </a:spcBef>
            </a:pPr>
            <a:r>
              <a:rPr lang="fr-FR" sz="1800" dirty="0"/>
              <a:t>Applications web (ex : JavaScript, Flash, </a:t>
            </a:r>
            <a:r>
              <a:rPr lang="fr-FR" sz="1800" dirty="0" err="1"/>
              <a:t>dreamweaver</a:t>
            </a:r>
            <a:r>
              <a:rPr lang="fr-FR" sz="1800" dirty="0"/>
              <a:t>, Visual Basic, PHP, Flash et autres logiciels associés....)</a:t>
            </a:r>
          </a:p>
          <a:p>
            <a:pPr>
              <a:lnSpc>
                <a:spcPct val="100000"/>
              </a:lnSpc>
              <a:spcBef>
                <a:spcPts val="600"/>
              </a:spcBef>
            </a:pPr>
            <a:endParaRPr lang="fr-FR" sz="1800" dirty="0"/>
          </a:p>
          <a:p>
            <a:pPr>
              <a:lnSpc>
                <a:spcPct val="100000"/>
              </a:lnSpc>
              <a:spcBef>
                <a:spcPts val="600"/>
              </a:spcBef>
            </a:pPr>
            <a:r>
              <a:rPr lang="fr-FR" sz="1800" dirty="0"/>
              <a:t>Langages de programmation (ex (X)HTLM, C/C , Java, (</a:t>
            </a:r>
            <a:r>
              <a:rPr lang="fr-FR" sz="1800" dirty="0" err="1"/>
              <a:t>My</a:t>
            </a:r>
            <a:r>
              <a:rPr lang="fr-FR" sz="1800" dirty="0"/>
              <a:t>)SQL, JSP, XSLT...)</a:t>
            </a:r>
          </a:p>
          <a:p>
            <a:pPr>
              <a:lnSpc>
                <a:spcPct val="100000"/>
              </a:lnSpc>
              <a:spcBef>
                <a:spcPts val="600"/>
              </a:spcBef>
            </a:pPr>
            <a:endParaRPr lang="fr-FR" sz="1800" dirty="0"/>
          </a:p>
          <a:p>
            <a:pPr>
              <a:lnSpc>
                <a:spcPct val="100000"/>
              </a:lnSpc>
              <a:spcBef>
                <a:spcPts val="600"/>
              </a:spcBef>
            </a:pPr>
            <a:r>
              <a:rPr lang="fr-FR" sz="1800" dirty="0"/>
              <a:t>Connaissance des méthodologies de développement (méthodologies objet, « agile »…)</a:t>
            </a:r>
          </a:p>
          <a:p>
            <a:pPr marL="0" indent="0">
              <a:lnSpc>
                <a:spcPct val="100000"/>
              </a:lnSpc>
              <a:spcBef>
                <a:spcPts val="600"/>
              </a:spcBef>
              <a:buNone/>
            </a:pPr>
            <a:endParaRPr lang="fr-FR" sz="1800" dirty="0"/>
          </a:p>
          <a:p>
            <a:pPr>
              <a:lnSpc>
                <a:spcPct val="100000"/>
              </a:lnSpc>
              <a:spcBef>
                <a:spcPts val="600"/>
              </a:spcBef>
            </a:pPr>
            <a:r>
              <a:rPr lang="fr-FR" sz="1800" dirty="0"/>
              <a:t>Bonne maitrise de l’anglais technique indispensable</a:t>
            </a:r>
          </a:p>
          <a:p>
            <a:pPr>
              <a:lnSpc>
                <a:spcPct val="100000"/>
              </a:lnSpc>
              <a:spcBef>
                <a:spcPts val="600"/>
              </a:spcBef>
            </a:pPr>
            <a:endParaRPr lang="fr-FR" sz="1800" dirty="0"/>
          </a:p>
          <a:p>
            <a:pPr>
              <a:lnSpc>
                <a:spcPct val="100000"/>
              </a:lnSpc>
              <a:spcBef>
                <a:spcPts val="600"/>
              </a:spcBef>
            </a:pPr>
            <a:endParaRPr lang="en-US" sz="900" dirty="0"/>
          </a:p>
        </p:txBody>
      </p:sp>
      <p:sp>
        <p:nvSpPr>
          <p:cNvPr id="7" name="ZoneTexte 6"/>
          <p:cNvSpPr txBox="1"/>
          <p:nvPr/>
        </p:nvSpPr>
        <p:spPr>
          <a:xfrm>
            <a:off x="397394" y="1367522"/>
            <a:ext cx="2490950" cy="707886"/>
          </a:xfrm>
          <a:prstGeom prst="rect">
            <a:avLst/>
          </a:prstGeom>
          <a:noFill/>
        </p:spPr>
        <p:txBody>
          <a:bodyPr wrap="square" rtlCol="0">
            <a:spAutoFit/>
          </a:bodyPr>
          <a:lstStyle/>
          <a:p>
            <a:pPr algn="ctr"/>
            <a:r>
              <a:rPr lang="fr-FR" sz="2000" dirty="0">
                <a:solidFill>
                  <a:schemeClr val="bg1"/>
                </a:solidFill>
              </a:rPr>
              <a:t>1- Développement logiciel</a:t>
            </a:r>
          </a:p>
        </p:txBody>
      </p:sp>
      <p:sp>
        <p:nvSpPr>
          <p:cNvPr id="8" name="Title 3"/>
          <p:cNvSpPr txBox="1">
            <a:spLocks/>
          </p:cNvSpPr>
          <p:nvPr/>
        </p:nvSpPr>
        <p:spPr>
          <a:xfrm>
            <a:off x="4063042" y="365125"/>
            <a:ext cx="8128958"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Ingénieur</a:t>
            </a:r>
            <a:r>
              <a:rPr lang="en-US" sz="3600" dirty="0"/>
              <a:t> </a:t>
            </a:r>
            <a:r>
              <a:rPr lang="en-US" sz="3600" dirty="0" err="1"/>
              <a:t>Développeur</a:t>
            </a:r>
            <a:r>
              <a:rPr lang="en-US" sz="3600" dirty="0"/>
              <a:t> Application / Web</a:t>
            </a:r>
            <a:br>
              <a:rPr lang="en-US" sz="3600" dirty="0"/>
            </a:br>
            <a:br>
              <a:rPr lang="en-US" sz="3600" dirty="0"/>
            </a:br>
            <a:r>
              <a:rPr lang="en-US" sz="3100" i="1" dirty="0" err="1">
                <a:effectLst>
                  <a:outerShdw blurRad="38100" dist="38100" dir="2700000" algn="tl">
                    <a:srgbClr val="000000">
                      <a:alpha val="43137"/>
                    </a:srgbClr>
                  </a:outerShdw>
                </a:effectLst>
              </a:rPr>
              <a:t>Compétences</a:t>
            </a:r>
            <a:r>
              <a:rPr lang="en-US" sz="3100" i="1" dirty="0">
                <a:effectLst>
                  <a:outerShdw blurRad="38100" dist="38100" dir="2700000" algn="tl">
                    <a:srgbClr val="000000">
                      <a:alpha val="43137"/>
                    </a:srgbClr>
                  </a:outerShdw>
                </a:effectLst>
              </a:rPr>
              <a:t> techniques </a:t>
            </a:r>
            <a:r>
              <a:rPr lang="en-US" sz="3100" i="1" dirty="0" err="1">
                <a:effectLst>
                  <a:outerShdw blurRad="38100" dist="38100" dir="2700000" algn="tl">
                    <a:srgbClr val="000000">
                      <a:alpha val="43137"/>
                    </a:srgbClr>
                  </a:outerShdw>
                </a:effectLst>
              </a:rPr>
              <a:t>spécif</a:t>
            </a:r>
            <a:r>
              <a:rPr lang="en-US" sz="3100" i="1" dirty="0">
                <a:effectLst>
                  <a:outerShdw blurRad="38100" dist="38100" dir="2700000" algn="tl">
                    <a:srgbClr val="000000">
                      <a:alpha val="43137"/>
                    </a:srgbClr>
                  </a:outerShdw>
                </a:effectLst>
              </a:rPr>
              <a:t>. </a:t>
            </a:r>
            <a:r>
              <a:rPr lang="en-US" sz="3100" i="1" dirty="0" err="1">
                <a:effectLst>
                  <a:outerShdw blurRad="38100" dist="38100" dir="2700000" algn="tl">
                    <a:srgbClr val="000000">
                      <a:alpha val="43137"/>
                    </a:srgbClr>
                  </a:outerShdw>
                </a:effectLst>
              </a:rPr>
              <a:t>Développeur</a:t>
            </a:r>
            <a:r>
              <a:rPr lang="en-US" sz="3100" i="1" dirty="0">
                <a:effectLst>
                  <a:outerShdw blurRad="38100" dist="38100" dir="2700000" algn="tl">
                    <a:srgbClr val="000000">
                      <a:alpha val="43137"/>
                    </a:srgbClr>
                  </a:outerShdw>
                </a:effectLst>
              </a:rPr>
              <a:t> Web</a:t>
            </a:r>
          </a:p>
        </p:txBody>
      </p:sp>
    </p:spTree>
    <p:extLst>
      <p:ext uri="{BB962C8B-B14F-4D97-AF65-F5344CB8AC3E}">
        <p14:creationId xmlns:p14="http://schemas.microsoft.com/office/powerpoint/2010/main" val="1643144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232229" y="0"/>
            <a:ext cx="12192000" cy="6858000"/>
          </a:xfrm>
          <a:prstGeom prst="rect">
            <a:avLst/>
          </a:prstGeom>
        </p:spPr>
      </p:pic>
      <p:sp>
        <p:nvSpPr>
          <p:cNvPr id="6" name="Content Placeholder 5"/>
          <p:cNvSpPr>
            <a:spLocks noGrp="1"/>
          </p:cNvSpPr>
          <p:nvPr>
            <p:ph idx="1"/>
          </p:nvPr>
        </p:nvSpPr>
        <p:spPr>
          <a:xfrm>
            <a:off x="3715657" y="2104817"/>
            <a:ext cx="8476343" cy="4600785"/>
          </a:xfrm>
        </p:spPr>
        <p:txBody>
          <a:bodyPr>
            <a:normAutofit/>
          </a:bodyPr>
          <a:lstStyle/>
          <a:p>
            <a:pPr>
              <a:lnSpc>
                <a:spcPct val="100000"/>
              </a:lnSpc>
              <a:spcBef>
                <a:spcPts val="600"/>
              </a:spcBef>
            </a:pPr>
            <a:r>
              <a:rPr lang="fr-FR" sz="2000" dirty="0"/>
              <a:t>Formation de niveau bac +2 / 3 (BTS informatique, DUT informatique ou télécommunications, licence professionnelle spécialisée en informatique …)</a:t>
            </a:r>
          </a:p>
          <a:p>
            <a:pPr>
              <a:lnSpc>
                <a:spcPct val="100000"/>
              </a:lnSpc>
              <a:spcBef>
                <a:spcPts val="600"/>
              </a:spcBef>
            </a:pPr>
            <a:endParaRPr lang="fr-FR" sz="2000" dirty="0"/>
          </a:p>
          <a:p>
            <a:pPr>
              <a:lnSpc>
                <a:spcPct val="100000"/>
              </a:lnSpc>
              <a:spcBef>
                <a:spcPts val="600"/>
              </a:spcBef>
            </a:pPr>
            <a:r>
              <a:rPr lang="fr-FR" sz="2000" dirty="0"/>
              <a:t>Formation de niveau bac +4/5 (Master) spécialisée en informatique, réseaux et télécommunications</a:t>
            </a:r>
          </a:p>
          <a:p>
            <a:pPr marL="0" indent="0">
              <a:lnSpc>
                <a:spcPct val="100000"/>
              </a:lnSpc>
              <a:spcBef>
                <a:spcPts val="600"/>
              </a:spcBef>
              <a:buNone/>
            </a:pPr>
            <a:endParaRPr lang="fr-FR" sz="2000" dirty="0"/>
          </a:p>
          <a:p>
            <a:pPr>
              <a:lnSpc>
                <a:spcPct val="100000"/>
              </a:lnSpc>
              <a:spcBef>
                <a:spcPts val="600"/>
              </a:spcBef>
            </a:pPr>
            <a:r>
              <a:rPr lang="fr-FR" sz="2000" dirty="0"/>
              <a:t>Écoles d’ingénieurs (informatique, télécoms, généralistes…)</a:t>
            </a:r>
          </a:p>
          <a:p>
            <a:pPr>
              <a:lnSpc>
                <a:spcPct val="100000"/>
              </a:lnSpc>
              <a:spcBef>
                <a:spcPts val="600"/>
              </a:spcBef>
            </a:pPr>
            <a:endParaRPr lang="en-US" sz="2000" dirty="0"/>
          </a:p>
        </p:txBody>
      </p:sp>
      <p:sp>
        <p:nvSpPr>
          <p:cNvPr id="7" name="ZoneTexte 6"/>
          <p:cNvSpPr txBox="1"/>
          <p:nvPr/>
        </p:nvSpPr>
        <p:spPr>
          <a:xfrm>
            <a:off x="295796" y="1367522"/>
            <a:ext cx="2490950" cy="707886"/>
          </a:xfrm>
          <a:prstGeom prst="rect">
            <a:avLst/>
          </a:prstGeom>
          <a:noFill/>
        </p:spPr>
        <p:txBody>
          <a:bodyPr wrap="square" rtlCol="0">
            <a:spAutoFit/>
          </a:bodyPr>
          <a:lstStyle/>
          <a:p>
            <a:pPr algn="ctr"/>
            <a:r>
              <a:rPr lang="fr-FR" sz="2000" dirty="0">
                <a:solidFill>
                  <a:schemeClr val="bg1"/>
                </a:solidFill>
              </a:rPr>
              <a:t>1- Développement logiciel</a:t>
            </a:r>
          </a:p>
        </p:txBody>
      </p:sp>
      <p:sp>
        <p:nvSpPr>
          <p:cNvPr id="8" name="Title 3"/>
          <p:cNvSpPr txBox="1">
            <a:spLocks/>
          </p:cNvSpPr>
          <p:nvPr/>
        </p:nvSpPr>
        <p:spPr>
          <a:xfrm>
            <a:off x="3831771" y="365125"/>
            <a:ext cx="8360229"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Ingénieur</a:t>
            </a:r>
            <a:r>
              <a:rPr lang="en-US" sz="3600" dirty="0"/>
              <a:t> </a:t>
            </a:r>
            <a:r>
              <a:rPr lang="en-US" sz="3600" dirty="0" err="1"/>
              <a:t>Développeur</a:t>
            </a:r>
            <a:r>
              <a:rPr lang="en-US" sz="3600" dirty="0"/>
              <a:t> Application / Web</a:t>
            </a:r>
            <a:br>
              <a:rPr lang="en-US" sz="3600" dirty="0"/>
            </a:br>
            <a:br>
              <a:rPr lang="en-US" sz="3600" dirty="0"/>
            </a:br>
            <a:r>
              <a:rPr lang="en-US" sz="3100" i="1" dirty="0" err="1">
                <a:effectLst>
                  <a:outerShdw blurRad="38100" dist="38100" dir="2700000" algn="tl">
                    <a:srgbClr val="000000">
                      <a:alpha val="43137"/>
                    </a:srgbClr>
                  </a:outerShdw>
                </a:effectLst>
              </a:rPr>
              <a:t>Profil</a:t>
            </a:r>
            <a:r>
              <a:rPr lang="en-US" sz="3100" i="1" dirty="0">
                <a:effectLst>
                  <a:outerShdw blurRad="38100" dist="38100" dir="2700000" algn="tl">
                    <a:srgbClr val="000000">
                      <a:alpha val="43137"/>
                    </a:srgbClr>
                  </a:outerShdw>
                </a:effectLst>
              </a:rPr>
              <a:t> du </a:t>
            </a:r>
            <a:r>
              <a:rPr lang="en-US" sz="3100" i="1" dirty="0" err="1">
                <a:effectLst>
                  <a:outerShdw blurRad="38100" dist="38100" dir="2700000" algn="tl">
                    <a:srgbClr val="000000">
                      <a:alpha val="43137"/>
                    </a:srgbClr>
                  </a:outerShdw>
                </a:effectLst>
              </a:rPr>
              <a:t>candidat</a:t>
            </a:r>
            <a:endParaRPr lang="en-US" sz="3100" i="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934356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3874356" y="1930401"/>
            <a:ext cx="8317644" cy="4927600"/>
          </a:xfrm>
        </p:spPr>
        <p:txBody>
          <a:bodyPr>
            <a:noAutofit/>
          </a:bodyPr>
          <a:lstStyle/>
          <a:p>
            <a:pPr>
              <a:lnSpc>
                <a:spcPct val="100000"/>
              </a:lnSpc>
              <a:spcBef>
                <a:spcPts val="600"/>
              </a:spcBef>
            </a:pPr>
            <a:r>
              <a:rPr lang="fr-FR" sz="1800" dirty="0"/>
              <a:t>Spécialiste des objets connectés, l’ingénieur IoT (Internet of </a:t>
            </a:r>
            <a:r>
              <a:rPr lang="fr-FR" sz="1800" dirty="0" err="1"/>
              <a:t>Things</a:t>
            </a:r>
            <a:r>
              <a:rPr lang="fr-FR" sz="1800" dirty="0"/>
              <a:t>) imagine et déploie des services innovants utiles aux utilisateurs pour recueillir des informations, contrôler et piloter à distance. </a:t>
            </a:r>
          </a:p>
          <a:p>
            <a:pPr>
              <a:lnSpc>
                <a:spcPct val="100000"/>
              </a:lnSpc>
              <a:spcBef>
                <a:spcPts val="600"/>
              </a:spcBef>
            </a:pPr>
            <a:r>
              <a:rPr lang="fr-FR" sz="1800" dirty="0"/>
              <a:t>Ses atouts ? Brasser informatique, télécom et électronique et rester toujours à l’écoute des besoins.</a:t>
            </a:r>
          </a:p>
          <a:p>
            <a:pPr>
              <a:lnSpc>
                <a:spcPct val="100000"/>
              </a:lnSpc>
              <a:spcBef>
                <a:spcPts val="600"/>
              </a:spcBef>
            </a:pPr>
            <a:r>
              <a:rPr lang="fr-FR" sz="1800" dirty="0"/>
              <a:t>Il sait choisir les technologies les plus appropriées afin de contrôler les dépenses</a:t>
            </a:r>
          </a:p>
          <a:p>
            <a:pPr>
              <a:lnSpc>
                <a:spcPct val="100000"/>
              </a:lnSpc>
              <a:spcBef>
                <a:spcPts val="600"/>
              </a:spcBef>
            </a:pPr>
            <a:r>
              <a:rPr lang="fr-FR" sz="1800" dirty="0"/>
              <a:t>Avec ces innovations au croisement de l’électronique, l’informatique, et les télécoms, le spécialiste IoT peut endosser de nombreuses casquettes : </a:t>
            </a:r>
          </a:p>
          <a:p>
            <a:pPr lvl="1">
              <a:lnSpc>
                <a:spcPct val="100000"/>
              </a:lnSpc>
              <a:spcBef>
                <a:spcPts val="600"/>
              </a:spcBef>
            </a:pPr>
            <a:r>
              <a:rPr lang="fr-FR" sz="1600" dirty="0"/>
              <a:t>concepteur de services (tourné vers l’analyse des besoins utilisateurs) </a:t>
            </a:r>
          </a:p>
          <a:p>
            <a:pPr lvl="1">
              <a:lnSpc>
                <a:spcPct val="100000"/>
              </a:lnSpc>
              <a:spcBef>
                <a:spcPts val="600"/>
              </a:spcBef>
            </a:pPr>
            <a:r>
              <a:rPr lang="fr-FR" sz="1600" dirty="0"/>
              <a:t>chef de projets (imaginer les produits, les tester, les faire évoluer)</a:t>
            </a:r>
          </a:p>
          <a:p>
            <a:pPr lvl="1">
              <a:lnSpc>
                <a:spcPct val="100000"/>
              </a:lnSpc>
              <a:spcBef>
                <a:spcPts val="600"/>
              </a:spcBef>
            </a:pPr>
            <a:r>
              <a:rPr lang="fr-FR" sz="1600" dirty="0"/>
              <a:t>architecte en solutions (connexion des réseaux et plateformes) </a:t>
            </a:r>
          </a:p>
          <a:p>
            <a:pPr lvl="1">
              <a:lnSpc>
                <a:spcPct val="100000"/>
              </a:lnSpc>
              <a:spcBef>
                <a:spcPts val="600"/>
              </a:spcBef>
            </a:pPr>
            <a:r>
              <a:rPr lang="fr-FR" sz="1600" dirty="0"/>
              <a:t>développeur d’applications mobiles ou encore chargé d’affaires </a:t>
            </a:r>
          </a:p>
          <a:p>
            <a:pPr>
              <a:lnSpc>
                <a:spcPct val="100000"/>
              </a:lnSpc>
              <a:spcBef>
                <a:spcPts val="600"/>
              </a:spcBef>
            </a:pPr>
            <a:endParaRPr lang="fr-FR" sz="2000" dirty="0"/>
          </a:p>
        </p:txBody>
      </p:sp>
      <p:sp>
        <p:nvSpPr>
          <p:cNvPr id="7" name="ZoneTexte 6"/>
          <p:cNvSpPr txBox="1"/>
          <p:nvPr/>
        </p:nvSpPr>
        <p:spPr>
          <a:xfrm>
            <a:off x="397394" y="1367522"/>
            <a:ext cx="2490950" cy="707886"/>
          </a:xfrm>
          <a:prstGeom prst="rect">
            <a:avLst/>
          </a:prstGeom>
          <a:noFill/>
        </p:spPr>
        <p:txBody>
          <a:bodyPr wrap="square" rtlCol="0">
            <a:spAutoFit/>
          </a:bodyPr>
          <a:lstStyle/>
          <a:p>
            <a:pPr algn="ctr"/>
            <a:r>
              <a:rPr lang="fr-FR" sz="2000" dirty="0">
                <a:solidFill>
                  <a:schemeClr val="bg1"/>
                </a:solidFill>
              </a:rPr>
              <a:t>1- Développement logiciel</a:t>
            </a:r>
          </a:p>
        </p:txBody>
      </p:sp>
      <p:sp>
        <p:nvSpPr>
          <p:cNvPr id="8" name="Title 3"/>
          <p:cNvSpPr txBox="1">
            <a:spLocks/>
          </p:cNvSpPr>
          <p:nvPr/>
        </p:nvSpPr>
        <p:spPr>
          <a:xfrm>
            <a:off x="4063042" y="365125"/>
            <a:ext cx="8128958"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Ingénieur</a:t>
            </a:r>
            <a:r>
              <a:rPr lang="en-US" sz="3600" dirty="0"/>
              <a:t> </a:t>
            </a:r>
            <a:r>
              <a:rPr lang="en-US" sz="3600" dirty="0" err="1"/>
              <a:t>Iot</a:t>
            </a:r>
            <a:br>
              <a:rPr lang="en-US" sz="3600" dirty="0"/>
            </a:br>
            <a:br>
              <a:rPr lang="en-US" sz="3600" dirty="0"/>
            </a:br>
            <a:r>
              <a:rPr lang="en-US" sz="3100" i="1" dirty="0" err="1">
                <a:effectLst>
                  <a:outerShdw blurRad="38100" dist="38100" dir="2700000" algn="tl">
                    <a:srgbClr val="000000">
                      <a:alpha val="43137"/>
                    </a:srgbClr>
                  </a:outerShdw>
                </a:effectLst>
              </a:rPr>
              <a:t>Définition</a:t>
            </a:r>
            <a:r>
              <a:rPr lang="en-US" sz="3100" i="1" dirty="0">
                <a:effectLst>
                  <a:outerShdw blurRad="38100" dist="38100" dir="2700000" algn="tl">
                    <a:srgbClr val="000000">
                      <a:alpha val="43137"/>
                    </a:srgbClr>
                  </a:outerShdw>
                </a:effectLst>
              </a:rPr>
              <a:t> du </a:t>
            </a:r>
            <a:r>
              <a:rPr lang="en-US" sz="3100" i="1" dirty="0" err="1">
                <a:effectLst>
                  <a:outerShdw blurRad="38100" dist="38100" dir="2700000" algn="tl">
                    <a:srgbClr val="000000">
                      <a:alpha val="43137"/>
                    </a:srgbClr>
                  </a:outerShdw>
                </a:effectLst>
              </a:rPr>
              <a:t>rôle</a:t>
            </a:r>
            <a:r>
              <a:rPr lang="en-US" sz="3100" i="1" dirty="0">
                <a:effectLst>
                  <a:outerShdw blurRad="38100" dist="38100" dir="2700000" algn="tl">
                    <a:srgbClr val="000000">
                      <a:alpha val="43137"/>
                    </a:srgbClr>
                  </a:outerShdw>
                </a:effectLst>
              </a:rPr>
              <a:t> et des missions </a:t>
            </a:r>
          </a:p>
        </p:txBody>
      </p:sp>
    </p:spTree>
    <p:extLst>
      <p:ext uri="{BB962C8B-B14F-4D97-AF65-F5344CB8AC3E}">
        <p14:creationId xmlns:p14="http://schemas.microsoft.com/office/powerpoint/2010/main" val="24523882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3874356" y="1930401"/>
            <a:ext cx="8317644" cy="4927600"/>
          </a:xfrm>
        </p:spPr>
        <p:txBody>
          <a:bodyPr>
            <a:noAutofit/>
          </a:bodyPr>
          <a:lstStyle/>
          <a:p>
            <a:pPr>
              <a:lnSpc>
                <a:spcPct val="100000"/>
              </a:lnSpc>
              <a:spcBef>
                <a:spcPts val="600"/>
              </a:spcBef>
            </a:pPr>
            <a:r>
              <a:rPr lang="fr-FR" sz="1800" dirty="0"/>
              <a:t>Faire preuve de compétences approfondies sur le </a:t>
            </a:r>
            <a:r>
              <a:rPr lang="fr-FR" sz="1800" dirty="0" err="1"/>
              <a:t>back-end</a:t>
            </a:r>
            <a:r>
              <a:rPr lang="fr-FR" sz="1800" dirty="0"/>
              <a:t> (Python, Java, C)</a:t>
            </a:r>
          </a:p>
          <a:p>
            <a:pPr>
              <a:lnSpc>
                <a:spcPct val="100000"/>
              </a:lnSpc>
              <a:spcBef>
                <a:spcPts val="600"/>
              </a:spcBef>
            </a:pPr>
            <a:r>
              <a:rPr lang="fr-FR" sz="1800" dirty="0"/>
              <a:t>Maîtriser le développement de hardware</a:t>
            </a:r>
          </a:p>
          <a:p>
            <a:pPr>
              <a:lnSpc>
                <a:spcPct val="100000"/>
              </a:lnSpc>
              <a:spcBef>
                <a:spcPts val="600"/>
              </a:spcBef>
            </a:pPr>
            <a:r>
              <a:rPr lang="fr-FR" sz="1800" dirty="0"/>
              <a:t>Gérer les données entrantes et les données sortantes, des connaissances en Big Data, modélisation, statistique, Learning Machine et intelligence artificielle seront un atout</a:t>
            </a:r>
          </a:p>
          <a:p>
            <a:pPr>
              <a:lnSpc>
                <a:spcPct val="100000"/>
              </a:lnSpc>
              <a:spcBef>
                <a:spcPts val="600"/>
              </a:spcBef>
            </a:pPr>
            <a:r>
              <a:rPr lang="fr-FR" sz="1800" dirty="0"/>
              <a:t>Maintenir ses compétences à niveau pour suivre le rythme des évolutions technologiques</a:t>
            </a:r>
            <a:endParaRPr lang="fr-FR" sz="1600" dirty="0"/>
          </a:p>
        </p:txBody>
      </p:sp>
      <p:sp>
        <p:nvSpPr>
          <p:cNvPr id="7" name="ZoneTexte 6"/>
          <p:cNvSpPr txBox="1"/>
          <p:nvPr/>
        </p:nvSpPr>
        <p:spPr>
          <a:xfrm>
            <a:off x="397394" y="1367522"/>
            <a:ext cx="2490950" cy="707886"/>
          </a:xfrm>
          <a:prstGeom prst="rect">
            <a:avLst/>
          </a:prstGeom>
          <a:noFill/>
        </p:spPr>
        <p:txBody>
          <a:bodyPr wrap="square" rtlCol="0">
            <a:spAutoFit/>
          </a:bodyPr>
          <a:lstStyle/>
          <a:p>
            <a:pPr algn="ctr"/>
            <a:r>
              <a:rPr lang="fr-FR" sz="2000" dirty="0">
                <a:solidFill>
                  <a:schemeClr val="bg1"/>
                </a:solidFill>
              </a:rPr>
              <a:t>1- Développement logiciel</a:t>
            </a:r>
          </a:p>
        </p:txBody>
      </p:sp>
      <p:sp>
        <p:nvSpPr>
          <p:cNvPr id="8" name="Title 3"/>
          <p:cNvSpPr txBox="1">
            <a:spLocks/>
          </p:cNvSpPr>
          <p:nvPr/>
        </p:nvSpPr>
        <p:spPr>
          <a:xfrm>
            <a:off x="4063042" y="365125"/>
            <a:ext cx="8128958"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Ingénieur</a:t>
            </a:r>
            <a:r>
              <a:rPr lang="en-US" sz="3600" dirty="0"/>
              <a:t> </a:t>
            </a:r>
            <a:r>
              <a:rPr lang="en-US" sz="3600" dirty="0" err="1"/>
              <a:t>Iot</a:t>
            </a:r>
            <a:br>
              <a:rPr lang="en-US" sz="3600" dirty="0"/>
            </a:br>
            <a:br>
              <a:rPr lang="en-US" sz="3600" dirty="0"/>
            </a:br>
            <a:r>
              <a:rPr lang="en-US" sz="3100" i="1" dirty="0" err="1">
                <a:effectLst>
                  <a:outerShdw blurRad="38100" dist="38100" dir="2700000" algn="tl">
                    <a:srgbClr val="000000">
                      <a:alpha val="43137"/>
                    </a:srgbClr>
                  </a:outerShdw>
                </a:effectLst>
              </a:rPr>
              <a:t>Définition</a:t>
            </a:r>
            <a:r>
              <a:rPr lang="en-US" sz="3100" i="1" dirty="0">
                <a:effectLst>
                  <a:outerShdw blurRad="38100" dist="38100" dir="2700000" algn="tl">
                    <a:srgbClr val="000000">
                      <a:alpha val="43137"/>
                    </a:srgbClr>
                  </a:outerShdw>
                </a:effectLst>
              </a:rPr>
              <a:t> du </a:t>
            </a:r>
            <a:r>
              <a:rPr lang="en-US" sz="3100" i="1" dirty="0" err="1">
                <a:effectLst>
                  <a:outerShdw blurRad="38100" dist="38100" dir="2700000" algn="tl">
                    <a:srgbClr val="000000">
                      <a:alpha val="43137"/>
                    </a:srgbClr>
                  </a:outerShdw>
                </a:effectLst>
              </a:rPr>
              <a:t>rôle</a:t>
            </a:r>
            <a:r>
              <a:rPr lang="en-US" sz="3100" i="1" dirty="0">
                <a:effectLst>
                  <a:outerShdw blurRad="38100" dist="38100" dir="2700000" algn="tl">
                    <a:srgbClr val="000000">
                      <a:alpha val="43137"/>
                    </a:srgbClr>
                  </a:outerShdw>
                </a:effectLst>
              </a:rPr>
              <a:t> et des missions (suite)</a:t>
            </a:r>
          </a:p>
        </p:txBody>
      </p:sp>
    </p:spTree>
    <p:extLst>
      <p:ext uri="{BB962C8B-B14F-4D97-AF65-F5344CB8AC3E}">
        <p14:creationId xmlns:p14="http://schemas.microsoft.com/office/powerpoint/2010/main" val="333414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4063042" y="2075408"/>
            <a:ext cx="8128958" cy="4782591"/>
          </a:xfrm>
        </p:spPr>
        <p:txBody>
          <a:bodyPr vert="horz" lIns="91440" tIns="45720" rIns="91440" bIns="45720" rtlCol="0">
            <a:normAutofit/>
          </a:bodyPr>
          <a:lstStyle/>
          <a:p>
            <a:pPr>
              <a:lnSpc>
                <a:spcPct val="100000"/>
              </a:lnSpc>
              <a:spcBef>
                <a:spcPts val="600"/>
              </a:spcBef>
            </a:pPr>
            <a:r>
              <a:rPr lang="fr-FR" sz="2000" dirty="0"/>
              <a:t>Montage de périphérique matériel – des compétences en ingénierie sont nécessaires même si des modules pré assemblés peuvent être utilisés.</a:t>
            </a:r>
          </a:p>
          <a:p>
            <a:pPr>
              <a:lnSpc>
                <a:spcPct val="100000"/>
              </a:lnSpc>
              <a:spcBef>
                <a:spcPts val="600"/>
              </a:spcBef>
            </a:pPr>
            <a:r>
              <a:rPr lang="fr-FR" sz="2000" dirty="0"/>
              <a:t>Programmation d’un appareil – des connaissances en programmation sont indispensables pour lire les données des capteurs connectés à un appareil IoT et les envoyer à un serveur.</a:t>
            </a:r>
          </a:p>
          <a:p>
            <a:pPr>
              <a:lnSpc>
                <a:spcPct val="100000"/>
              </a:lnSpc>
              <a:spcBef>
                <a:spcPts val="600"/>
              </a:spcBef>
            </a:pPr>
            <a:r>
              <a:rPr lang="fr-FR" sz="2000" dirty="0"/>
              <a:t>Programmation des serveurs qui reçoivent et conservent les données – maîtrise des langages côté serveur comme PHP, ASP.NET ou Node.js et des requêtes dans la base de données reposant sur MySQL par exemple.</a:t>
            </a:r>
          </a:p>
          <a:p>
            <a:pPr>
              <a:lnSpc>
                <a:spcPct val="100000"/>
              </a:lnSpc>
              <a:spcBef>
                <a:spcPts val="600"/>
              </a:spcBef>
            </a:pPr>
            <a:r>
              <a:rPr lang="fr-FR" sz="2000" dirty="0"/>
              <a:t>Affichage des données – connaissances en PHP, JavaScript, HTML, CSS, MySQL pour créer une page web ou une application pour l’utilisateur..</a:t>
            </a:r>
          </a:p>
        </p:txBody>
      </p:sp>
      <p:sp>
        <p:nvSpPr>
          <p:cNvPr id="8" name="Title 3"/>
          <p:cNvSpPr txBox="1">
            <a:spLocks/>
          </p:cNvSpPr>
          <p:nvPr/>
        </p:nvSpPr>
        <p:spPr>
          <a:xfrm>
            <a:off x="4063042" y="365125"/>
            <a:ext cx="8128958"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Ingénieur</a:t>
            </a:r>
            <a:r>
              <a:rPr lang="en-US" sz="3600" dirty="0"/>
              <a:t> IOT</a:t>
            </a:r>
            <a:br>
              <a:rPr lang="en-US" sz="3600" dirty="0"/>
            </a:br>
            <a:br>
              <a:rPr lang="en-US" sz="3600" dirty="0"/>
            </a:br>
            <a:r>
              <a:rPr lang="en-US" sz="3100" i="1" dirty="0" err="1">
                <a:effectLst>
                  <a:outerShdw blurRad="38100" dist="38100" dir="2700000" algn="tl">
                    <a:srgbClr val="000000">
                      <a:alpha val="43137"/>
                    </a:srgbClr>
                  </a:outerShdw>
                </a:effectLst>
              </a:rPr>
              <a:t>Compétences</a:t>
            </a:r>
            <a:r>
              <a:rPr lang="en-US" sz="3100" i="1" dirty="0">
                <a:effectLst>
                  <a:outerShdw blurRad="38100" dist="38100" dir="2700000" algn="tl">
                    <a:srgbClr val="000000">
                      <a:alpha val="43137"/>
                    </a:srgbClr>
                  </a:outerShdw>
                </a:effectLst>
              </a:rPr>
              <a:t> techniques (suite)</a:t>
            </a:r>
          </a:p>
        </p:txBody>
      </p:sp>
      <p:sp>
        <p:nvSpPr>
          <p:cNvPr id="9" name="ZoneTexte 8"/>
          <p:cNvSpPr txBox="1"/>
          <p:nvPr/>
        </p:nvSpPr>
        <p:spPr>
          <a:xfrm>
            <a:off x="397394" y="1367522"/>
            <a:ext cx="2490950" cy="707886"/>
          </a:xfrm>
          <a:prstGeom prst="rect">
            <a:avLst/>
          </a:prstGeom>
          <a:noFill/>
        </p:spPr>
        <p:txBody>
          <a:bodyPr wrap="square" rtlCol="0">
            <a:spAutoFit/>
          </a:bodyPr>
          <a:lstStyle/>
          <a:p>
            <a:pPr algn="ctr"/>
            <a:r>
              <a:rPr lang="fr-FR" sz="2000" dirty="0">
                <a:solidFill>
                  <a:schemeClr val="bg1"/>
                </a:solidFill>
              </a:rPr>
              <a:t>1- Développement logiciel</a:t>
            </a:r>
          </a:p>
        </p:txBody>
      </p:sp>
    </p:spTree>
    <p:extLst>
      <p:ext uri="{BB962C8B-B14F-4D97-AF65-F5344CB8AC3E}">
        <p14:creationId xmlns:p14="http://schemas.microsoft.com/office/powerpoint/2010/main" val="11038395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4063042" y="2554514"/>
            <a:ext cx="8128958" cy="4303485"/>
          </a:xfrm>
        </p:spPr>
        <p:txBody>
          <a:bodyPr vert="horz" lIns="91440" tIns="45720" rIns="91440" bIns="45720" rtlCol="0">
            <a:normAutofit/>
          </a:bodyPr>
          <a:lstStyle/>
          <a:p>
            <a:pPr>
              <a:lnSpc>
                <a:spcPct val="100000"/>
              </a:lnSpc>
              <a:spcBef>
                <a:spcPts val="600"/>
              </a:spcBef>
            </a:pPr>
            <a:r>
              <a:rPr lang="fr-FR" sz="2000" dirty="0"/>
              <a:t>Les spécialisations en lien avec l’IoT sont proposées à partir de la 2e année du cycle ingénieur dans des écoles spécialisées robotique, </a:t>
            </a:r>
            <a:r>
              <a:rPr lang="fr-FR" sz="2000" dirty="0" err="1"/>
              <a:t>cobotique</a:t>
            </a:r>
            <a:r>
              <a:rPr lang="fr-FR" sz="2000" dirty="0"/>
              <a:t>, électronique, numérique et mécanique.</a:t>
            </a:r>
          </a:p>
          <a:p>
            <a:pPr>
              <a:lnSpc>
                <a:spcPct val="100000"/>
              </a:lnSpc>
              <a:spcBef>
                <a:spcPts val="600"/>
              </a:spcBef>
            </a:pPr>
            <a:r>
              <a:rPr lang="fr-FR" sz="2000" dirty="0"/>
              <a:t>Plusieurs universités (comme à Belfort, Sophia-Antipolis, Besançon) prévoient des masters dédiés</a:t>
            </a:r>
          </a:p>
        </p:txBody>
      </p:sp>
      <p:sp>
        <p:nvSpPr>
          <p:cNvPr id="8" name="Title 3"/>
          <p:cNvSpPr txBox="1">
            <a:spLocks/>
          </p:cNvSpPr>
          <p:nvPr/>
        </p:nvSpPr>
        <p:spPr>
          <a:xfrm>
            <a:off x="4063042" y="365125"/>
            <a:ext cx="8128958"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Ingénieur</a:t>
            </a:r>
            <a:r>
              <a:rPr lang="en-US" sz="3600" dirty="0"/>
              <a:t> IOT</a:t>
            </a:r>
            <a:br>
              <a:rPr lang="en-US" sz="3600" dirty="0"/>
            </a:br>
            <a:br>
              <a:rPr lang="en-US" sz="3600" dirty="0"/>
            </a:br>
            <a:r>
              <a:rPr lang="en-US" sz="3100" i="1" dirty="0" err="1">
                <a:effectLst>
                  <a:outerShdw blurRad="38100" dist="38100" dir="2700000" algn="tl">
                    <a:srgbClr val="000000">
                      <a:alpha val="43137"/>
                    </a:srgbClr>
                  </a:outerShdw>
                </a:effectLst>
              </a:rPr>
              <a:t>Profil</a:t>
            </a:r>
            <a:r>
              <a:rPr lang="en-US" sz="3100" i="1" dirty="0">
                <a:effectLst>
                  <a:outerShdw blurRad="38100" dist="38100" dir="2700000" algn="tl">
                    <a:srgbClr val="000000">
                      <a:alpha val="43137"/>
                    </a:srgbClr>
                  </a:outerShdw>
                </a:effectLst>
              </a:rPr>
              <a:t> du </a:t>
            </a:r>
            <a:r>
              <a:rPr lang="en-US" sz="3100" i="1" dirty="0" err="1">
                <a:effectLst>
                  <a:outerShdw blurRad="38100" dist="38100" dir="2700000" algn="tl">
                    <a:srgbClr val="000000">
                      <a:alpha val="43137"/>
                    </a:srgbClr>
                  </a:outerShdw>
                </a:effectLst>
              </a:rPr>
              <a:t>candidat</a:t>
            </a:r>
            <a:endParaRPr lang="en-US" sz="3100" i="1" dirty="0">
              <a:effectLst>
                <a:outerShdw blurRad="38100" dist="38100" dir="2700000" algn="tl">
                  <a:srgbClr val="000000">
                    <a:alpha val="43137"/>
                  </a:srgbClr>
                </a:outerShdw>
              </a:effectLst>
            </a:endParaRPr>
          </a:p>
        </p:txBody>
      </p:sp>
      <p:sp>
        <p:nvSpPr>
          <p:cNvPr id="9" name="ZoneTexte 8"/>
          <p:cNvSpPr txBox="1"/>
          <p:nvPr/>
        </p:nvSpPr>
        <p:spPr>
          <a:xfrm>
            <a:off x="397394" y="1367522"/>
            <a:ext cx="2490950" cy="707886"/>
          </a:xfrm>
          <a:prstGeom prst="rect">
            <a:avLst/>
          </a:prstGeom>
          <a:noFill/>
        </p:spPr>
        <p:txBody>
          <a:bodyPr wrap="square" rtlCol="0">
            <a:spAutoFit/>
          </a:bodyPr>
          <a:lstStyle/>
          <a:p>
            <a:pPr algn="ctr"/>
            <a:r>
              <a:rPr lang="fr-FR" sz="2000" dirty="0">
                <a:solidFill>
                  <a:schemeClr val="bg1"/>
                </a:solidFill>
              </a:rPr>
              <a:t>1- Développement logiciel</a:t>
            </a:r>
          </a:p>
        </p:txBody>
      </p:sp>
    </p:spTree>
    <p:extLst>
      <p:ext uri="{BB962C8B-B14F-4D97-AF65-F5344CB8AC3E}">
        <p14:creationId xmlns:p14="http://schemas.microsoft.com/office/powerpoint/2010/main" val="32061170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3874356" y="1930401"/>
            <a:ext cx="8317644" cy="4927600"/>
          </a:xfrm>
        </p:spPr>
        <p:txBody>
          <a:bodyPr>
            <a:noAutofit/>
          </a:bodyPr>
          <a:lstStyle/>
          <a:p>
            <a:pPr>
              <a:lnSpc>
                <a:spcPct val="100000"/>
              </a:lnSpc>
              <a:spcBef>
                <a:spcPts val="600"/>
              </a:spcBef>
            </a:pPr>
            <a:r>
              <a:rPr lang="fr-FR" sz="1600" dirty="0"/>
              <a:t>Les </a:t>
            </a:r>
            <a:r>
              <a:rPr lang="fr-FR" sz="1600" b="1" dirty="0"/>
              <a:t>architectes d'applications </a:t>
            </a:r>
            <a:r>
              <a:rPr lang="fr-FR" sz="1600" dirty="0"/>
              <a:t>est un ingénieur expérimenté </a:t>
            </a:r>
          </a:p>
          <a:p>
            <a:pPr>
              <a:lnSpc>
                <a:spcPct val="100000"/>
              </a:lnSpc>
              <a:spcBef>
                <a:spcPts val="600"/>
              </a:spcBef>
            </a:pPr>
            <a:r>
              <a:rPr lang="fr-FR" sz="1600" dirty="0"/>
              <a:t>Il a une vision globale du système à concevoir.</a:t>
            </a:r>
          </a:p>
          <a:p>
            <a:pPr>
              <a:lnSpc>
                <a:spcPct val="100000"/>
              </a:lnSpc>
              <a:spcBef>
                <a:spcPts val="600"/>
              </a:spcBef>
            </a:pPr>
            <a:r>
              <a:rPr lang="fr-FR" sz="1600" dirty="0"/>
              <a:t>Un architecte supervise les meilleures pratiques et les processus nécessaires au bon fonctionnement d'une entreprise pour fonctionner et réussir, agissant en tant que point de contact technique pour résoudre les problèmes d'application et de système - généralement sur une base immédiate.</a:t>
            </a:r>
          </a:p>
          <a:p>
            <a:pPr>
              <a:lnSpc>
                <a:spcPct val="100000"/>
              </a:lnSpc>
              <a:spcBef>
                <a:spcPts val="600"/>
              </a:spcBef>
            </a:pPr>
            <a:r>
              <a:rPr lang="fr-FR" sz="1600" dirty="0"/>
              <a:t>Nécessite de travailler au sein de différents services informatiques aux côtés de développeurs d'applications et d'ingénieurs logiciels et impliqué dans des tâches telles que:</a:t>
            </a:r>
          </a:p>
          <a:p>
            <a:pPr lvl="1">
              <a:lnSpc>
                <a:spcPct val="100000"/>
              </a:lnSpc>
              <a:spcBef>
                <a:spcPts val="600"/>
              </a:spcBef>
            </a:pPr>
            <a:r>
              <a:rPr lang="fr-FR" sz="1600" dirty="0"/>
              <a:t>Formation et accompagnement du personnel dans l'utilisation des applications</a:t>
            </a:r>
          </a:p>
          <a:p>
            <a:pPr lvl="1">
              <a:lnSpc>
                <a:spcPct val="100000"/>
              </a:lnSpc>
              <a:spcBef>
                <a:spcPts val="600"/>
              </a:spcBef>
            </a:pPr>
            <a:r>
              <a:rPr lang="fr-FR" sz="1600" dirty="0"/>
              <a:t>Analyse et diagnostic des erreurs d'application</a:t>
            </a:r>
          </a:p>
          <a:p>
            <a:pPr lvl="1">
              <a:lnSpc>
                <a:spcPct val="100000"/>
              </a:lnSpc>
              <a:spcBef>
                <a:spcPts val="600"/>
              </a:spcBef>
            </a:pPr>
            <a:r>
              <a:rPr lang="fr-FR" sz="1600" dirty="0"/>
              <a:t>Résolution des problèmes à la fois à long et à court terme</a:t>
            </a:r>
          </a:p>
          <a:p>
            <a:pPr lvl="1">
              <a:lnSpc>
                <a:spcPct val="100000"/>
              </a:lnSpc>
              <a:spcBef>
                <a:spcPts val="600"/>
              </a:spcBef>
            </a:pPr>
            <a:r>
              <a:rPr lang="fr-FR" sz="1600" dirty="0"/>
              <a:t>Conception et développement d'applications existantes et nouvelles</a:t>
            </a:r>
          </a:p>
          <a:p>
            <a:pPr>
              <a:lnSpc>
                <a:spcPct val="100000"/>
              </a:lnSpc>
              <a:spcBef>
                <a:spcPts val="600"/>
              </a:spcBef>
            </a:pPr>
            <a:r>
              <a:rPr lang="fr-FR" sz="1600" dirty="0"/>
              <a:t>Il échange avec les responsables/demandeurs que veulent de l’automatisation et une réduction des cout et les développeurs pour le développement des demandes.</a:t>
            </a:r>
          </a:p>
          <a:p>
            <a:pPr>
              <a:lnSpc>
                <a:spcPct val="100000"/>
              </a:lnSpc>
              <a:spcBef>
                <a:spcPts val="600"/>
              </a:spcBef>
            </a:pPr>
            <a:r>
              <a:rPr lang="fr-FR" sz="1600" dirty="0"/>
              <a:t>Il a souvent un implication dans le développement. Développer lui-même, suivre le travail des développeurs.</a:t>
            </a:r>
          </a:p>
        </p:txBody>
      </p:sp>
      <p:sp>
        <p:nvSpPr>
          <p:cNvPr id="7" name="ZoneTexte 6"/>
          <p:cNvSpPr txBox="1"/>
          <p:nvPr/>
        </p:nvSpPr>
        <p:spPr>
          <a:xfrm>
            <a:off x="397394" y="1367522"/>
            <a:ext cx="2490950" cy="707886"/>
          </a:xfrm>
          <a:prstGeom prst="rect">
            <a:avLst/>
          </a:prstGeom>
          <a:noFill/>
        </p:spPr>
        <p:txBody>
          <a:bodyPr wrap="square" rtlCol="0">
            <a:spAutoFit/>
          </a:bodyPr>
          <a:lstStyle/>
          <a:p>
            <a:pPr algn="ctr"/>
            <a:r>
              <a:rPr lang="fr-FR" sz="2000" dirty="0">
                <a:solidFill>
                  <a:schemeClr val="bg1"/>
                </a:solidFill>
              </a:rPr>
              <a:t>1- Développement logiciel</a:t>
            </a:r>
          </a:p>
        </p:txBody>
      </p:sp>
      <p:sp>
        <p:nvSpPr>
          <p:cNvPr id="8" name="Title 3"/>
          <p:cNvSpPr txBox="1">
            <a:spLocks/>
          </p:cNvSpPr>
          <p:nvPr/>
        </p:nvSpPr>
        <p:spPr>
          <a:xfrm>
            <a:off x="4063042" y="365125"/>
            <a:ext cx="8128958"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Architecte</a:t>
            </a:r>
            <a:r>
              <a:rPr lang="en-US" sz="3600" dirty="0"/>
              <a:t> </a:t>
            </a:r>
            <a:r>
              <a:rPr lang="en-US" sz="3600" dirty="0" err="1"/>
              <a:t>logiciel</a:t>
            </a:r>
            <a:br>
              <a:rPr lang="en-US" sz="3600" dirty="0"/>
            </a:br>
            <a:br>
              <a:rPr lang="en-US" sz="3600" dirty="0"/>
            </a:br>
            <a:r>
              <a:rPr lang="en-US" sz="3100" i="1" dirty="0" err="1">
                <a:effectLst>
                  <a:outerShdw blurRad="38100" dist="38100" dir="2700000" algn="tl">
                    <a:srgbClr val="000000">
                      <a:alpha val="43137"/>
                    </a:srgbClr>
                  </a:outerShdw>
                </a:effectLst>
              </a:rPr>
              <a:t>Définition</a:t>
            </a:r>
            <a:r>
              <a:rPr lang="en-US" sz="3100" i="1" dirty="0">
                <a:effectLst>
                  <a:outerShdw blurRad="38100" dist="38100" dir="2700000" algn="tl">
                    <a:srgbClr val="000000">
                      <a:alpha val="43137"/>
                    </a:srgbClr>
                  </a:outerShdw>
                </a:effectLst>
              </a:rPr>
              <a:t> du </a:t>
            </a:r>
            <a:r>
              <a:rPr lang="en-US" sz="3100" i="1" dirty="0" err="1">
                <a:effectLst>
                  <a:outerShdw blurRad="38100" dist="38100" dir="2700000" algn="tl">
                    <a:srgbClr val="000000">
                      <a:alpha val="43137"/>
                    </a:srgbClr>
                  </a:outerShdw>
                </a:effectLst>
              </a:rPr>
              <a:t>rôle</a:t>
            </a:r>
            <a:r>
              <a:rPr lang="en-US" sz="3100" i="1" dirty="0">
                <a:effectLst>
                  <a:outerShdw blurRad="38100" dist="38100" dir="2700000" algn="tl">
                    <a:srgbClr val="000000">
                      <a:alpha val="43137"/>
                    </a:srgbClr>
                  </a:outerShdw>
                </a:effectLst>
              </a:rPr>
              <a:t> et des missions </a:t>
            </a:r>
          </a:p>
        </p:txBody>
      </p:sp>
    </p:spTree>
    <p:extLst>
      <p:ext uri="{BB962C8B-B14F-4D97-AF65-F5344CB8AC3E}">
        <p14:creationId xmlns:p14="http://schemas.microsoft.com/office/powerpoint/2010/main" val="13984044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3700184" y="2055813"/>
            <a:ext cx="8491816" cy="4802187"/>
          </a:xfrm>
        </p:spPr>
        <p:txBody>
          <a:bodyPr>
            <a:normAutofit fontScale="40000" lnSpcReduction="20000"/>
          </a:bodyPr>
          <a:lstStyle/>
          <a:p>
            <a:r>
              <a:rPr lang="fr-FR" sz="4800" dirty="0"/>
              <a:t>Identifier le besoin organisationnel de nouvelles applications.</a:t>
            </a:r>
          </a:p>
          <a:p>
            <a:r>
              <a:rPr lang="fr-FR" sz="4800" dirty="0"/>
              <a:t>Participer aux sprints Agile pour orienter les développements</a:t>
            </a:r>
          </a:p>
          <a:p>
            <a:r>
              <a:rPr lang="fr-FR" sz="4800" dirty="0"/>
              <a:t>Préparer une spécification technique comme feuille de route pour les logiciels.</a:t>
            </a:r>
          </a:p>
          <a:p>
            <a:r>
              <a:rPr lang="fr-FR" sz="4800" dirty="0"/>
              <a:t>Fournir des instructions et une formation au personnel si nécessaire.</a:t>
            </a:r>
          </a:p>
          <a:p>
            <a:r>
              <a:rPr lang="fr-FR" sz="4800" dirty="0"/>
              <a:t>Surveiller, enregistrer et répondre aux demandes d'assistance.</a:t>
            </a:r>
          </a:p>
          <a:p>
            <a:r>
              <a:rPr lang="fr-FR" sz="4800" dirty="0"/>
              <a:t>Analysez les tendances d'erreur visant à réduire ou minimiser les temps d'arrêt.</a:t>
            </a:r>
          </a:p>
          <a:p>
            <a:r>
              <a:rPr lang="fr-FR" sz="4800" dirty="0"/>
              <a:t>Communiquez rapidement les messages concernant les problèmes de système aux utilisateurs.</a:t>
            </a:r>
          </a:p>
          <a:p>
            <a:r>
              <a:rPr lang="fr-FR" sz="4800" dirty="0"/>
              <a:t>Assurer la liaison avec les fournisseurs de logiciels pour répondre aux exigences de l'organisation.</a:t>
            </a:r>
          </a:p>
          <a:p>
            <a:r>
              <a:rPr lang="fr-FR" sz="4800" dirty="0"/>
              <a:t>Planifier des tests réguliers pour améliorer les systèmes et applications actuels.</a:t>
            </a:r>
          </a:p>
          <a:p>
            <a:r>
              <a:rPr lang="fr-FR" sz="4800" dirty="0"/>
              <a:t>Identifier les changements de fonctionnalité.</a:t>
            </a:r>
          </a:p>
          <a:p>
            <a:r>
              <a:rPr lang="fr-FR" sz="4800" dirty="0"/>
              <a:t>Participer régulièrement à des réunions internes et externes pour faire le point sur l'avancement de votre tâche et présenter aux utilisateurs les solutions applicatives que vous proposez. </a:t>
            </a:r>
          </a:p>
        </p:txBody>
      </p:sp>
      <p:sp>
        <p:nvSpPr>
          <p:cNvPr id="7" name="Title 3"/>
          <p:cNvSpPr txBox="1">
            <a:spLocks/>
          </p:cNvSpPr>
          <p:nvPr/>
        </p:nvSpPr>
        <p:spPr>
          <a:xfrm>
            <a:off x="4063042" y="365125"/>
            <a:ext cx="8128958"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Architecte</a:t>
            </a:r>
            <a:r>
              <a:rPr lang="en-US" sz="3600" dirty="0"/>
              <a:t> </a:t>
            </a:r>
            <a:r>
              <a:rPr lang="en-US" sz="3600" dirty="0" err="1"/>
              <a:t>logiciel</a:t>
            </a:r>
            <a:br>
              <a:rPr lang="en-US" sz="3600" dirty="0"/>
            </a:br>
            <a:br>
              <a:rPr lang="en-US" sz="3600" dirty="0"/>
            </a:br>
            <a:r>
              <a:rPr lang="en-US" sz="3100" i="1" dirty="0" err="1">
                <a:effectLst>
                  <a:outerShdw blurRad="38100" dist="38100" dir="2700000" algn="tl">
                    <a:srgbClr val="000000">
                      <a:alpha val="43137"/>
                    </a:srgbClr>
                  </a:outerShdw>
                </a:effectLst>
              </a:rPr>
              <a:t>Définition</a:t>
            </a:r>
            <a:r>
              <a:rPr lang="en-US" sz="3100" i="1" dirty="0">
                <a:effectLst>
                  <a:outerShdw blurRad="38100" dist="38100" dir="2700000" algn="tl">
                    <a:srgbClr val="000000">
                      <a:alpha val="43137"/>
                    </a:srgbClr>
                  </a:outerShdw>
                </a:effectLst>
              </a:rPr>
              <a:t> du </a:t>
            </a:r>
            <a:r>
              <a:rPr lang="en-US" sz="3100" i="1" dirty="0" err="1">
                <a:effectLst>
                  <a:outerShdw blurRad="38100" dist="38100" dir="2700000" algn="tl">
                    <a:srgbClr val="000000">
                      <a:alpha val="43137"/>
                    </a:srgbClr>
                  </a:outerShdw>
                </a:effectLst>
              </a:rPr>
              <a:t>rôle</a:t>
            </a:r>
            <a:r>
              <a:rPr lang="en-US" sz="3100" i="1" dirty="0">
                <a:effectLst>
                  <a:outerShdw blurRad="38100" dist="38100" dir="2700000" algn="tl">
                    <a:srgbClr val="000000">
                      <a:alpha val="43137"/>
                    </a:srgbClr>
                  </a:outerShdw>
                </a:effectLst>
              </a:rPr>
              <a:t> et des missions (suite) </a:t>
            </a:r>
          </a:p>
        </p:txBody>
      </p:sp>
      <p:sp>
        <p:nvSpPr>
          <p:cNvPr id="8" name="ZoneTexte 7"/>
          <p:cNvSpPr txBox="1"/>
          <p:nvPr/>
        </p:nvSpPr>
        <p:spPr>
          <a:xfrm>
            <a:off x="397394" y="1367522"/>
            <a:ext cx="2490950" cy="707886"/>
          </a:xfrm>
          <a:prstGeom prst="rect">
            <a:avLst/>
          </a:prstGeom>
          <a:noFill/>
        </p:spPr>
        <p:txBody>
          <a:bodyPr wrap="square" rtlCol="0">
            <a:spAutoFit/>
          </a:bodyPr>
          <a:lstStyle/>
          <a:p>
            <a:pPr algn="ctr"/>
            <a:r>
              <a:rPr lang="fr-FR" sz="2000" dirty="0">
                <a:solidFill>
                  <a:schemeClr val="bg1"/>
                </a:solidFill>
              </a:rPr>
              <a:t>1- Développement logiciel</a:t>
            </a:r>
          </a:p>
        </p:txBody>
      </p:sp>
    </p:spTree>
    <p:extLst>
      <p:ext uri="{BB962C8B-B14F-4D97-AF65-F5344CB8AC3E}">
        <p14:creationId xmlns:p14="http://schemas.microsoft.com/office/powerpoint/2010/main" val="13984044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4063042" y="2075408"/>
            <a:ext cx="8128958" cy="4782591"/>
          </a:xfrm>
        </p:spPr>
        <p:txBody>
          <a:bodyPr vert="horz" lIns="91440" tIns="45720" rIns="91440" bIns="45720" rtlCol="0">
            <a:normAutofit/>
          </a:bodyPr>
          <a:lstStyle/>
          <a:p>
            <a:pPr>
              <a:lnSpc>
                <a:spcPct val="100000"/>
              </a:lnSpc>
              <a:spcBef>
                <a:spcPts val="600"/>
              </a:spcBef>
            </a:pPr>
            <a:r>
              <a:rPr lang="fr-FR" sz="2000" dirty="0"/>
              <a:t>Maitrise parfaite des systèmes d’exploitation (Windows, OS, Linux) ;</a:t>
            </a:r>
          </a:p>
          <a:p>
            <a:pPr>
              <a:lnSpc>
                <a:spcPct val="100000"/>
              </a:lnSpc>
              <a:spcBef>
                <a:spcPts val="600"/>
              </a:spcBef>
            </a:pPr>
            <a:r>
              <a:rPr lang="fr-FR" sz="2000" dirty="0"/>
              <a:t>Maitrise des langages programmatiques (C+, SQL, Java, Python, PHP, R) ;</a:t>
            </a:r>
          </a:p>
          <a:p>
            <a:pPr>
              <a:lnSpc>
                <a:spcPct val="100000"/>
              </a:lnSpc>
              <a:spcBef>
                <a:spcPts val="600"/>
              </a:spcBef>
            </a:pPr>
            <a:r>
              <a:rPr lang="fr-FR" sz="2000" dirty="0"/>
              <a:t>Connaissance des différentes normes de sécurité ;</a:t>
            </a:r>
          </a:p>
          <a:p>
            <a:pPr>
              <a:lnSpc>
                <a:spcPct val="100000"/>
              </a:lnSpc>
              <a:spcBef>
                <a:spcPts val="600"/>
              </a:spcBef>
            </a:pPr>
            <a:r>
              <a:rPr lang="fr-FR" sz="2000" dirty="0"/>
              <a:t>Connaissance des protocoles réseaux ;</a:t>
            </a:r>
          </a:p>
          <a:p>
            <a:pPr>
              <a:lnSpc>
                <a:spcPct val="100000"/>
              </a:lnSpc>
              <a:spcBef>
                <a:spcPts val="600"/>
              </a:spcBef>
            </a:pPr>
            <a:r>
              <a:rPr lang="fr-FR" sz="2000" dirty="0"/>
              <a:t>Maitrise de l’anglais technique ;</a:t>
            </a:r>
          </a:p>
          <a:p>
            <a:pPr>
              <a:lnSpc>
                <a:spcPct val="100000"/>
              </a:lnSpc>
              <a:spcBef>
                <a:spcPts val="600"/>
              </a:spcBef>
            </a:pPr>
            <a:r>
              <a:rPr lang="fr-FR" sz="2000" dirty="0"/>
              <a:t>Maitrise de la gestion de projets techniques.</a:t>
            </a:r>
          </a:p>
        </p:txBody>
      </p:sp>
      <p:sp>
        <p:nvSpPr>
          <p:cNvPr id="8" name="Title 3"/>
          <p:cNvSpPr txBox="1">
            <a:spLocks/>
          </p:cNvSpPr>
          <p:nvPr/>
        </p:nvSpPr>
        <p:spPr>
          <a:xfrm>
            <a:off x="4063042" y="365125"/>
            <a:ext cx="8128958"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Architecte</a:t>
            </a:r>
            <a:r>
              <a:rPr lang="en-US" sz="3600" dirty="0"/>
              <a:t> </a:t>
            </a:r>
            <a:r>
              <a:rPr lang="en-US" sz="3600" dirty="0" err="1"/>
              <a:t>logiciel</a:t>
            </a:r>
            <a:br>
              <a:rPr lang="en-US" sz="3600" dirty="0"/>
            </a:br>
            <a:br>
              <a:rPr lang="en-US" sz="3600" dirty="0"/>
            </a:br>
            <a:r>
              <a:rPr lang="en-US" sz="3100" i="1" dirty="0" err="1">
                <a:effectLst>
                  <a:outerShdw blurRad="38100" dist="38100" dir="2700000" algn="tl">
                    <a:srgbClr val="000000">
                      <a:alpha val="43137"/>
                    </a:srgbClr>
                  </a:outerShdw>
                </a:effectLst>
              </a:rPr>
              <a:t>Compétences</a:t>
            </a:r>
            <a:r>
              <a:rPr lang="en-US" sz="3100" i="1" dirty="0">
                <a:effectLst>
                  <a:outerShdw blurRad="38100" dist="38100" dir="2700000" algn="tl">
                    <a:srgbClr val="000000">
                      <a:alpha val="43137"/>
                    </a:srgbClr>
                  </a:outerShdw>
                </a:effectLst>
              </a:rPr>
              <a:t> techniques</a:t>
            </a:r>
          </a:p>
        </p:txBody>
      </p:sp>
      <p:sp>
        <p:nvSpPr>
          <p:cNvPr id="9" name="ZoneTexte 8"/>
          <p:cNvSpPr txBox="1"/>
          <p:nvPr/>
        </p:nvSpPr>
        <p:spPr>
          <a:xfrm>
            <a:off x="397394" y="1367522"/>
            <a:ext cx="2490950" cy="707886"/>
          </a:xfrm>
          <a:prstGeom prst="rect">
            <a:avLst/>
          </a:prstGeom>
          <a:noFill/>
        </p:spPr>
        <p:txBody>
          <a:bodyPr wrap="square" rtlCol="0">
            <a:spAutoFit/>
          </a:bodyPr>
          <a:lstStyle/>
          <a:p>
            <a:pPr algn="ctr"/>
            <a:r>
              <a:rPr lang="fr-FR" sz="2000" dirty="0">
                <a:solidFill>
                  <a:schemeClr val="bg1"/>
                </a:solidFill>
              </a:rPr>
              <a:t>1- Développement logiciel</a:t>
            </a:r>
          </a:p>
        </p:txBody>
      </p:sp>
    </p:spTree>
    <p:extLst>
      <p:ext uri="{BB962C8B-B14F-4D97-AF65-F5344CB8AC3E}">
        <p14:creationId xmlns:p14="http://schemas.microsoft.com/office/powerpoint/2010/main" val="1308512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4063042" y="2554514"/>
            <a:ext cx="8128958" cy="4303485"/>
          </a:xfrm>
        </p:spPr>
        <p:txBody>
          <a:bodyPr vert="horz" lIns="91440" tIns="45720" rIns="91440" bIns="45720" rtlCol="0">
            <a:normAutofit/>
          </a:bodyPr>
          <a:lstStyle/>
          <a:p>
            <a:pPr>
              <a:lnSpc>
                <a:spcPct val="100000"/>
              </a:lnSpc>
              <a:spcBef>
                <a:spcPts val="600"/>
              </a:spcBef>
            </a:pPr>
            <a:r>
              <a:rPr lang="fr-FR" sz="2000" dirty="0"/>
              <a:t>Expérience d’informaticiens confirmés complétée idéalement par une formation spécialisée d’architecte logiciel</a:t>
            </a:r>
          </a:p>
        </p:txBody>
      </p:sp>
      <p:sp>
        <p:nvSpPr>
          <p:cNvPr id="8" name="Title 3"/>
          <p:cNvSpPr txBox="1">
            <a:spLocks/>
          </p:cNvSpPr>
          <p:nvPr/>
        </p:nvSpPr>
        <p:spPr>
          <a:xfrm>
            <a:off x="4063042" y="365125"/>
            <a:ext cx="8128958"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Architecte</a:t>
            </a:r>
            <a:r>
              <a:rPr lang="en-US" sz="3600" dirty="0"/>
              <a:t> </a:t>
            </a:r>
            <a:r>
              <a:rPr lang="en-US" sz="3600" dirty="0" err="1"/>
              <a:t>logiciel</a:t>
            </a:r>
            <a:br>
              <a:rPr lang="en-US" sz="3600" dirty="0"/>
            </a:br>
            <a:br>
              <a:rPr lang="en-US" sz="3600" dirty="0"/>
            </a:br>
            <a:r>
              <a:rPr lang="en-US" sz="3100" i="1" dirty="0" err="1">
                <a:effectLst>
                  <a:outerShdw blurRad="38100" dist="38100" dir="2700000" algn="tl">
                    <a:srgbClr val="000000">
                      <a:alpha val="43137"/>
                    </a:srgbClr>
                  </a:outerShdw>
                </a:effectLst>
              </a:rPr>
              <a:t>Profil</a:t>
            </a:r>
            <a:r>
              <a:rPr lang="en-US" sz="3100" i="1" dirty="0">
                <a:effectLst>
                  <a:outerShdw blurRad="38100" dist="38100" dir="2700000" algn="tl">
                    <a:srgbClr val="000000">
                      <a:alpha val="43137"/>
                    </a:srgbClr>
                  </a:outerShdw>
                </a:effectLst>
              </a:rPr>
              <a:t> du </a:t>
            </a:r>
            <a:r>
              <a:rPr lang="en-US" sz="3100" i="1" dirty="0" err="1">
                <a:effectLst>
                  <a:outerShdw blurRad="38100" dist="38100" dir="2700000" algn="tl">
                    <a:srgbClr val="000000">
                      <a:alpha val="43137"/>
                    </a:srgbClr>
                  </a:outerShdw>
                </a:effectLst>
              </a:rPr>
              <a:t>candidat</a:t>
            </a:r>
            <a:endParaRPr lang="en-US" sz="3100" i="1" dirty="0">
              <a:effectLst>
                <a:outerShdw blurRad="38100" dist="38100" dir="2700000" algn="tl">
                  <a:srgbClr val="000000">
                    <a:alpha val="43137"/>
                  </a:srgbClr>
                </a:outerShdw>
              </a:effectLst>
            </a:endParaRPr>
          </a:p>
        </p:txBody>
      </p:sp>
      <p:sp>
        <p:nvSpPr>
          <p:cNvPr id="9" name="ZoneTexte 8"/>
          <p:cNvSpPr txBox="1"/>
          <p:nvPr/>
        </p:nvSpPr>
        <p:spPr>
          <a:xfrm>
            <a:off x="397394" y="1367522"/>
            <a:ext cx="2490950" cy="707886"/>
          </a:xfrm>
          <a:prstGeom prst="rect">
            <a:avLst/>
          </a:prstGeom>
          <a:noFill/>
        </p:spPr>
        <p:txBody>
          <a:bodyPr wrap="square" rtlCol="0">
            <a:spAutoFit/>
          </a:bodyPr>
          <a:lstStyle/>
          <a:p>
            <a:pPr algn="ctr"/>
            <a:r>
              <a:rPr lang="fr-FR" sz="2000" dirty="0">
                <a:solidFill>
                  <a:schemeClr val="bg1"/>
                </a:solidFill>
              </a:rPr>
              <a:t>1- Développement logiciel</a:t>
            </a:r>
          </a:p>
        </p:txBody>
      </p:sp>
    </p:spTree>
    <p:extLst>
      <p:ext uri="{BB962C8B-B14F-4D97-AF65-F5344CB8AC3E}">
        <p14:creationId xmlns:p14="http://schemas.microsoft.com/office/powerpoint/2010/main" val="28694184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3730171" y="2235199"/>
            <a:ext cx="8461829" cy="3941763"/>
          </a:xfrm>
        </p:spPr>
        <p:txBody>
          <a:bodyPr>
            <a:normAutofit/>
          </a:bodyPr>
          <a:lstStyle/>
          <a:p>
            <a:r>
              <a:rPr lang="fr-FR" sz="2400" dirty="0"/>
              <a:t>La tâche du Data Analyst consiste à traiter les différentes données concernant les clients, les produits ou les performances de l’entreprise afin de dégager des indicateurs utiles aux décideurs. C’est un poste clé du Big Data.</a:t>
            </a:r>
          </a:p>
          <a:p>
            <a:endParaRPr lang="fr-FR" sz="2400" dirty="0"/>
          </a:p>
          <a:p>
            <a:r>
              <a:rPr lang="fr-FR" sz="2400" dirty="0"/>
              <a:t>Un Data scientist, quant à lui, est responsable de l'analyse et de l'interprétation de très grandes quantités de données et est capable d'effectuer une analyse prédictive basée sur des modèles passés. </a:t>
            </a:r>
            <a:endParaRPr lang="en-US" sz="2400" dirty="0"/>
          </a:p>
        </p:txBody>
      </p:sp>
      <p:sp>
        <p:nvSpPr>
          <p:cNvPr id="7" name="ZoneTexte 6"/>
          <p:cNvSpPr txBox="1"/>
          <p:nvPr/>
        </p:nvSpPr>
        <p:spPr>
          <a:xfrm>
            <a:off x="397394" y="1367522"/>
            <a:ext cx="2490950" cy="707886"/>
          </a:xfrm>
          <a:prstGeom prst="rect">
            <a:avLst/>
          </a:prstGeom>
          <a:noFill/>
        </p:spPr>
        <p:txBody>
          <a:bodyPr wrap="square" rtlCol="0">
            <a:spAutoFit/>
          </a:bodyPr>
          <a:lstStyle/>
          <a:p>
            <a:pPr algn="ctr"/>
            <a:r>
              <a:rPr lang="fr-FR" sz="2000" dirty="0">
                <a:solidFill>
                  <a:schemeClr val="bg1"/>
                </a:solidFill>
              </a:rPr>
              <a:t>1- Développement logiciel</a:t>
            </a:r>
          </a:p>
        </p:txBody>
      </p:sp>
      <p:sp>
        <p:nvSpPr>
          <p:cNvPr id="9" name="Title 3"/>
          <p:cNvSpPr txBox="1">
            <a:spLocks/>
          </p:cNvSpPr>
          <p:nvPr/>
        </p:nvSpPr>
        <p:spPr>
          <a:xfrm>
            <a:off x="4063042" y="365125"/>
            <a:ext cx="4892272"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t>Data Analyst/Scientist</a:t>
            </a:r>
            <a:br>
              <a:rPr lang="en-US" sz="3600" dirty="0"/>
            </a:br>
            <a:br>
              <a:rPr lang="en-US" sz="3600" dirty="0"/>
            </a:br>
            <a:r>
              <a:rPr lang="en-US" sz="3100" i="1" dirty="0" err="1">
                <a:effectLst>
                  <a:outerShdw blurRad="38100" dist="38100" dir="2700000" algn="tl">
                    <a:srgbClr val="000000">
                      <a:alpha val="43137"/>
                    </a:srgbClr>
                  </a:outerShdw>
                </a:effectLst>
              </a:rPr>
              <a:t>Définition</a:t>
            </a:r>
            <a:r>
              <a:rPr lang="en-US" sz="3100" i="1" dirty="0">
                <a:effectLst>
                  <a:outerShdw blurRad="38100" dist="38100" dir="2700000" algn="tl">
                    <a:srgbClr val="000000">
                      <a:alpha val="43137"/>
                    </a:srgbClr>
                  </a:outerShdw>
                </a:effectLst>
              </a:rPr>
              <a:t> du </a:t>
            </a:r>
            <a:r>
              <a:rPr lang="en-US" sz="3100" i="1" dirty="0" err="1">
                <a:effectLst>
                  <a:outerShdw blurRad="38100" dist="38100" dir="2700000" algn="tl">
                    <a:srgbClr val="000000">
                      <a:alpha val="43137"/>
                    </a:srgbClr>
                  </a:outerShdw>
                </a:effectLst>
              </a:rPr>
              <a:t>rôle</a:t>
            </a:r>
            <a:r>
              <a:rPr lang="en-US" sz="3100" i="1" dirty="0">
                <a:effectLst>
                  <a:outerShdw blurRad="38100" dist="38100" dir="2700000" algn="tl">
                    <a:srgbClr val="000000">
                      <a:alpha val="43137"/>
                    </a:srgbClr>
                  </a:outerShdw>
                </a:effectLst>
              </a:rPr>
              <a:t> et des missions</a:t>
            </a:r>
          </a:p>
        </p:txBody>
      </p:sp>
    </p:spTree>
    <p:extLst>
      <p:ext uri="{BB962C8B-B14F-4D97-AF65-F5344CB8AC3E}">
        <p14:creationId xmlns:p14="http://schemas.microsoft.com/office/powerpoint/2010/main" val="13984044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3846286" y="1825624"/>
            <a:ext cx="8345714" cy="5032375"/>
          </a:xfrm>
        </p:spPr>
        <p:txBody>
          <a:bodyPr>
            <a:normAutofit fontScale="62500" lnSpcReduction="20000"/>
          </a:bodyPr>
          <a:lstStyle/>
          <a:p>
            <a:r>
              <a:rPr lang="fr-FR" dirty="0"/>
              <a:t>Élaborer des processus et des politiques de gestion des documents.</a:t>
            </a:r>
          </a:p>
          <a:p>
            <a:r>
              <a:rPr lang="fr-FR" dirty="0"/>
              <a:t>Identifier les domaines pour augmenter l'efficacité et l'automatisation des processus.</a:t>
            </a:r>
          </a:p>
          <a:p>
            <a:r>
              <a:rPr lang="fr-FR" dirty="0"/>
              <a:t>Mettre en place et maintenir des processus de données automatisés.</a:t>
            </a:r>
          </a:p>
          <a:p>
            <a:r>
              <a:rPr lang="fr-FR" dirty="0"/>
              <a:t>Identifier, évaluer et mettre en œuvre des services et des outils externes pour soutenir la validation et le nettoyage des données.</a:t>
            </a:r>
          </a:p>
          <a:p>
            <a:r>
              <a:rPr lang="fr-FR" dirty="0"/>
              <a:t>Produire et suivre des indicateurs de performance clés.</a:t>
            </a:r>
          </a:p>
          <a:p>
            <a:r>
              <a:rPr lang="fr-FR" dirty="0"/>
              <a:t>Développer et soutenir les processus de reporting.</a:t>
            </a:r>
          </a:p>
          <a:p>
            <a:r>
              <a:rPr lang="fr-FR" dirty="0"/>
              <a:t>Surveiller et auditer la qualité des données.</a:t>
            </a:r>
          </a:p>
          <a:p>
            <a:r>
              <a:rPr lang="fr-FR" dirty="0"/>
              <a:t>Rassembler, comprendre et documenter les exigences commerciales détaillées à l'aide des outils et techniques appropriés.</a:t>
            </a:r>
          </a:p>
          <a:p>
            <a:r>
              <a:rPr lang="fr-FR" dirty="0"/>
              <a:t>Concevoir et réaliser des enquêtes et analyser les données d'enquête.</a:t>
            </a:r>
          </a:p>
          <a:p>
            <a:r>
              <a:rPr lang="fr-FR" dirty="0"/>
              <a:t>Créer des tableaux de bord de données, des graphiques et des visualisations.</a:t>
            </a:r>
          </a:p>
          <a:p>
            <a:r>
              <a:rPr lang="fr-FR" dirty="0"/>
              <a:t>Fournir une analyse comparative des secteurs et des concurrents.</a:t>
            </a:r>
          </a:p>
          <a:p>
            <a:r>
              <a:rPr lang="fr-FR" dirty="0"/>
              <a:t>Exploiter et analyser de grands ensembles de données, tirer des inférences valides et les présenter avec succès à la direction à l'aide d'un outil de reporting.</a:t>
            </a:r>
            <a:endParaRPr lang="en-US" dirty="0"/>
          </a:p>
        </p:txBody>
      </p:sp>
      <p:sp>
        <p:nvSpPr>
          <p:cNvPr id="7" name="ZoneTexte 6"/>
          <p:cNvSpPr txBox="1"/>
          <p:nvPr/>
        </p:nvSpPr>
        <p:spPr>
          <a:xfrm>
            <a:off x="397394" y="1367522"/>
            <a:ext cx="2490950" cy="707886"/>
          </a:xfrm>
          <a:prstGeom prst="rect">
            <a:avLst/>
          </a:prstGeom>
          <a:noFill/>
        </p:spPr>
        <p:txBody>
          <a:bodyPr wrap="square" rtlCol="0">
            <a:spAutoFit/>
          </a:bodyPr>
          <a:lstStyle/>
          <a:p>
            <a:pPr algn="ctr"/>
            <a:r>
              <a:rPr lang="fr-FR" sz="2000" dirty="0">
                <a:solidFill>
                  <a:schemeClr val="bg1"/>
                </a:solidFill>
              </a:rPr>
              <a:t>1- Développement logiciel</a:t>
            </a:r>
          </a:p>
        </p:txBody>
      </p:sp>
      <p:sp>
        <p:nvSpPr>
          <p:cNvPr id="9" name="Title 3"/>
          <p:cNvSpPr txBox="1">
            <a:spLocks/>
          </p:cNvSpPr>
          <p:nvPr/>
        </p:nvSpPr>
        <p:spPr>
          <a:xfrm>
            <a:off x="4063042" y="365125"/>
            <a:ext cx="8128958"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t>Data Analyst/Scientist</a:t>
            </a:r>
            <a:br>
              <a:rPr lang="en-US" sz="3600" dirty="0"/>
            </a:br>
            <a:br>
              <a:rPr lang="en-US" sz="3600" dirty="0"/>
            </a:br>
            <a:r>
              <a:rPr lang="en-US" sz="3100" i="1" dirty="0" err="1">
                <a:effectLst>
                  <a:outerShdw blurRad="38100" dist="38100" dir="2700000" algn="tl">
                    <a:srgbClr val="000000">
                      <a:alpha val="43137"/>
                    </a:srgbClr>
                  </a:outerShdw>
                </a:effectLst>
              </a:rPr>
              <a:t>Définition</a:t>
            </a:r>
            <a:r>
              <a:rPr lang="en-US" sz="3100" i="1" dirty="0">
                <a:effectLst>
                  <a:outerShdw blurRad="38100" dist="38100" dir="2700000" algn="tl">
                    <a:srgbClr val="000000">
                      <a:alpha val="43137"/>
                    </a:srgbClr>
                  </a:outerShdw>
                </a:effectLst>
              </a:rPr>
              <a:t> du </a:t>
            </a:r>
            <a:r>
              <a:rPr lang="en-US" sz="3100" i="1" dirty="0" err="1">
                <a:effectLst>
                  <a:outerShdw blurRad="38100" dist="38100" dir="2700000" algn="tl">
                    <a:srgbClr val="000000">
                      <a:alpha val="43137"/>
                    </a:srgbClr>
                  </a:outerShdw>
                </a:effectLst>
              </a:rPr>
              <a:t>rôle</a:t>
            </a:r>
            <a:r>
              <a:rPr lang="en-US" sz="3100" i="1" dirty="0">
                <a:effectLst>
                  <a:outerShdw blurRad="38100" dist="38100" dir="2700000" algn="tl">
                    <a:srgbClr val="000000">
                      <a:alpha val="43137"/>
                    </a:srgbClr>
                  </a:outerShdw>
                </a:effectLst>
              </a:rPr>
              <a:t> et des missions (suite) </a:t>
            </a:r>
          </a:p>
        </p:txBody>
      </p:sp>
    </p:spTree>
    <p:extLst>
      <p:ext uri="{BB962C8B-B14F-4D97-AF65-F5344CB8AC3E}">
        <p14:creationId xmlns:p14="http://schemas.microsoft.com/office/powerpoint/2010/main" val="13984044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3846286" y="2055814"/>
            <a:ext cx="8345714" cy="4802186"/>
          </a:xfrm>
        </p:spPr>
        <p:txBody>
          <a:bodyPr>
            <a:normAutofit fontScale="92500" lnSpcReduction="20000"/>
          </a:bodyPr>
          <a:lstStyle/>
          <a:p>
            <a:r>
              <a:rPr lang="fr-FR" sz="2400" dirty="0"/>
              <a:t>Connaissance Hadoop et/ou Spark</a:t>
            </a:r>
          </a:p>
          <a:p>
            <a:r>
              <a:rPr lang="fr-FR" sz="2400" dirty="0"/>
              <a:t>Connaissance des langages informatiques</a:t>
            </a:r>
          </a:p>
          <a:p>
            <a:r>
              <a:rPr lang="fr-FR" sz="2400" dirty="0"/>
              <a:t>Connaissance des outils et méthodes statistiques</a:t>
            </a:r>
          </a:p>
          <a:p>
            <a:endParaRPr lang="fr-FR" sz="2400" dirty="0"/>
          </a:p>
          <a:p>
            <a:r>
              <a:rPr lang="fr-FR" sz="2400" dirty="0"/>
              <a:t>A la connaissance de l'activité et du fonctionnement de l'entreprise ou de l'organisation qui l'emploie.</a:t>
            </a:r>
          </a:p>
          <a:p>
            <a:r>
              <a:rPr lang="fr-FR" sz="2400" dirty="0"/>
              <a:t>Il est à l'aise avec les techniques du data </a:t>
            </a:r>
            <a:r>
              <a:rPr lang="fr-FR" sz="2400" dirty="0" err="1"/>
              <a:t>mining</a:t>
            </a:r>
            <a:r>
              <a:rPr lang="fr-FR" sz="2400" dirty="0"/>
              <a:t> (exploration des données), les outils mathématiques statistiques et informatiques (IA).</a:t>
            </a:r>
          </a:p>
          <a:p>
            <a:r>
              <a:rPr lang="fr-FR" sz="2400" dirty="0"/>
              <a:t>Il maîtrise les méthodes et normes de conception.</a:t>
            </a:r>
          </a:p>
          <a:p>
            <a:r>
              <a:rPr lang="fr-FR" sz="2400" dirty="0"/>
              <a:t>Il a la connaissance des systèmes de gestion de bases de données relationnelles ou non capables de gérer de grosses quantités de données.</a:t>
            </a:r>
          </a:p>
          <a:p>
            <a:r>
              <a:rPr lang="fr-FR" sz="2400" dirty="0"/>
              <a:t>Le data </a:t>
            </a:r>
            <a:r>
              <a:rPr lang="fr-FR" sz="2400" dirty="0" err="1"/>
              <a:t>scientist</a:t>
            </a:r>
            <a:r>
              <a:rPr lang="fr-FR" sz="2400" dirty="0"/>
              <a:t> a un bon sens du business et s'intéresse aux techniques de marketing</a:t>
            </a:r>
          </a:p>
          <a:p>
            <a:endParaRPr lang="fr-FR" sz="2400" dirty="0"/>
          </a:p>
          <a:p>
            <a:endParaRPr lang="fr-FR" sz="2400" dirty="0"/>
          </a:p>
          <a:p>
            <a:endParaRPr lang="en-US" sz="2400" dirty="0"/>
          </a:p>
        </p:txBody>
      </p:sp>
      <p:sp>
        <p:nvSpPr>
          <p:cNvPr id="7" name="Title 3"/>
          <p:cNvSpPr txBox="1">
            <a:spLocks/>
          </p:cNvSpPr>
          <p:nvPr/>
        </p:nvSpPr>
        <p:spPr>
          <a:xfrm>
            <a:off x="4063042" y="365125"/>
            <a:ext cx="4892272"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t>Data Analyst/Scientist</a:t>
            </a:r>
            <a:br>
              <a:rPr lang="en-US" sz="3600" dirty="0"/>
            </a:br>
            <a:br>
              <a:rPr lang="en-US" sz="3600" dirty="0"/>
            </a:br>
            <a:r>
              <a:rPr lang="en-US" sz="3100" i="1" dirty="0" err="1">
                <a:effectLst>
                  <a:outerShdw blurRad="38100" dist="38100" dir="2700000" algn="tl">
                    <a:srgbClr val="000000">
                      <a:alpha val="43137"/>
                    </a:srgbClr>
                  </a:outerShdw>
                </a:effectLst>
              </a:rPr>
              <a:t>Compétences</a:t>
            </a:r>
            <a:r>
              <a:rPr lang="en-US" sz="3100" i="1" dirty="0">
                <a:effectLst>
                  <a:outerShdw blurRad="38100" dist="38100" dir="2700000" algn="tl">
                    <a:srgbClr val="000000">
                      <a:alpha val="43137"/>
                    </a:srgbClr>
                  </a:outerShdw>
                </a:effectLst>
              </a:rPr>
              <a:t> techniques</a:t>
            </a:r>
          </a:p>
        </p:txBody>
      </p:sp>
      <p:sp>
        <p:nvSpPr>
          <p:cNvPr id="9" name="ZoneTexte 8"/>
          <p:cNvSpPr txBox="1"/>
          <p:nvPr/>
        </p:nvSpPr>
        <p:spPr>
          <a:xfrm>
            <a:off x="397394" y="1367522"/>
            <a:ext cx="2490950" cy="707886"/>
          </a:xfrm>
          <a:prstGeom prst="rect">
            <a:avLst/>
          </a:prstGeom>
          <a:noFill/>
        </p:spPr>
        <p:txBody>
          <a:bodyPr wrap="square" rtlCol="0">
            <a:spAutoFit/>
          </a:bodyPr>
          <a:lstStyle/>
          <a:p>
            <a:pPr algn="ctr"/>
            <a:r>
              <a:rPr lang="fr-FR" sz="2000" dirty="0">
                <a:solidFill>
                  <a:schemeClr val="bg1"/>
                </a:solidFill>
              </a:rPr>
              <a:t>1- Développement logiciel</a:t>
            </a:r>
          </a:p>
        </p:txBody>
      </p:sp>
    </p:spTree>
    <p:extLst>
      <p:ext uri="{BB962C8B-B14F-4D97-AF65-F5344CB8AC3E}">
        <p14:creationId xmlns:p14="http://schemas.microsoft.com/office/powerpoint/2010/main" val="23885620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4063042" y="2307771"/>
            <a:ext cx="8128958" cy="3869191"/>
          </a:xfrm>
        </p:spPr>
        <p:txBody>
          <a:bodyPr>
            <a:normAutofit/>
          </a:bodyPr>
          <a:lstStyle/>
          <a:p>
            <a:r>
              <a:rPr lang="fr-FR" sz="2000" dirty="0"/>
              <a:t>Le candidat au poste de Data Analyst doit suivre une formation d’ingénieur en informatique. </a:t>
            </a:r>
          </a:p>
          <a:p>
            <a:r>
              <a:rPr lang="fr-FR" sz="2000" dirty="0"/>
              <a:t>Il lui est aussi conseillé d’intégrer une formation afin d’obtenir un master en marketing ou en statistiques. </a:t>
            </a:r>
          </a:p>
          <a:p>
            <a:r>
              <a:rPr lang="fr-FR" sz="2000" dirty="0"/>
              <a:t>La maîtrise de l’anglais et l’aisance rédactionnelle sont des qualités fortement appréciées des recruteurs. </a:t>
            </a:r>
          </a:p>
          <a:p>
            <a:endParaRPr lang="en-US" sz="2000" dirty="0"/>
          </a:p>
        </p:txBody>
      </p:sp>
      <p:sp>
        <p:nvSpPr>
          <p:cNvPr id="7" name="ZoneTexte 6"/>
          <p:cNvSpPr txBox="1"/>
          <p:nvPr/>
        </p:nvSpPr>
        <p:spPr>
          <a:xfrm>
            <a:off x="397394" y="1367522"/>
            <a:ext cx="2490950" cy="707886"/>
          </a:xfrm>
          <a:prstGeom prst="rect">
            <a:avLst/>
          </a:prstGeom>
          <a:noFill/>
        </p:spPr>
        <p:txBody>
          <a:bodyPr wrap="square" rtlCol="0">
            <a:spAutoFit/>
          </a:bodyPr>
          <a:lstStyle/>
          <a:p>
            <a:pPr algn="ctr"/>
            <a:r>
              <a:rPr lang="fr-FR" sz="2000" dirty="0">
                <a:solidFill>
                  <a:schemeClr val="bg1"/>
                </a:solidFill>
              </a:rPr>
              <a:t>1- Développement logiciel</a:t>
            </a:r>
          </a:p>
        </p:txBody>
      </p:sp>
      <p:sp>
        <p:nvSpPr>
          <p:cNvPr id="8" name="Title 3"/>
          <p:cNvSpPr txBox="1">
            <a:spLocks/>
          </p:cNvSpPr>
          <p:nvPr/>
        </p:nvSpPr>
        <p:spPr>
          <a:xfrm>
            <a:off x="4063042" y="365125"/>
            <a:ext cx="4892272"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t>Data Analyst/Scientist</a:t>
            </a:r>
            <a:br>
              <a:rPr lang="en-US" sz="3600" dirty="0"/>
            </a:br>
            <a:br>
              <a:rPr lang="en-US" sz="3600" dirty="0"/>
            </a:br>
            <a:r>
              <a:rPr lang="en-US" sz="3100" i="1" dirty="0" err="1">
                <a:effectLst>
                  <a:outerShdw blurRad="38100" dist="38100" dir="2700000" algn="tl">
                    <a:srgbClr val="000000">
                      <a:alpha val="43137"/>
                    </a:srgbClr>
                  </a:outerShdw>
                </a:effectLst>
              </a:rPr>
              <a:t>Profil</a:t>
            </a:r>
            <a:r>
              <a:rPr lang="en-US" sz="3100" i="1" dirty="0">
                <a:effectLst>
                  <a:outerShdw blurRad="38100" dist="38100" dir="2700000" algn="tl">
                    <a:srgbClr val="000000">
                      <a:alpha val="43137"/>
                    </a:srgbClr>
                  </a:outerShdw>
                </a:effectLst>
              </a:rPr>
              <a:t> du </a:t>
            </a:r>
            <a:r>
              <a:rPr lang="en-US" sz="3100" i="1" dirty="0" err="1">
                <a:effectLst>
                  <a:outerShdw blurRad="38100" dist="38100" dir="2700000" algn="tl">
                    <a:srgbClr val="000000">
                      <a:alpha val="43137"/>
                    </a:srgbClr>
                  </a:outerShdw>
                </a:effectLst>
              </a:rPr>
              <a:t>candidat</a:t>
            </a:r>
            <a:endParaRPr lang="en-US" sz="3100" i="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798783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4063042" y="2075408"/>
            <a:ext cx="8128958" cy="4782592"/>
          </a:xfrm>
        </p:spPr>
        <p:txBody>
          <a:bodyPr>
            <a:noAutofit/>
          </a:bodyPr>
          <a:lstStyle/>
          <a:p>
            <a:pPr>
              <a:lnSpc>
                <a:spcPct val="100000"/>
              </a:lnSpc>
              <a:spcBef>
                <a:spcPts val="0"/>
              </a:spcBef>
            </a:pPr>
            <a:r>
              <a:rPr lang="fr-FR" sz="1600" dirty="0"/>
              <a:t>L’ ingénieur test et validation a pour rôle de valider intégralement des logiciels ou des applications avant leur mise en ligne sur des environnements clients.</a:t>
            </a:r>
          </a:p>
          <a:p>
            <a:pPr marL="0" indent="0">
              <a:lnSpc>
                <a:spcPct val="100000"/>
              </a:lnSpc>
              <a:spcBef>
                <a:spcPts val="0"/>
              </a:spcBef>
              <a:buNone/>
            </a:pPr>
            <a:endParaRPr lang="en-US" sz="1600" dirty="0"/>
          </a:p>
          <a:p>
            <a:pPr>
              <a:lnSpc>
                <a:spcPct val="100000"/>
              </a:lnSpc>
              <a:spcBef>
                <a:spcPts val="0"/>
              </a:spcBef>
            </a:pPr>
            <a:r>
              <a:rPr lang="fr-FR" sz="1600" dirty="0"/>
              <a:t>Un testeur doit être bien informé dans divers types de tests fonctionnels tels que: </a:t>
            </a:r>
            <a:endParaRPr lang="en-US" sz="1600" dirty="0"/>
          </a:p>
          <a:p>
            <a:pPr lvl="1">
              <a:lnSpc>
                <a:spcPct val="100000"/>
              </a:lnSpc>
              <a:spcBef>
                <a:spcPts val="0"/>
              </a:spcBef>
            </a:pPr>
            <a:r>
              <a:rPr lang="en-US" sz="1600" dirty="0"/>
              <a:t>Tests </a:t>
            </a:r>
            <a:r>
              <a:rPr lang="en-US" sz="1600" dirty="0" err="1"/>
              <a:t>Unitaires</a:t>
            </a:r>
            <a:endParaRPr lang="en-US" sz="1600" dirty="0"/>
          </a:p>
          <a:p>
            <a:pPr lvl="1">
              <a:lnSpc>
                <a:spcPct val="100000"/>
              </a:lnSpc>
              <a:spcBef>
                <a:spcPts val="0"/>
              </a:spcBef>
            </a:pPr>
            <a:r>
              <a:rPr lang="en-US" sz="1600" dirty="0"/>
              <a:t>Tests </a:t>
            </a:r>
            <a:r>
              <a:rPr lang="en-US" sz="1600" dirty="0" err="1"/>
              <a:t>d’intégration</a:t>
            </a:r>
            <a:endParaRPr lang="en-US" sz="1600" dirty="0"/>
          </a:p>
          <a:p>
            <a:pPr lvl="1">
              <a:lnSpc>
                <a:spcPct val="100000"/>
              </a:lnSpc>
              <a:spcBef>
                <a:spcPts val="0"/>
              </a:spcBef>
            </a:pPr>
            <a:r>
              <a:rPr lang="en-US" sz="1600" dirty="0"/>
              <a:t>Test </a:t>
            </a:r>
            <a:r>
              <a:rPr lang="en-US" sz="1600" dirty="0" err="1"/>
              <a:t>système</a:t>
            </a:r>
            <a:endParaRPr lang="en-US" sz="1600" dirty="0"/>
          </a:p>
          <a:p>
            <a:pPr lvl="1">
              <a:lnSpc>
                <a:spcPct val="100000"/>
              </a:lnSpc>
              <a:spcBef>
                <a:spcPts val="0"/>
              </a:spcBef>
            </a:pPr>
            <a:r>
              <a:rPr lang="en-US" sz="1600" dirty="0"/>
              <a:t>Tests de non regression</a:t>
            </a:r>
          </a:p>
          <a:p>
            <a:pPr marL="457200" lvl="1" indent="0">
              <a:lnSpc>
                <a:spcPct val="100000"/>
              </a:lnSpc>
              <a:spcBef>
                <a:spcPts val="0"/>
              </a:spcBef>
              <a:buNone/>
            </a:pPr>
            <a:endParaRPr lang="en-US" sz="1600" dirty="0"/>
          </a:p>
          <a:p>
            <a:pPr>
              <a:lnSpc>
                <a:spcPct val="100000"/>
              </a:lnSpc>
              <a:spcBef>
                <a:spcPts val="0"/>
              </a:spcBef>
            </a:pPr>
            <a:r>
              <a:rPr lang="en-US" sz="1600" dirty="0"/>
              <a:t>Et tests non </a:t>
            </a:r>
            <a:r>
              <a:rPr lang="en-US" sz="1600" dirty="0" err="1"/>
              <a:t>fonctionnels</a:t>
            </a:r>
            <a:r>
              <a:rPr lang="en-US" sz="1600" dirty="0"/>
              <a:t>:</a:t>
            </a:r>
          </a:p>
          <a:p>
            <a:pPr lvl="1">
              <a:lnSpc>
                <a:spcPct val="100000"/>
              </a:lnSpc>
              <a:spcBef>
                <a:spcPts val="0"/>
              </a:spcBef>
            </a:pPr>
            <a:r>
              <a:rPr lang="en-US" sz="1600" dirty="0"/>
              <a:t>Tests de performance</a:t>
            </a:r>
          </a:p>
          <a:p>
            <a:pPr lvl="1">
              <a:lnSpc>
                <a:spcPct val="100000"/>
              </a:lnSpc>
              <a:spcBef>
                <a:spcPts val="0"/>
              </a:spcBef>
            </a:pPr>
            <a:r>
              <a:rPr lang="en-US" sz="1600" dirty="0"/>
              <a:t>Tests de </a:t>
            </a:r>
            <a:r>
              <a:rPr lang="en-US" sz="1600" dirty="0" err="1"/>
              <a:t>chargement</a:t>
            </a:r>
            <a:endParaRPr lang="en-US" sz="1600" dirty="0"/>
          </a:p>
          <a:p>
            <a:pPr lvl="1">
              <a:lnSpc>
                <a:spcPct val="100000"/>
              </a:lnSpc>
              <a:spcBef>
                <a:spcPts val="0"/>
              </a:spcBef>
            </a:pPr>
            <a:r>
              <a:rPr lang="en-US" sz="1600" dirty="0"/>
              <a:t>Tests de stress </a:t>
            </a:r>
          </a:p>
          <a:p>
            <a:pPr lvl="1">
              <a:lnSpc>
                <a:spcPct val="100000"/>
              </a:lnSpc>
              <a:spcBef>
                <a:spcPts val="0"/>
              </a:spcBef>
            </a:pPr>
            <a:r>
              <a:rPr lang="en-US" sz="1600" dirty="0"/>
              <a:t>Tests de </a:t>
            </a:r>
            <a:r>
              <a:rPr lang="en-US" sz="1600" dirty="0" err="1"/>
              <a:t>sécurité</a:t>
            </a:r>
            <a:endParaRPr lang="en-US" sz="1600" dirty="0"/>
          </a:p>
          <a:p>
            <a:pPr lvl="1">
              <a:lnSpc>
                <a:spcPct val="100000"/>
              </a:lnSpc>
              <a:spcBef>
                <a:spcPts val="0"/>
              </a:spcBef>
            </a:pPr>
            <a:r>
              <a:rPr lang="en-US" sz="1600" dirty="0"/>
              <a:t>Tests de </a:t>
            </a:r>
            <a:r>
              <a:rPr lang="en-US" sz="1600" dirty="0" err="1"/>
              <a:t>compatibilité</a:t>
            </a:r>
            <a:endParaRPr lang="en-US" sz="1600" dirty="0"/>
          </a:p>
          <a:p>
            <a:pPr lvl="1">
              <a:lnSpc>
                <a:spcPct val="100000"/>
              </a:lnSpc>
              <a:spcBef>
                <a:spcPts val="0"/>
              </a:spcBef>
            </a:pPr>
            <a:r>
              <a:rPr lang="en-US" sz="1600" dirty="0"/>
              <a:t>Tests </a:t>
            </a:r>
            <a:r>
              <a:rPr lang="en-US" sz="1600" dirty="0" err="1"/>
              <a:t>utilisateurs</a:t>
            </a:r>
            <a:endParaRPr lang="en-US" sz="1600" dirty="0"/>
          </a:p>
          <a:p>
            <a:pPr lvl="1">
              <a:lnSpc>
                <a:spcPct val="100000"/>
              </a:lnSpc>
              <a:spcBef>
                <a:spcPts val="0"/>
              </a:spcBef>
            </a:pPr>
            <a:r>
              <a:rPr lang="en-US" sz="1600" dirty="0"/>
              <a:t>Tests </a:t>
            </a:r>
            <a:r>
              <a:rPr lang="en-US" sz="1600" dirty="0" err="1"/>
              <a:t>conformités</a:t>
            </a:r>
            <a:endParaRPr lang="en-US" sz="1600" dirty="0"/>
          </a:p>
        </p:txBody>
      </p:sp>
      <p:sp>
        <p:nvSpPr>
          <p:cNvPr id="7" name="ZoneTexte 6"/>
          <p:cNvSpPr txBox="1"/>
          <p:nvPr/>
        </p:nvSpPr>
        <p:spPr>
          <a:xfrm>
            <a:off x="397394" y="1367522"/>
            <a:ext cx="2490950" cy="707886"/>
          </a:xfrm>
          <a:prstGeom prst="rect">
            <a:avLst/>
          </a:prstGeom>
          <a:noFill/>
        </p:spPr>
        <p:txBody>
          <a:bodyPr wrap="square" rtlCol="0">
            <a:spAutoFit/>
          </a:bodyPr>
          <a:lstStyle/>
          <a:p>
            <a:pPr algn="ctr"/>
            <a:r>
              <a:rPr lang="fr-FR" sz="2000" dirty="0">
                <a:solidFill>
                  <a:schemeClr val="bg1"/>
                </a:solidFill>
              </a:rPr>
              <a:t>1- Développement logiciel</a:t>
            </a:r>
          </a:p>
        </p:txBody>
      </p:sp>
      <p:sp>
        <p:nvSpPr>
          <p:cNvPr id="8" name="Title 3"/>
          <p:cNvSpPr txBox="1">
            <a:spLocks/>
          </p:cNvSpPr>
          <p:nvPr/>
        </p:nvSpPr>
        <p:spPr>
          <a:xfrm>
            <a:off x="4063042" y="365125"/>
            <a:ext cx="4892272"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Ingenieur</a:t>
            </a:r>
            <a:r>
              <a:rPr lang="en-US" sz="3600" dirty="0"/>
              <a:t> Test et Validation</a:t>
            </a:r>
            <a:br>
              <a:rPr lang="en-US" sz="3600" dirty="0"/>
            </a:br>
            <a:br>
              <a:rPr lang="en-US" sz="3600" dirty="0"/>
            </a:br>
            <a:r>
              <a:rPr lang="en-US" sz="3100" i="1" dirty="0" err="1">
                <a:effectLst>
                  <a:outerShdw blurRad="38100" dist="38100" dir="2700000" algn="tl">
                    <a:srgbClr val="000000">
                      <a:alpha val="43137"/>
                    </a:srgbClr>
                  </a:outerShdw>
                </a:effectLst>
              </a:rPr>
              <a:t>Définition</a:t>
            </a:r>
            <a:r>
              <a:rPr lang="en-US" sz="3100" i="1" dirty="0">
                <a:effectLst>
                  <a:outerShdw blurRad="38100" dist="38100" dir="2700000" algn="tl">
                    <a:srgbClr val="000000">
                      <a:alpha val="43137"/>
                    </a:srgbClr>
                  </a:outerShdw>
                </a:effectLst>
              </a:rPr>
              <a:t> du </a:t>
            </a:r>
            <a:r>
              <a:rPr lang="en-US" sz="3100" i="1" dirty="0" err="1">
                <a:effectLst>
                  <a:outerShdw blurRad="38100" dist="38100" dir="2700000" algn="tl">
                    <a:srgbClr val="000000">
                      <a:alpha val="43137"/>
                    </a:srgbClr>
                  </a:outerShdw>
                </a:effectLst>
              </a:rPr>
              <a:t>rôle</a:t>
            </a:r>
            <a:r>
              <a:rPr lang="en-US" sz="3100" i="1" dirty="0">
                <a:effectLst>
                  <a:outerShdw blurRad="38100" dist="38100" dir="2700000" algn="tl">
                    <a:srgbClr val="000000">
                      <a:alpha val="43137"/>
                    </a:srgbClr>
                  </a:outerShdw>
                </a:effectLst>
              </a:rPr>
              <a:t> et des missions</a:t>
            </a:r>
          </a:p>
        </p:txBody>
      </p:sp>
    </p:spTree>
    <p:extLst>
      <p:ext uri="{BB962C8B-B14F-4D97-AF65-F5344CB8AC3E}">
        <p14:creationId xmlns:p14="http://schemas.microsoft.com/office/powerpoint/2010/main" val="13984044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3802743" y="2075408"/>
            <a:ext cx="8505371" cy="4782591"/>
          </a:xfrm>
        </p:spPr>
        <p:txBody>
          <a:bodyPr>
            <a:normAutofit/>
          </a:bodyPr>
          <a:lstStyle/>
          <a:p>
            <a:r>
              <a:rPr lang="fr-FR" sz="2000" dirty="0"/>
              <a:t>Prendre connaissance de manière exhaustive de la spécification produit</a:t>
            </a:r>
          </a:p>
          <a:p>
            <a:r>
              <a:rPr lang="fr-FR" sz="2000" dirty="0"/>
              <a:t>Créer une batterie de tests correspondant à tous les points de la spécification à valider</a:t>
            </a:r>
          </a:p>
          <a:p>
            <a:r>
              <a:rPr lang="fr-FR" sz="2000" dirty="0"/>
              <a:t>Exécuter la batterie de tests jusqu’à ce que le produit donne satisfaction au vu des normes de test imposées</a:t>
            </a:r>
          </a:p>
          <a:p>
            <a:r>
              <a:rPr lang="fr-FR" sz="2000" dirty="0"/>
              <a:t>Réaliser un reporting précis</a:t>
            </a:r>
          </a:p>
          <a:p>
            <a:r>
              <a:rPr lang="fr-FR" sz="2000" dirty="0"/>
              <a:t>Livrer le logiciel validé au demandeur</a:t>
            </a:r>
          </a:p>
          <a:p>
            <a:r>
              <a:rPr lang="fr-FR" sz="2000" dirty="0"/>
              <a:t>Potentiellement poursuivre la surveillance des performances du logiciel via un monitoring quotidien : les scripts de validation continuent à tourner, mais ils sont devenus des scripts de non-régression</a:t>
            </a:r>
            <a:endParaRPr lang="en-US" sz="2000" dirty="0"/>
          </a:p>
        </p:txBody>
      </p:sp>
      <p:sp>
        <p:nvSpPr>
          <p:cNvPr id="7" name="ZoneTexte 6"/>
          <p:cNvSpPr txBox="1"/>
          <p:nvPr/>
        </p:nvSpPr>
        <p:spPr>
          <a:xfrm>
            <a:off x="397394" y="1367522"/>
            <a:ext cx="2490950" cy="707886"/>
          </a:xfrm>
          <a:prstGeom prst="rect">
            <a:avLst/>
          </a:prstGeom>
          <a:noFill/>
        </p:spPr>
        <p:txBody>
          <a:bodyPr wrap="square" rtlCol="0">
            <a:spAutoFit/>
          </a:bodyPr>
          <a:lstStyle/>
          <a:p>
            <a:pPr algn="ctr"/>
            <a:r>
              <a:rPr lang="fr-FR" sz="2000" dirty="0">
                <a:solidFill>
                  <a:schemeClr val="bg1"/>
                </a:solidFill>
              </a:rPr>
              <a:t>1- Développement logiciel</a:t>
            </a:r>
          </a:p>
        </p:txBody>
      </p:sp>
      <p:sp>
        <p:nvSpPr>
          <p:cNvPr id="8" name="Title 3"/>
          <p:cNvSpPr txBox="1">
            <a:spLocks/>
          </p:cNvSpPr>
          <p:nvPr/>
        </p:nvSpPr>
        <p:spPr>
          <a:xfrm>
            <a:off x="4063042" y="365125"/>
            <a:ext cx="5879244"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Ingenieur</a:t>
            </a:r>
            <a:r>
              <a:rPr lang="en-US" sz="3600" dirty="0"/>
              <a:t> Test et Validation</a:t>
            </a:r>
            <a:br>
              <a:rPr lang="en-US" sz="3600" dirty="0"/>
            </a:br>
            <a:br>
              <a:rPr lang="en-US" sz="3600" dirty="0"/>
            </a:br>
            <a:r>
              <a:rPr lang="en-US" sz="3100" i="1" dirty="0" err="1">
                <a:effectLst>
                  <a:outerShdw blurRad="38100" dist="38100" dir="2700000" algn="tl">
                    <a:srgbClr val="000000">
                      <a:alpha val="43137"/>
                    </a:srgbClr>
                  </a:outerShdw>
                </a:effectLst>
              </a:rPr>
              <a:t>Définition</a:t>
            </a:r>
            <a:r>
              <a:rPr lang="en-US" sz="3100" i="1" dirty="0">
                <a:effectLst>
                  <a:outerShdw blurRad="38100" dist="38100" dir="2700000" algn="tl">
                    <a:srgbClr val="000000">
                      <a:alpha val="43137"/>
                    </a:srgbClr>
                  </a:outerShdw>
                </a:effectLst>
              </a:rPr>
              <a:t> du </a:t>
            </a:r>
            <a:r>
              <a:rPr lang="en-US" sz="3100" i="1" dirty="0" err="1">
                <a:effectLst>
                  <a:outerShdw blurRad="38100" dist="38100" dir="2700000" algn="tl">
                    <a:srgbClr val="000000">
                      <a:alpha val="43137"/>
                    </a:srgbClr>
                  </a:outerShdw>
                </a:effectLst>
              </a:rPr>
              <a:t>rôle</a:t>
            </a:r>
            <a:r>
              <a:rPr lang="en-US" sz="3100" i="1" dirty="0">
                <a:effectLst>
                  <a:outerShdw blurRad="38100" dist="38100" dir="2700000" algn="tl">
                    <a:srgbClr val="000000">
                      <a:alpha val="43137"/>
                    </a:srgbClr>
                  </a:outerShdw>
                </a:effectLst>
              </a:rPr>
              <a:t> et des missions (suite)</a:t>
            </a:r>
          </a:p>
        </p:txBody>
      </p:sp>
    </p:spTree>
    <p:extLst>
      <p:ext uri="{BB962C8B-B14F-4D97-AF65-F5344CB8AC3E}">
        <p14:creationId xmlns:p14="http://schemas.microsoft.com/office/powerpoint/2010/main" val="13984044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3831771" y="2191657"/>
            <a:ext cx="8360229" cy="4339772"/>
          </a:xfrm>
        </p:spPr>
        <p:txBody>
          <a:bodyPr>
            <a:normAutofit/>
          </a:bodyPr>
          <a:lstStyle/>
          <a:p>
            <a:r>
              <a:rPr lang="fr-FR" sz="2000" dirty="0"/>
              <a:t>La maîtrise d’outils de test, par exemple ALM de Hewlett Packard</a:t>
            </a:r>
          </a:p>
          <a:p>
            <a:r>
              <a:rPr lang="fr-FR" sz="2000" dirty="0"/>
              <a:t>La connaissance de méthodologies de test logiciel, par exemple ISTQB</a:t>
            </a:r>
          </a:p>
          <a:p>
            <a:r>
              <a:rPr lang="fr-FR" sz="2000" dirty="0"/>
              <a:t>La capacité à intégrer rapidement les aspects fonctionnels du logiciel testé</a:t>
            </a:r>
          </a:p>
          <a:p>
            <a:r>
              <a:rPr lang="fr-FR" sz="2000" dirty="0"/>
              <a:t>La connaissance de langages de script, par exemple Python</a:t>
            </a:r>
          </a:p>
          <a:p>
            <a:r>
              <a:rPr lang="fr-FR" sz="2000" dirty="0"/>
              <a:t>En lien avec le point précédent : savoir programmer n’est pas obligatoire ; néanmoins, cela s’avère très utile pour développer des outils qui vont faciliter le travail quotidien</a:t>
            </a:r>
            <a:endParaRPr lang="en-US" sz="2000" dirty="0"/>
          </a:p>
        </p:txBody>
      </p:sp>
      <p:sp>
        <p:nvSpPr>
          <p:cNvPr id="7" name="ZoneTexte 6"/>
          <p:cNvSpPr txBox="1"/>
          <p:nvPr/>
        </p:nvSpPr>
        <p:spPr>
          <a:xfrm>
            <a:off x="397394" y="1367522"/>
            <a:ext cx="2490950" cy="707886"/>
          </a:xfrm>
          <a:prstGeom prst="rect">
            <a:avLst/>
          </a:prstGeom>
          <a:noFill/>
        </p:spPr>
        <p:txBody>
          <a:bodyPr wrap="square" rtlCol="0">
            <a:spAutoFit/>
          </a:bodyPr>
          <a:lstStyle/>
          <a:p>
            <a:pPr algn="ctr"/>
            <a:r>
              <a:rPr lang="fr-FR" sz="2000" dirty="0">
                <a:solidFill>
                  <a:schemeClr val="bg1"/>
                </a:solidFill>
              </a:rPr>
              <a:t>1- Développement logiciel</a:t>
            </a:r>
          </a:p>
        </p:txBody>
      </p:sp>
      <p:sp>
        <p:nvSpPr>
          <p:cNvPr id="8" name="Title 3"/>
          <p:cNvSpPr txBox="1">
            <a:spLocks/>
          </p:cNvSpPr>
          <p:nvPr/>
        </p:nvSpPr>
        <p:spPr>
          <a:xfrm>
            <a:off x="4063042" y="365125"/>
            <a:ext cx="5879244"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Ingenieur</a:t>
            </a:r>
            <a:r>
              <a:rPr lang="en-US" sz="3600" dirty="0"/>
              <a:t> Test et Validation</a:t>
            </a:r>
            <a:br>
              <a:rPr lang="en-US" sz="3600" dirty="0"/>
            </a:br>
            <a:br>
              <a:rPr lang="en-US" sz="3600" dirty="0"/>
            </a:br>
            <a:r>
              <a:rPr lang="en-US" sz="3100" i="1" dirty="0" err="1">
                <a:effectLst>
                  <a:outerShdw blurRad="38100" dist="38100" dir="2700000" algn="tl">
                    <a:srgbClr val="000000">
                      <a:alpha val="43137"/>
                    </a:srgbClr>
                  </a:outerShdw>
                </a:effectLst>
              </a:rPr>
              <a:t>Compétences</a:t>
            </a:r>
            <a:r>
              <a:rPr lang="en-US" sz="3100" i="1" dirty="0">
                <a:effectLst>
                  <a:outerShdw blurRad="38100" dist="38100" dir="2700000" algn="tl">
                    <a:srgbClr val="000000">
                      <a:alpha val="43137"/>
                    </a:srgbClr>
                  </a:outerShdw>
                </a:effectLst>
              </a:rPr>
              <a:t> techniques</a:t>
            </a:r>
          </a:p>
        </p:txBody>
      </p:sp>
    </p:spTree>
    <p:extLst>
      <p:ext uri="{BB962C8B-B14F-4D97-AF65-F5344CB8AC3E}">
        <p14:creationId xmlns:p14="http://schemas.microsoft.com/office/powerpoint/2010/main" val="28559376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4063042" y="2365829"/>
            <a:ext cx="7290758" cy="3811134"/>
          </a:xfrm>
        </p:spPr>
        <p:txBody>
          <a:bodyPr>
            <a:normAutofit/>
          </a:bodyPr>
          <a:lstStyle/>
          <a:p>
            <a:r>
              <a:rPr lang="fr-FR" sz="2400" dirty="0"/>
              <a:t>Spécialisation en Ecole D’ingénieur</a:t>
            </a:r>
          </a:p>
          <a:p>
            <a:r>
              <a:rPr lang="fr-FR" sz="2400" dirty="0"/>
              <a:t>Orientation après une expérience dans le domaine du développement logiciel</a:t>
            </a:r>
            <a:endParaRPr lang="en-US" sz="2400" dirty="0"/>
          </a:p>
        </p:txBody>
      </p:sp>
      <p:sp>
        <p:nvSpPr>
          <p:cNvPr id="7" name="ZoneTexte 6"/>
          <p:cNvSpPr txBox="1"/>
          <p:nvPr/>
        </p:nvSpPr>
        <p:spPr>
          <a:xfrm>
            <a:off x="397394" y="1367522"/>
            <a:ext cx="2490950" cy="707886"/>
          </a:xfrm>
          <a:prstGeom prst="rect">
            <a:avLst/>
          </a:prstGeom>
          <a:noFill/>
        </p:spPr>
        <p:txBody>
          <a:bodyPr wrap="square" rtlCol="0">
            <a:spAutoFit/>
          </a:bodyPr>
          <a:lstStyle/>
          <a:p>
            <a:pPr algn="ctr"/>
            <a:r>
              <a:rPr lang="fr-FR" sz="2000" dirty="0">
                <a:solidFill>
                  <a:schemeClr val="bg1"/>
                </a:solidFill>
              </a:rPr>
              <a:t>1- Développement logiciel</a:t>
            </a:r>
          </a:p>
        </p:txBody>
      </p:sp>
      <p:sp>
        <p:nvSpPr>
          <p:cNvPr id="8" name="Title 3"/>
          <p:cNvSpPr txBox="1">
            <a:spLocks/>
          </p:cNvSpPr>
          <p:nvPr/>
        </p:nvSpPr>
        <p:spPr>
          <a:xfrm>
            <a:off x="4063042" y="365125"/>
            <a:ext cx="5879244"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Ingenieur</a:t>
            </a:r>
            <a:r>
              <a:rPr lang="en-US" sz="3600" dirty="0"/>
              <a:t> Test et Validation</a:t>
            </a:r>
            <a:br>
              <a:rPr lang="en-US" sz="3600" dirty="0"/>
            </a:br>
            <a:br>
              <a:rPr lang="en-US" sz="3600" dirty="0"/>
            </a:br>
            <a:r>
              <a:rPr lang="en-US" sz="3100" i="1" dirty="0" err="1">
                <a:effectLst>
                  <a:outerShdw blurRad="38100" dist="38100" dir="2700000" algn="tl">
                    <a:srgbClr val="000000">
                      <a:alpha val="43137"/>
                    </a:srgbClr>
                  </a:outerShdw>
                </a:effectLst>
              </a:rPr>
              <a:t>Profil</a:t>
            </a:r>
            <a:r>
              <a:rPr lang="en-US" sz="3100" i="1" dirty="0">
                <a:effectLst>
                  <a:outerShdw blurRad="38100" dist="38100" dir="2700000" algn="tl">
                    <a:srgbClr val="000000">
                      <a:alpha val="43137"/>
                    </a:srgbClr>
                  </a:outerShdw>
                </a:effectLst>
              </a:rPr>
              <a:t> du </a:t>
            </a:r>
            <a:r>
              <a:rPr lang="en-US" sz="3100" i="1" dirty="0" err="1">
                <a:effectLst>
                  <a:outerShdw blurRad="38100" dist="38100" dir="2700000" algn="tl">
                    <a:srgbClr val="000000">
                      <a:alpha val="43137"/>
                    </a:srgbClr>
                  </a:outerShdw>
                </a:effectLst>
              </a:rPr>
              <a:t>candidat</a:t>
            </a:r>
            <a:endParaRPr lang="en-US" sz="3100" i="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2366330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3831771" y="2075407"/>
            <a:ext cx="8360229" cy="4586649"/>
          </a:xfrm>
        </p:spPr>
        <p:txBody>
          <a:bodyPr>
            <a:normAutofit/>
          </a:bodyPr>
          <a:lstStyle/>
          <a:p>
            <a:r>
              <a:rPr lang="fr-FR" sz="2000" dirty="0"/>
              <a:t>Le chef de projet informatique intervient dès la phase d’étude : </a:t>
            </a:r>
          </a:p>
          <a:p>
            <a:r>
              <a:rPr lang="fr-FR" sz="2000" dirty="0"/>
              <a:t>Il doit définir les besoins du client, le temps nécessaire à la réalisation du projet et le budget correspondant, rédiger le cahier des charges et constituer l’équipe en charge du projet. </a:t>
            </a:r>
          </a:p>
          <a:p>
            <a:r>
              <a:rPr lang="fr-FR" sz="2000" dirty="0"/>
              <a:t>Son rôle porte ensuite plus précisément sur le suivi des délais ainsi que sur le respect du budget et de la qualité. </a:t>
            </a:r>
          </a:p>
          <a:p>
            <a:r>
              <a:rPr lang="fr-FR" sz="2000" dirty="0"/>
              <a:t>Il est responsable au quotidien de l’avancée du projet. </a:t>
            </a:r>
          </a:p>
          <a:p>
            <a:r>
              <a:rPr lang="fr-FR" sz="2000" dirty="0"/>
              <a:t>Une fois le projet terminé, il participe à sa mise en place et peut être amené à gérer ses améliorations.</a:t>
            </a:r>
            <a:endParaRPr lang="en-US" sz="2000" dirty="0"/>
          </a:p>
        </p:txBody>
      </p:sp>
      <p:sp>
        <p:nvSpPr>
          <p:cNvPr id="7" name="ZoneTexte 6"/>
          <p:cNvSpPr txBox="1"/>
          <p:nvPr/>
        </p:nvSpPr>
        <p:spPr>
          <a:xfrm>
            <a:off x="397394" y="1367522"/>
            <a:ext cx="2490950" cy="707886"/>
          </a:xfrm>
          <a:prstGeom prst="rect">
            <a:avLst/>
          </a:prstGeom>
          <a:noFill/>
        </p:spPr>
        <p:txBody>
          <a:bodyPr wrap="square" rtlCol="0">
            <a:spAutoFit/>
          </a:bodyPr>
          <a:lstStyle/>
          <a:p>
            <a:pPr algn="ctr"/>
            <a:r>
              <a:rPr lang="fr-FR" sz="2000" dirty="0">
                <a:solidFill>
                  <a:schemeClr val="bg1"/>
                </a:solidFill>
              </a:rPr>
              <a:t>1- Développement logiciel</a:t>
            </a:r>
          </a:p>
        </p:txBody>
      </p:sp>
      <p:sp>
        <p:nvSpPr>
          <p:cNvPr id="8" name="Title 3"/>
          <p:cNvSpPr txBox="1">
            <a:spLocks/>
          </p:cNvSpPr>
          <p:nvPr/>
        </p:nvSpPr>
        <p:spPr>
          <a:xfrm>
            <a:off x="4063042" y="365125"/>
            <a:ext cx="4892272"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t>Chef de </a:t>
            </a:r>
            <a:r>
              <a:rPr lang="en-US" sz="3600" dirty="0" err="1"/>
              <a:t>projet</a:t>
            </a:r>
            <a:r>
              <a:rPr lang="en-US" sz="3600" dirty="0"/>
              <a:t> </a:t>
            </a:r>
            <a:r>
              <a:rPr lang="en-US" sz="3600" dirty="0" err="1"/>
              <a:t>informatique</a:t>
            </a:r>
            <a:br>
              <a:rPr lang="en-US" sz="3600" dirty="0"/>
            </a:br>
            <a:br>
              <a:rPr lang="en-US" sz="3600" dirty="0"/>
            </a:br>
            <a:r>
              <a:rPr lang="en-US" sz="3100" i="1" dirty="0" err="1">
                <a:effectLst>
                  <a:outerShdw blurRad="38100" dist="38100" dir="2700000" algn="tl">
                    <a:srgbClr val="000000">
                      <a:alpha val="43137"/>
                    </a:srgbClr>
                  </a:outerShdw>
                </a:effectLst>
              </a:rPr>
              <a:t>Définition</a:t>
            </a:r>
            <a:r>
              <a:rPr lang="en-US" sz="3100" i="1" dirty="0">
                <a:effectLst>
                  <a:outerShdw blurRad="38100" dist="38100" dir="2700000" algn="tl">
                    <a:srgbClr val="000000">
                      <a:alpha val="43137"/>
                    </a:srgbClr>
                  </a:outerShdw>
                </a:effectLst>
              </a:rPr>
              <a:t> du </a:t>
            </a:r>
            <a:r>
              <a:rPr lang="en-US" sz="3100" i="1" dirty="0" err="1">
                <a:effectLst>
                  <a:outerShdw blurRad="38100" dist="38100" dir="2700000" algn="tl">
                    <a:srgbClr val="000000">
                      <a:alpha val="43137"/>
                    </a:srgbClr>
                  </a:outerShdw>
                </a:effectLst>
              </a:rPr>
              <a:t>rôle</a:t>
            </a:r>
            <a:r>
              <a:rPr lang="en-US" sz="3100" i="1" dirty="0">
                <a:effectLst>
                  <a:outerShdw blurRad="38100" dist="38100" dir="2700000" algn="tl">
                    <a:srgbClr val="000000">
                      <a:alpha val="43137"/>
                    </a:srgbClr>
                  </a:outerShdw>
                </a:effectLst>
              </a:rPr>
              <a:t> et des missions</a:t>
            </a:r>
          </a:p>
        </p:txBody>
      </p:sp>
    </p:spTree>
    <p:extLst>
      <p:ext uri="{BB962C8B-B14F-4D97-AF65-F5344CB8AC3E}">
        <p14:creationId xmlns:p14="http://schemas.microsoft.com/office/powerpoint/2010/main" val="42574193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3875314" y="2336799"/>
            <a:ext cx="8316686" cy="3840163"/>
          </a:xfrm>
        </p:spPr>
        <p:txBody>
          <a:bodyPr>
            <a:normAutofit/>
          </a:bodyPr>
          <a:lstStyle/>
          <a:p>
            <a:r>
              <a:rPr lang="fr-FR" sz="2400" dirty="0"/>
              <a:t>Avoir de solides compétences techniques</a:t>
            </a:r>
          </a:p>
          <a:p>
            <a:pPr marL="0" indent="0">
              <a:buNone/>
            </a:pPr>
            <a:endParaRPr lang="fr-FR" sz="2400" dirty="0"/>
          </a:p>
          <a:p>
            <a:r>
              <a:rPr lang="fr-FR" sz="2400" dirty="0"/>
              <a:t>Être un homme-orchestre et un manager qui possède des qualités de coordination et relationnelles, tant pour dialoguer avec le client que pour animer une équipe.</a:t>
            </a:r>
            <a:endParaRPr lang="en-US" sz="2400" dirty="0"/>
          </a:p>
        </p:txBody>
      </p:sp>
      <p:sp>
        <p:nvSpPr>
          <p:cNvPr id="7" name="Title 3"/>
          <p:cNvSpPr txBox="1">
            <a:spLocks/>
          </p:cNvSpPr>
          <p:nvPr/>
        </p:nvSpPr>
        <p:spPr>
          <a:xfrm>
            <a:off x="4063042" y="365125"/>
            <a:ext cx="4892272"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t>Chef de </a:t>
            </a:r>
            <a:r>
              <a:rPr lang="en-US" sz="3600" dirty="0" err="1"/>
              <a:t>projet</a:t>
            </a:r>
            <a:r>
              <a:rPr lang="en-US" sz="3600" dirty="0"/>
              <a:t> </a:t>
            </a:r>
            <a:r>
              <a:rPr lang="en-US" sz="3600" dirty="0" err="1"/>
              <a:t>informatique</a:t>
            </a:r>
            <a:br>
              <a:rPr lang="en-US" sz="3600" dirty="0"/>
            </a:br>
            <a:br>
              <a:rPr lang="en-US" sz="3600" dirty="0"/>
            </a:br>
            <a:r>
              <a:rPr lang="en-US" sz="3100" i="1" dirty="0" err="1">
                <a:effectLst>
                  <a:outerShdw blurRad="38100" dist="38100" dir="2700000" algn="tl">
                    <a:srgbClr val="000000">
                      <a:alpha val="43137"/>
                    </a:srgbClr>
                  </a:outerShdw>
                </a:effectLst>
              </a:rPr>
              <a:t>Compétences</a:t>
            </a:r>
            <a:r>
              <a:rPr lang="en-US" sz="3100" i="1" dirty="0">
                <a:effectLst>
                  <a:outerShdw blurRad="38100" dist="38100" dir="2700000" algn="tl">
                    <a:srgbClr val="000000">
                      <a:alpha val="43137"/>
                    </a:srgbClr>
                  </a:outerShdw>
                </a:effectLst>
              </a:rPr>
              <a:t> techniques</a:t>
            </a:r>
          </a:p>
        </p:txBody>
      </p:sp>
      <p:sp>
        <p:nvSpPr>
          <p:cNvPr id="8" name="ZoneTexte 7"/>
          <p:cNvSpPr txBox="1"/>
          <p:nvPr/>
        </p:nvSpPr>
        <p:spPr>
          <a:xfrm>
            <a:off x="397394" y="1367522"/>
            <a:ext cx="2490950" cy="707886"/>
          </a:xfrm>
          <a:prstGeom prst="rect">
            <a:avLst/>
          </a:prstGeom>
          <a:noFill/>
        </p:spPr>
        <p:txBody>
          <a:bodyPr wrap="square" rtlCol="0">
            <a:spAutoFit/>
          </a:bodyPr>
          <a:lstStyle/>
          <a:p>
            <a:pPr algn="ctr"/>
            <a:r>
              <a:rPr lang="fr-FR" sz="2000" dirty="0">
                <a:solidFill>
                  <a:schemeClr val="bg1"/>
                </a:solidFill>
              </a:rPr>
              <a:t>1- Développement logiciel</a:t>
            </a:r>
          </a:p>
        </p:txBody>
      </p:sp>
    </p:spTree>
    <p:extLst>
      <p:ext uri="{BB962C8B-B14F-4D97-AF65-F5344CB8AC3E}">
        <p14:creationId xmlns:p14="http://schemas.microsoft.com/office/powerpoint/2010/main" val="14224580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3875314" y="2075407"/>
            <a:ext cx="8316686" cy="4101555"/>
          </a:xfrm>
        </p:spPr>
        <p:txBody>
          <a:bodyPr>
            <a:normAutofit/>
          </a:bodyPr>
          <a:lstStyle/>
          <a:p>
            <a:r>
              <a:rPr lang="fr-FR" sz="2400" dirty="0"/>
              <a:t>Nécessite au moins 3 ans d’expérience</a:t>
            </a:r>
          </a:p>
          <a:p>
            <a:endParaRPr lang="fr-FR" sz="2400" dirty="0"/>
          </a:p>
          <a:p>
            <a:r>
              <a:rPr lang="fr-FR" sz="2400" dirty="0"/>
              <a:t>Profils de type Ecoles d’Ingénieurs ou titulaire Bac + 5 universitaire ( Masters Métier de l’informatique…)</a:t>
            </a:r>
            <a:endParaRPr lang="en-US" sz="2400" dirty="0"/>
          </a:p>
        </p:txBody>
      </p:sp>
      <p:sp>
        <p:nvSpPr>
          <p:cNvPr id="7" name="ZoneTexte 6"/>
          <p:cNvSpPr txBox="1"/>
          <p:nvPr/>
        </p:nvSpPr>
        <p:spPr>
          <a:xfrm>
            <a:off x="397394" y="1367522"/>
            <a:ext cx="2490950" cy="707886"/>
          </a:xfrm>
          <a:prstGeom prst="rect">
            <a:avLst/>
          </a:prstGeom>
          <a:noFill/>
        </p:spPr>
        <p:txBody>
          <a:bodyPr wrap="square" rtlCol="0">
            <a:spAutoFit/>
          </a:bodyPr>
          <a:lstStyle/>
          <a:p>
            <a:pPr algn="ctr"/>
            <a:r>
              <a:rPr lang="fr-FR" sz="2000" dirty="0">
                <a:solidFill>
                  <a:schemeClr val="bg1"/>
                </a:solidFill>
              </a:rPr>
              <a:t>1- Développement logiciel</a:t>
            </a:r>
          </a:p>
        </p:txBody>
      </p:sp>
      <p:sp>
        <p:nvSpPr>
          <p:cNvPr id="8" name="Title 3"/>
          <p:cNvSpPr txBox="1">
            <a:spLocks/>
          </p:cNvSpPr>
          <p:nvPr/>
        </p:nvSpPr>
        <p:spPr>
          <a:xfrm>
            <a:off x="4063042" y="365125"/>
            <a:ext cx="4892272"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t>Chef de </a:t>
            </a:r>
            <a:r>
              <a:rPr lang="en-US" sz="3600" dirty="0" err="1"/>
              <a:t>projet</a:t>
            </a:r>
            <a:r>
              <a:rPr lang="en-US" sz="3600" dirty="0"/>
              <a:t> </a:t>
            </a:r>
            <a:r>
              <a:rPr lang="en-US" sz="3600" dirty="0" err="1"/>
              <a:t>informatique</a:t>
            </a:r>
            <a:br>
              <a:rPr lang="en-US" sz="3600" dirty="0"/>
            </a:br>
            <a:br>
              <a:rPr lang="en-US" sz="3600" dirty="0"/>
            </a:br>
            <a:r>
              <a:rPr lang="en-US" sz="3100" i="1" dirty="0" err="1">
                <a:effectLst>
                  <a:outerShdw blurRad="38100" dist="38100" dir="2700000" algn="tl">
                    <a:srgbClr val="000000">
                      <a:alpha val="43137"/>
                    </a:srgbClr>
                  </a:outerShdw>
                </a:effectLst>
              </a:rPr>
              <a:t>Profil</a:t>
            </a:r>
            <a:r>
              <a:rPr lang="en-US" sz="3100" i="1" dirty="0">
                <a:effectLst>
                  <a:outerShdw blurRad="38100" dist="38100" dir="2700000" algn="tl">
                    <a:srgbClr val="000000">
                      <a:alpha val="43137"/>
                    </a:srgbClr>
                  </a:outerShdw>
                </a:effectLst>
              </a:rPr>
              <a:t> du </a:t>
            </a:r>
            <a:r>
              <a:rPr lang="en-US" sz="3100" i="1" dirty="0" err="1">
                <a:effectLst>
                  <a:outerShdw blurRad="38100" dist="38100" dir="2700000" algn="tl">
                    <a:srgbClr val="000000">
                      <a:alpha val="43137"/>
                    </a:srgbClr>
                  </a:outerShdw>
                </a:effectLst>
              </a:rPr>
              <a:t>candidat</a:t>
            </a:r>
            <a:endParaRPr lang="en-US" sz="3100" i="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2144462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8128958" cy="1325563"/>
          </a:xfrm>
        </p:spPr>
        <p:txBody>
          <a:bodyPr vert="horz" lIns="91440" tIns="45720" rIns="91440" bIns="45720" rtlCol="0" anchor="ctr">
            <a:normAutofit/>
          </a:bodyPr>
          <a:lstStyle/>
          <a:p>
            <a:r>
              <a:rPr lang="en-US" sz="4000" dirty="0">
                <a:solidFill>
                  <a:schemeClr val="accent1">
                    <a:lumMod val="50000"/>
                  </a:schemeClr>
                </a:solidFill>
                <a:effectLst>
                  <a:outerShdw blurRad="38100" dist="38100" dir="2700000" algn="tl">
                    <a:srgbClr val="000000">
                      <a:alpha val="43137"/>
                    </a:srgbClr>
                  </a:outerShdw>
                </a:effectLst>
              </a:rPr>
              <a:t>2. Administration/Production </a:t>
            </a:r>
            <a:r>
              <a:rPr lang="en-US" sz="4000" dirty="0" err="1">
                <a:solidFill>
                  <a:schemeClr val="accent1">
                    <a:lumMod val="50000"/>
                  </a:schemeClr>
                </a:solidFill>
                <a:effectLst>
                  <a:outerShdw blurRad="38100" dist="38100" dir="2700000" algn="tl">
                    <a:srgbClr val="000000">
                      <a:alpha val="43137"/>
                    </a:srgbClr>
                  </a:outerShdw>
                </a:effectLst>
              </a:rPr>
              <a:t>Logiciel</a:t>
            </a:r>
            <a:endParaRPr lang="en-US" sz="4000" dirty="0">
              <a:solidFill>
                <a:schemeClr val="accent1">
                  <a:lumMod val="50000"/>
                </a:schemeClr>
              </a:solidFill>
              <a:effectLst>
                <a:outerShdw blurRad="38100" dist="38100" dir="2700000" algn="tl">
                  <a:srgbClr val="000000">
                    <a:alpha val="43137"/>
                  </a:srgbClr>
                </a:outerShdw>
              </a:effectLst>
            </a:endParaRPr>
          </a:p>
        </p:txBody>
      </p:sp>
      <p:sp>
        <p:nvSpPr>
          <p:cNvPr id="6" name="Content Placeholder 5"/>
          <p:cNvSpPr>
            <a:spLocks noGrp="1"/>
          </p:cNvSpPr>
          <p:nvPr>
            <p:ph idx="1"/>
          </p:nvPr>
        </p:nvSpPr>
        <p:spPr>
          <a:xfrm>
            <a:off x="3788229" y="1825625"/>
            <a:ext cx="8403771" cy="4351338"/>
          </a:xfrm>
        </p:spPr>
        <p:txBody>
          <a:bodyPr>
            <a:noAutofit/>
          </a:bodyPr>
          <a:lstStyle/>
          <a:p>
            <a:r>
              <a:rPr lang="fr-FR" sz="2400" dirty="0"/>
              <a:t>Les opérations logicielles comprennent des processus administratifs avec prise en charge du matériel et des logiciels.</a:t>
            </a:r>
          </a:p>
          <a:p>
            <a:r>
              <a:rPr lang="fr-FR" sz="2400" dirty="0"/>
              <a:t>Les rôles importants des équipes opérationnelles comprennent la gestion de la technologie, l'assurance qualité, la gestion de l'infrastructure et la confirmation que les produits finis répondent à tous les besoins et attentes du client.</a:t>
            </a:r>
          </a:p>
          <a:p>
            <a:r>
              <a:rPr lang="fr-FR" sz="2400" dirty="0"/>
              <a:t>Les principaux profils d'emploi sont les suivants:</a:t>
            </a:r>
          </a:p>
          <a:p>
            <a:pPr lvl="1"/>
            <a:r>
              <a:rPr lang="fr-FR" dirty="0"/>
              <a:t>Administrateur de base de données</a:t>
            </a:r>
          </a:p>
          <a:p>
            <a:pPr lvl="1"/>
            <a:r>
              <a:rPr lang="fr-FR" dirty="0"/>
              <a:t>Ingénieur réseau</a:t>
            </a:r>
          </a:p>
          <a:p>
            <a:pPr lvl="1"/>
            <a:r>
              <a:rPr lang="fr-FR" dirty="0"/>
              <a:t>Ingénieur sécurité</a:t>
            </a:r>
          </a:p>
          <a:p>
            <a:pPr lvl="1"/>
            <a:r>
              <a:rPr lang="fr-FR" dirty="0"/>
              <a:t>Ingénieur Cloud </a:t>
            </a:r>
          </a:p>
          <a:p>
            <a:pPr lvl="1"/>
            <a:r>
              <a:rPr lang="fr-FR" dirty="0"/>
              <a:t>Ingénieur </a:t>
            </a:r>
            <a:r>
              <a:rPr lang="fr-FR" dirty="0" err="1"/>
              <a:t>DevSecOps</a:t>
            </a:r>
            <a:endParaRPr lang="en-US" dirty="0"/>
          </a:p>
          <a:p>
            <a:pPr lvl="1"/>
            <a:endParaRPr lang="en-US" dirty="0"/>
          </a:p>
          <a:p>
            <a:endParaRPr lang="en-US" sz="2400" dirty="0"/>
          </a:p>
        </p:txBody>
      </p:sp>
      <p:sp>
        <p:nvSpPr>
          <p:cNvPr id="7" name="ZoneTexte 6"/>
          <p:cNvSpPr txBox="1"/>
          <p:nvPr/>
        </p:nvSpPr>
        <p:spPr>
          <a:xfrm>
            <a:off x="397394" y="1367522"/>
            <a:ext cx="2490950" cy="400110"/>
          </a:xfrm>
          <a:prstGeom prst="rect">
            <a:avLst/>
          </a:prstGeom>
          <a:noFill/>
        </p:spPr>
        <p:txBody>
          <a:bodyPr wrap="square" rtlCol="0">
            <a:spAutoFit/>
          </a:bodyPr>
          <a:lstStyle/>
          <a:p>
            <a:pPr algn="ctr"/>
            <a:r>
              <a:rPr lang="fr-FR" sz="2000" dirty="0">
                <a:solidFill>
                  <a:schemeClr val="bg1"/>
                </a:solidFill>
              </a:rPr>
              <a:t>2- Opérations</a:t>
            </a:r>
          </a:p>
        </p:txBody>
      </p:sp>
    </p:spTree>
    <p:extLst>
      <p:ext uri="{BB962C8B-B14F-4D97-AF65-F5344CB8AC3E}">
        <p14:creationId xmlns:p14="http://schemas.microsoft.com/office/powerpoint/2010/main" val="13984044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3918857" y="1825624"/>
            <a:ext cx="8273143" cy="4778375"/>
          </a:xfrm>
        </p:spPr>
        <p:txBody>
          <a:bodyPr>
            <a:normAutofit/>
          </a:bodyPr>
          <a:lstStyle/>
          <a:p>
            <a:r>
              <a:rPr lang="fr-FR" sz="2400" dirty="0"/>
              <a:t>Un administrateur de base de données est un professionnel qui maintient les performances, l'intégrité et la sécurité d'une base de données.</a:t>
            </a:r>
            <a:endParaRPr lang="en-US" sz="2400" dirty="0"/>
          </a:p>
          <a:p>
            <a:r>
              <a:rPr lang="fr-FR" sz="2400" dirty="0"/>
              <a:t>Un DBA s'assurera que:</a:t>
            </a:r>
          </a:p>
          <a:p>
            <a:pPr lvl="1"/>
            <a:r>
              <a:rPr lang="fr-FR" dirty="0"/>
              <a:t>Les données restent cohérentes dans toute la base de données.</a:t>
            </a:r>
          </a:p>
          <a:p>
            <a:pPr lvl="1"/>
            <a:r>
              <a:rPr lang="fr-FR" dirty="0"/>
              <a:t>Les données sont clairement définies.</a:t>
            </a:r>
          </a:p>
          <a:p>
            <a:pPr lvl="1"/>
            <a:r>
              <a:rPr lang="fr-FR" dirty="0"/>
              <a:t>Les utilisateurs accèdent aux données simultanément, sous une forme adaptée à leurs besoins.</a:t>
            </a:r>
          </a:p>
          <a:p>
            <a:pPr lvl="1"/>
            <a:r>
              <a:rPr lang="fr-FR" dirty="0"/>
              <a:t>Il existe des dispositions pour la sécurité des données et le contrôle de la récupération (garantissant que toutes les données sont récupérables en cas d'urgence).</a:t>
            </a:r>
            <a:endParaRPr lang="en-US" dirty="0"/>
          </a:p>
          <a:p>
            <a:pPr lvl="1"/>
            <a:endParaRPr lang="en-US" dirty="0"/>
          </a:p>
          <a:p>
            <a:endParaRPr lang="en-US" sz="2400" dirty="0"/>
          </a:p>
        </p:txBody>
      </p:sp>
      <p:sp>
        <p:nvSpPr>
          <p:cNvPr id="7" name="ZoneTexte 6"/>
          <p:cNvSpPr txBox="1"/>
          <p:nvPr/>
        </p:nvSpPr>
        <p:spPr>
          <a:xfrm>
            <a:off x="397394" y="1367522"/>
            <a:ext cx="2490950" cy="400110"/>
          </a:xfrm>
          <a:prstGeom prst="rect">
            <a:avLst/>
          </a:prstGeom>
          <a:noFill/>
        </p:spPr>
        <p:txBody>
          <a:bodyPr wrap="square" rtlCol="0">
            <a:spAutoFit/>
          </a:bodyPr>
          <a:lstStyle/>
          <a:p>
            <a:pPr algn="ctr"/>
            <a:r>
              <a:rPr lang="fr-FR" sz="2000" dirty="0">
                <a:solidFill>
                  <a:schemeClr val="bg1"/>
                </a:solidFill>
              </a:rPr>
              <a:t>2- Opérations</a:t>
            </a:r>
          </a:p>
        </p:txBody>
      </p:sp>
      <p:sp>
        <p:nvSpPr>
          <p:cNvPr id="8" name="Title 3"/>
          <p:cNvSpPr txBox="1">
            <a:spLocks/>
          </p:cNvSpPr>
          <p:nvPr/>
        </p:nvSpPr>
        <p:spPr>
          <a:xfrm>
            <a:off x="4063042" y="365125"/>
            <a:ext cx="4892272"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Ingénieur</a:t>
            </a:r>
            <a:r>
              <a:rPr lang="en-US" sz="3600" dirty="0"/>
              <a:t> Bases de </a:t>
            </a:r>
            <a:r>
              <a:rPr lang="en-US" sz="3600" dirty="0" err="1"/>
              <a:t>Données</a:t>
            </a:r>
            <a:br>
              <a:rPr lang="en-US" sz="3600" dirty="0"/>
            </a:br>
            <a:br>
              <a:rPr lang="en-US" sz="3600" dirty="0"/>
            </a:br>
            <a:r>
              <a:rPr lang="en-US" sz="3100" i="1" dirty="0" err="1">
                <a:effectLst>
                  <a:outerShdw blurRad="38100" dist="38100" dir="2700000" algn="tl">
                    <a:srgbClr val="000000">
                      <a:alpha val="43137"/>
                    </a:srgbClr>
                  </a:outerShdw>
                </a:effectLst>
              </a:rPr>
              <a:t>Définition</a:t>
            </a:r>
            <a:r>
              <a:rPr lang="en-US" sz="3100" i="1" dirty="0">
                <a:effectLst>
                  <a:outerShdw blurRad="38100" dist="38100" dir="2700000" algn="tl">
                    <a:srgbClr val="000000">
                      <a:alpha val="43137"/>
                    </a:srgbClr>
                  </a:outerShdw>
                </a:effectLst>
              </a:rPr>
              <a:t> du </a:t>
            </a:r>
            <a:r>
              <a:rPr lang="en-US" sz="3100" i="1" dirty="0" err="1">
                <a:effectLst>
                  <a:outerShdw blurRad="38100" dist="38100" dir="2700000" algn="tl">
                    <a:srgbClr val="000000">
                      <a:alpha val="43137"/>
                    </a:srgbClr>
                  </a:outerShdw>
                </a:effectLst>
              </a:rPr>
              <a:t>rôle</a:t>
            </a:r>
            <a:r>
              <a:rPr lang="en-US" sz="3100" i="1" dirty="0">
                <a:effectLst>
                  <a:outerShdw blurRad="38100" dist="38100" dir="2700000" algn="tl">
                    <a:srgbClr val="000000">
                      <a:alpha val="43137"/>
                    </a:srgbClr>
                  </a:outerShdw>
                </a:effectLst>
              </a:rPr>
              <a:t> et des missions</a:t>
            </a:r>
          </a:p>
        </p:txBody>
      </p:sp>
    </p:spTree>
    <p:extLst>
      <p:ext uri="{BB962C8B-B14F-4D97-AF65-F5344CB8AC3E}">
        <p14:creationId xmlns:p14="http://schemas.microsoft.com/office/powerpoint/2010/main" val="13984044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3875314" y="1825624"/>
            <a:ext cx="8316686" cy="5032375"/>
          </a:xfrm>
        </p:spPr>
        <p:txBody>
          <a:bodyPr>
            <a:normAutofit fontScale="62500" lnSpcReduction="20000"/>
          </a:bodyPr>
          <a:lstStyle/>
          <a:p>
            <a:r>
              <a:rPr lang="fr-FR" dirty="0"/>
              <a:t>Établir les besoins des utilisateurs et surveiller l'accès et la sécurité des utilisateurs.</a:t>
            </a:r>
          </a:p>
          <a:p>
            <a:r>
              <a:rPr lang="fr-FR" dirty="0"/>
              <a:t>Surveiller les performances et gérez les paramètres afin de fournir des réponses rapides aux utilisateurs frontaux.</a:t>
            </a:r>
          </a:p>
          <a:p>
            <a:r>
              <a:rPr lang="fr-FR" dirty="0"/>
              <a:t>Cartographier la conception conceptuelle d'une base de données planifiée.</a:t>
            </a:r>
          </a:p>
          <a:p>
            <a:r>
              <a:rPr lang="fr-FR" dirty="0"/>
              <a:t>Installer et tester de nouvelles versions du système de gestion de base de données (SGBD).</a:t>
            </a:r>
          </a:p>
          <a:p>
            <a:r>
              <a:rPr lang="fr-FR" dirty="0"/>
              <a:t>Maintenir les normes de données, y compris le respect de la loi sur la protection des données.</a:t>
            </a:r>
          </a:p>
          <a:p>
            <a:r>
              <a:rPr lang="fr-FR" dirty="0"/>
              <a:t>Rédiger la documentation de la base de données, y compris les normes de données, les procédures et les définitions du dictionnaire de données (métadonnées).</a:t>
            </a:r>
          </a:p>
          <a:p>
            <a:r>
              <a:rPr lang="fr-FR" dirty="0"/>
              <a:t>Contrôler les autorisations d'accès et les privilèges.</a:t>
            </a:r>
          </a:p>
          <a:p>
            <a:r>
              <a:rPr lang="fr-FR" dirty="0"/>
              <a:t>Gérer et tester les plans de sauvegarde et de récupération.</a:t>
            </a:r>
          </a:p>
          <a:p>
            <a:r>
              <a:rPr lang="fr-FR" dirty="0"/>
              <a:t>S’assurer que les procédures de stockage et d'archivage fonctionnent correctement.</a:t>
            </a:r>
          </a:p>
          <a:p>
            <a:r>
              <a:rPr lang="fr-FR" dirty="0"/>
              <a:t>Effectuer la planification des capacités.</a:t>
            </a:r>
          </a:p>
          <a:p>
            <a:r>
              <a:rPr lang="fr-FR" dirty="0"/>
              <a:t>Travailler en étroite collaboration avec les chefs de projets informatiques, les programmeurs de bases de données et les programmeurs multimédias.</a:t>
            </a:r>
            <a:endParaRPr lang="en-US" dirty="0"/>
          </a:p>
          <a:p>
            <a:pPr lvl="1"/>
            <a:endParaRPr lang="en-US" dirty="0"/>
          </a:p>
          <a:p>
            <a:pPr lvl="1"/>
            <a:endParaRPr lang="en-US" dirty="0"/>
          </a:p>
          <a:p>
            <a:endParaRPr lang="en-US" dirty="0"/>
          </a:p>
        </p:txBody>
      </p:sp>
      <p:sp>
        <p:nvSpPr>
          <p:cNvPr id="8" name="ZoneTexte 7"/>
          <p:cNvSpPr txBox="1"/>
          <p:nvPr/>
        </p:nvSpPr>
        <p:spPr>
          <a:xfrm>
            <a:off x="397394" y="1367522"/>
            <a:ext cx="2490950" cy="400110"/>
          </a:xfrm>
          <a:prstGeom prst="rect">
            <a:avLst/>
          </a:prstGeom>
          <a:noFill/>
        </p:spPr>
        <p:txBody>
          <a:bodyPr wrap="square" rtlCol="0">
            <a:spAutoFit/>
          </a:bodyPr>
          <a:lstStyle/>
          <a:p>
            <a:pPr algn="ctr"/>
            <a:r>
              <a:rPr lang="fr-FR" sz="2000" dirty="0">
                <a:solidFill>
                  <a:schemeClr val="bg1"/>
                </a:solidFill>
              </a:rPr>
              <a:t>2- Opérations</a:t>
            </a:r>
          </a:p>
        </p:txBody>
      </p:sp>
      <p:sp>
        <p:nvSpPr>
          <p:cNvPr id="9" name="Title 3"/>
          <p:cNvSpPr txBox="1">
            <a:spLocks/>
          </p:cNvSpPr>
          <p:nvPr/>
        </p:nvSpPr>
        <p:spPr>
          <a:xfrm>
            <a:off x="4063042" y="365125"/>
            <a:ext cx="5893758"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Ingénieur</a:t>
            </a:r>
            <a:r>
              <a:rPr lang="en-US" sz="3600" dirty="0"/>
              <a:t> Bases de </a:t>
            </a:r>
            <a:r>
              <a:rPr lang="en-US" sz="3600" dirty="0" err="1"/>
              <a:t>Données</a:t>
            </a:r>
            <a:br>
              <a:rPr lang="en-US" sz="3600" dirty="0"/>
            </a:br>
            <a:br>
              <a:rPr lang="en-US" sz="3600" dirty="0"/>
            </a:br>
            <a:r>
              <a:rPr lang="en-US" sz="3100" i="1" dirty="0" err="1">
                <a:effectLst>
                  <a:outerShdw blurRad="38100" dist="38100" dir="2700000" algn="tl">
                    <a:srgbClr val="000000">
                      <a:alpha val="43137"/>
                    </a:srgbClr>
                  </a:outerShdw>
                </a:effectLst>
              </a:rPr>
              <a:t>Définition</a:t>
            </a:r>
            <a:r>
              <a:rPr lang="en-US" sz="3100" i="1" dirty="0">
                <a:effectLst>
                  <a:outerShdw blurRad="38100" dist="38100" dir="2700000" algn="tl">
                    <a:srgbClr val="000000">
                      <a:alpha val="43137"/>
                    </a:srgbClr>
                  </a:outerShdw>
                </a:effectLst>
              </a:rPr>
              <a:t> du </a:t>
            </a:r>
            <a:r>
              <a:rPr lang="en-US" sz="3100" i="1" dirty="0" err="1">
                <a:effectLst>
                  <a:outerShdw blurRad="38100" dist="38100" dir="2700000" algn="tl">
                    <a:srgbClr val="000000">
                      <a:alpha val="43137"/>
                    </a:srgbClr>
                  </a:outerShdw>
                </a:effectLst>
              </a:rPr>
              <a:t>rôle</a:t>
            </a:r>
            <a:r>
              <a:rPr lang="en-US" sz="3100" i="1" dirty="0">
                <a:effectLst>
                  <a:outerShdw blurRad="38100" dist="38100" dir="2700000" algn="tl">
                    <a:srgbClr val="000000">
                      <a:alpha val="43137"/>
                    </a:srgbClr>
                  </a:outerShdw>
                </a:effectLst>
              </a:rPr>
              <a:t> et des missions (suite)</a:t>
            </a:r>
          </a:p>
        </p:txBody>
      </p:sp>
    </p:spTree>
    <p:extLst>
      <p:ext uri="{BB962C8B-B14F-4D97-AF65-F5344CB8AC3E}">
        <p14:creationId xmlns:p14="http://schemas.microsoft.com/office/powerpoint/2010/main" val="13984044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3889829" y="2055813"/>
            <a:ext cx="8302171" cy="4802186"/>
          </a:xfrm>
        </p:spPr>
        <p:txBody>
          <a:bodyPr>
            <a:normAutofit/>
          </a:bodyPr>
          <a:lstStyle/>
          <a:p>
            <a:r>
              <a:rPr lang="fr-FR" sz="2400" dirty="0"/>
              <a:t>Formation de niveau Bac +5 (Master 2) spécialisée en informatique et/ou télécoms, sécurité des systèmes informatiques et des réseaux, …</a:t>
            </a:r>
          </a:p>
          <a:p>
            <a:r>
              <a:rPr lang="fr-FR" sz="2400" dirty="0"/>
              <a:t>Écoles d’ingénieurs (informatique, télécoms, généralistes...)</a:t>
            </a:r>
          </a:p>
          <a:p>
            <a:r>
              <a:rPr lang="fr-FR" sz="2400" dirty="0"/>
              <a:t>La certification de qualification professionnelle (CQP) administrateur de base de données peut être demandée aux personnes travaillant dans des entreprises adhérant au SYNTEC</a:t>
            </a:r>
            <a:endParaRPr lang="en-US" sz="2400" dirty="0"/>
          </a:p>
          <a:p>
            <a:pPr lvl="1"/>
            <a:endParaRPr lang="en-US" sz="2000" dirty="0"/>
          </a:p>
          <a:p>
            <a:endParaRPr lang="en-US" sz="2400" dirty="0"/>
          </a:p>
        </p:txBody>
      </p:sp>
      <p:sp>
        <p:nvSpPr>
          <p:cNvPr id="8" name="ZoneTexte 7"/>
          <p:cNvSpPr txBox="1"/>
          <p:nvPr/>
        </p:nvSpPr>
        <p:spPr>
          <a:xfrm>
            <a:off x="397394" y="1367522"/>
            <a:ext cx="2490950" cy="400110"/>
          </a:xfrm>
          <a:prstGeom prst="rect">
            <a:avLst/>
          </a:prstGeom>
          <a:noFill/>
        </p:spPr>
        <p:txBody>
          <a:bodyPr wrap="square" rtlCol="0">
            <a:spAutoFit/>
          </a:bodyPr>
          <a:lstStyle/>
          <a:p>
            <a:pPr algn="ctr"/>
            <a:r>
              <a:rPr lang="fr-FR" sz="2000" dirty="0">
                <a:solidFill>
                  <a:schemeClr val="bg1"/>
                </a:solidFill>
              </a:rPr>
              <a:t>2- Opérations</a:t>
            </a:r>
          </a:p>
        </p:txBody>
      </p:sp>
      <p:sp>
        <p:nvSpPr>
          <p:cNvPr id="9" name="Title 3"/>
          <p:cNvSpPr txBox="1">
            <a:spLocks/>
          </p:cNvSpPr>
          <p:nvPr/>
        </p:nvSpPr>
        <p:spPr>
          <a:xfrm>
            <a:off x="4063042" y="365125"/>
            <a:ext cx="5893758"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Ingénieur</a:t>
            </a:r>
            <a:r>
              <a:rPr lang="en-US" sz="3600" dirty="0"/>
              <a:t> Bases de </a:t>
            </a:r>
            <a:r>
              <a:rPr lang="en-US" sz="3600" dirty="0" err="1"/>
              <a:t>Données</a:t>
            </a:r>
            <a:br>
              <a:rPr lang="en-US" sz="3600" dirty="0"/>
            </a:br>
            <a:br>
              <a:rPr lang="en-US" sz="3600" dirty="0"/>
            </a:br>
            <a:r>
              <a:rPr lang="en-US" sz="3100" i="1" dirty="0" err="1">
                <a:effectLst>
                  <a:outerShdw blurRad="38100" dist="38100" dir="2700000" algn="tl">
                    <a:srgbClr val="000000">
                      <a:alpha val="43137"/>
                    </a:srgbClr>
                  </a:outerShdw>
                </a:effectLst>
              </a:rPr>
              <a:t>Profil</a:t>
            </a:r>
            <a:r>
              <a:rPr lang="en-US" sz="3100" i="1" dirty="0">
                <a:effectLst>
                  <a:outerShdw blurRad="38100" dist="38100" dir="2700000" algn="tl">
                    <a:srgbClr val="000000">
                      <a:alpha val="43137"/>
                    </a:srgbClr>
                  </a:outerShdw>
                </a:effectLst>
              </a:rPr>
              <a:t> du </a:t>
            </a:r>
            <a:r>
              <a:rPr lang="en-US" sz="3100" i="1" dirty="0" err="1">
                <a:effectLst>
                  <a:outerShdw blurRad="38100" dist="38100" dir="2700000" algn="tl">
                    <a:srgbClr val="000000">
                      <a:alpha val="43137"/>
                    </a:srgbClr>
                  </a:outerShdw>
                </a:effectLst>
              </a:rPr>
              <a:t>candidat</a:t>
            </a:r>
            <a:endParaRPr lang="en-US" sz="3100" i="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0885166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4063042" y="2235199"/>
            <a:ext cx="8128958" cy="3941763"/>
          </a:xfrm>
        </p:spPr>
        <p:txBody>
          <a:bodyPr>
            <a:normAutofit/>
          </a:bodyPr>
          <a:lstStyle/>
          <a:p>
            <a:r>
              <a:rPr lang="fr-FR" sz="2400" dirty="0"/>
              <a:t>L’ingénieur réseaux télécoms définit les besoins et l’architecture des réseaux de télécommunications de l’entreprise.</a:t>
            </a:r>
          </a:p>
          <a:p>
            <a:r>
              <a:rPr lang="fr-FR" sz="2400" dirty="0"/>
              <a:t>Il est garant du bon fonctionnement et de la qualité du réseau, participe à son évolution et pilote l’accès aux utilisateurs..</a:t>
            </a:r>
            <a:endParaRPr lang="en-US" sz="2400" dirty="0"/>
          </a:p>
          <a:p>
            <a:endParaRPr lang="en-US" sz="2400" dirty="0"/>
          </a:p>
        </p:txBody>
      </p:sp>
      <p:sp>
        <p:nvSpPr>
          <p:cNvPr id="8" name="ZoneTexte 7"/>
          <p:cNvSpPr txBox="1"/>
          <p:nvPr/>
        </p:nvSpPr>
        <p:spPr>
          <a:xfrm>
            <a:off x="397394" y="1367522"/>
            <a:ext cx="2490950" cy="400110"/>
          </a:xfrm>
          <a:prstGeom prst="rect">
            <a:avLst/>
          </a:prstGeom>
          <a:noFill/>
        </p:spPr>
        <p:txBody>
          <a:bodyPr wrap="square" rtlCol="0">
            <a:spAutoFit/>
          </a:bodyPr>
          <a:lstStyle/>
          <a:p>
            <a:pPr algn="ctr"/>
            <a:r>
              <a:rPr lang="fr-FR" sz="2000" dirty="0">
                <a:solidFill>
                  <a:schemeClr val="bg1"/>
                </a:solidFill>
              </a:rPr>
              <a:t>2- Opérations</a:t>
            </a:r>
          </a:p>
        </p:txBody>
      </p:sp>
      <p:sp>
        <p:nvSpPr>
          <p:cNvPr id="9" name="Title 3"/>
          <p:cNvSpPr txBox="1">
            <a:spLocks/>
          </p:cNvSpPr>
          <p:nvPr/>
        </p:nvSpPr>
        <p:spPr>
          <a:xfrm>
            <a:off x="4063042" y="365125"/>
            <a:ext cx="5893758"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Ingénieur</a:t>
            </a:r>
            <a:r>
              <a:rPr lang="en-US" sz="3600" dirty="0"/>
              <a:t> </a:t>
            </a:r>
            <a:r>
              <a:rPr lang="en-US" sz="3600" dirty="0" err="1"/>
              <a:t>Réseau</a:t>
            </a:r>
            <a:r>
              <a:rPr lang="en-US" sz="3600" dirty="0"/>
              <a:t>/Telecom</a:t>
            </a:r>
            <a:br>
              <a:rPr lang="en-US" sz="3600" dirty="0"/>
            </a:br>
            <a:br>
              <a:rPr lang="en-US" sz="3600" dirty="0"/>
            </a:br>
            <a:r>
              <a:rPr lang="en-US" sz="3100" i="1" dirty="0" err="1">
                <a:effectLst>
                  <a:outerShdw blurRad="38100" dist="38100" dir="2700000" algn="tl">
                    <a:srgbClr val="000000">
                      <a:alpha val="43137"/>
                    </a:srgbClr>
                  </a:outerShdw>
                </a:effectLst>
              </a:rPr>
              <a:t>Définition</a:t>
            </a:r>
            <a:r>
              <a:rPr lang="en-US" sz="3100" i="1" dirty="0">
                <a:effectLst>
                  <a:outerShdw blurRad="38100" dist="38100" dir="2700000" algn="tl">
                    <a:srgbClr val="000000">
                      <a:alpha val="43137"/>
                    </a:srgbClr>
                  </a:outerShdw>
                </a:effectLst>
              </a:rPr>
              <a:t> du </a:t>
            </a:r>
            <a:r>
              <a:rPr lang="en-US" sz="3100" i="1" dirty="0" err="1">
                <a:effectLst>
                  <a:outerShdw blurRad="38100" dist="38100" dir="2700000" algn="tl">
                    <a:srgbClr val="000000">
                      <a:alpha val="43137"/>
                    </a:srgbClr>
                  </a:outerShdw>
                </a:effectLst>
              </a:rPr>
              <a:t>rôle</a:t>
            </a:r>
            <a:r>
              <a:rPr lang="en-US" sz="3100" i="1" dirty="0">
                <a:effectLst>
                  <a:outerShdw blurRad="38100" dist="38100" dir="2700000" algn="tl">
                    <a:srgbClr val="000000">
                      <a:alpha val="43137"/>
                    </a:srgbClr>
                  </a:outerShdw>
                </a:effectLst>
              </a:rPr>
              <a:t> et des missions</a:t>
            </a:r>
          </a:p>
        </p:txBody>
      </p:sp>
    </p:spTree>
    <p:extLst>
      <p:ext uri="{BB962C8B-B14F-4D97-AF65-F5344CB8AC3E}">
        <p14:creationId xmlns:p14="http://schemas.microsoft.com/office/powerpoint/2010/main" val="13984044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3802743" y="1825625"/>
            <a:ext cx="8389257" cy="5032375"/>
          </a:xfrm>
        </p:spPr>
        <p:txBody>
          <a:bodyPr>
            <a:noAutofit/>
          </a:bodyPr>
          <a:lstStyle/>
          <a:p>
            <a:r>
              <a:rPr lang="fr-FR" sz="1300" dirty="0"/>
              <a:t>Établir l'environnement réseau en concevant la configuration du système, en dirigeant l'installation du système et en définissant, documentant et appliquant les normes du système.</a:t>
            </a:r>
          </a:p>
          <a:p>
            <a:r>
              <a:rPr lang="fr-FR" sz="1300" dirty="0"/>
              <a:t>Optimiser les performances du réseau en surveillant les performances, en résolvant les problèmes et les pannes de réseau, en planifiant les mises à niveau et en collaborant avec les architectes réseau sur l'optimisation du réseau.</a:t>
            </a:r>
          </a:p>
          <a:p>
            <a:r>
              <a:rPr lang="fr-FR" sz="1300" dirty="0"/>
              <a:t>Prendre en compte les exigences des utilisateurs en termes d’exigence de performances du réseau (puissance, rapidité, stabilité).</a:t>
            </a:r>
          </a:p>
          <a:p>
            <a:r>
              <a:rPr lang="fr-FR" sz="1300" dirty="0"/>
              <a:t>Sécuriser les systèmes de réseau en établissant et en appliquant des politiques, et en définissant et en surveillant l'accès.</a:t>
            </a:r>
          </a:p>
          <a:p>
            <a:r>
              <a:rPr lang="fr-FR" sz="1300" dirty="0"/>
              <a:t>Soutenir et administrer les environnements de pare-feu conformément à la politique de sécurité informatique.</a:t>
            </a:r>
          </a:p>
          <a:p>
            <a:r>
              <a:rPr lang="fr-FR" sz="1300" dirty="0"/>
              <a:t>Signaler l'état opérationnel du réseau en collectant et en hiérarchisant les informations et en gérant les projets.</a:t>
            </a:r>
          </a:p>
          <a:p>
            <a:r>
              <a:rPr lang="fr-FR" sz="1300" dirty="0"/>
              <a:t>Configurer les équipements de routage et de commutation, les services vocaux IP hébergés et les pare-feu.</a:t>
            </a:r>
          </a:p>
          <a:p>
            <a:r>
              <a:rPr lang="fr-FR" sz="1300" dirty="0"/>
              <a:t>Fournir une assistance à distance aux ingénieurs sur site et aux utilisateurs finaux / clients pendant l'installation.</a:t>
            </a:r>
          </a:p>
          <a:p>
            <a:r>
              <a:rPr lang="fr-FR" sz="1300" dirty="0"/>
              <a:t>Fournir un dépannage et une recherche de pannes à distance si des problèmes surviennent lors de l'installation initiale.</a:t>
            </a:r>
          </a:p>
          <a:p>
            <a:r>
              <a:rPr lang="fr-FR" sz="1300" dirty="0"/>
              <a:t>Entreprendre la gestion de la capacité et l'audit de l'adressage IP et des appareils hébergés dans les centres de données. </a:t>
            </a:r>
          </a:p>
          <a:p>
            <a:r>
              <a:rPr lang="fr-FR" sz="1300" dirty="0"/>
              <a:t>Assurer une veille technologique pour anticiper les évolutions nécessaires</a:t>
            </a:r>
            <a:endParaRPr lang="en-US" sz="1300" dirty="0"/>
          </a:p>
        </p:txBody>
      </p:sp>
      <p:sp>
        <p:nvSpPr>
          <p:cNvPr id="8" name="ZoneTexte 7"/>
          <p:cNvSpPr txBox="1"/>
          <p:nvPr/>
        </p:nvSpPr>
        <p:spPr>
          <a:xfrm>
            <a:off x="397394" y="1367522"/>
            <a:ext cx="2490950" cy="400110"/>
          </a:xfrm>
          <a:prstGeom prst="rect">
            <a:avLst/>
          </a:prstGeom>
          <a:noFill/>
        </p:spPr>
        <p:txBody>
          <a:bodyPr wrap="square" rtlCol="0">
            <a:spAutoFit/>
          </a:bodyPr>
          <a:lstStyle/>
          <a:p>
            <a:pPr algn="ctr"/>
            <a:r>
              <a:rPr lang="fr-FR" sz="2000" dirty="0">
                <a:solidFill>
                  <a:schemeClr val="bg1"/>
                </a:solidFill>
              </a:rPr>
              <a:t>2- Opérations</a:t>
            </a:r>
          </a:p>
        </p:txBody>
      </p:sp>
      <p:sp>
        <p:nvSpPr>
          <p:cNvPr id="9" name="Title 3"/>
          <p:cNvSpPr txBox="1">
            <a:spLocks/>
          </p:cNvSpPr>
          <p:nvPr/>
        </p:nvSpPr>
        <p:spPr>
          <a:xfrm>
            <a:off x="4063042" y="365125"/>
            <a:ext cx="5893758"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Ingénieur</a:t>
            </a:r>
            <a:r>
              <a:rPr lang="en-US" sz="3600" dirty="0"/>
              <a:t> </a:t>
            </a:r>
            <a:r>
              <a:rPr lang="en-US" sz="3600" dirty="0" err="1"/>
              <a:t>Réseau</a:t>
            </a:r>
            <a:r>
              <a:rPr lang="en-US" sz="3600" dirty="0"/>
              <a:t>/Telecom</a:t>
            </a:r>
            <a:br>
              <a:rPr lang="en-US" sz="3600" dirty="0"/>
            </a:br>
            <a:br>
              <a:rPr lang="en-US" sz="3600" dirty="0"/>
            </a:br>
            <a:r>
              <a:rPr lang="en-US" sz="3100" i="1" dirty="0" err="1">
                <a:effectLst>
                  <a:outerShdw blurRad="38100" dist="38100" dir="2700000" algn="tl">
                    <a:srgbClr val="000000">
                      <a:alpha val="43137"/>
                    </a:srgbClr>
                  </a:outerShdw>
                </a:effectLst>
              </a:rPr>
              <a:t>Définition</a:t>
            </a:r>
            <a:r>
              <a:rPr lang="en-US" sz="3100" i="1" dirty="0">
                <a:effectLst>
                  <a:outerShdw blurRad="38100" dist="38100" dir="2700000" algn="tl">
                    <a:srgbClr val="000000">
                      <a:alpha val="43137"/>
                    </a:srgbClr>
                  </a:outerShdw>
                </a:effectLst>
              </a:rPr>
              <a:t> du </a:t>
            </a:r>
            <a:r>
              <a:rPr lang="en-US" sz="3100" i="1" dirty="0" err="1">
                <a:effectLst>
                  <a:outerShdw blurRad="38100" dist="38100" dir="2700000" algn="tl">
                    <a:srgbClr val="000000">
                      <a:alpha val="43137"/>
                    </a:srgbClr>
                  </a:outerShdw>
                </a:effectLst>
              </a:rPr>
              <a:t>rôle</a:t>
            </a:r>
            <a:r>
              <a:rPr lang="en-US" sz="3100" i="1" dirty="0">
                <a:effectLst>
                  <a:outerShdw blurRad="38100" dist="38100" dir="2700000" algn="tl">
                    <a:srgbClr val="000000">
                      <a:alpha val="43137"/>
                    </a:srgbClr>
                  </a:outerShdw>
                </a:effectLst>
              </a:rPr>
              <a:t> et des missions (suite)</a:t>
            </a:r>
          </a:p>
        </p:txBody>
      </p:sp>
    </p:spTree>
    <p:extLst>
      <p:ext uri="{BB962C8B-B14F-4D97-AF65-F5344CB8AC3E}">
        <p14:creationId xmlns:p14="http://schemas.microsoft.com/office/powerpoint/2010/main" val="13984044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3860800" y="1825625"/>
            <a:ext cx="8215086" cy="4923518"/>
          </a:xfrm>
        </p:spPr>
        <p:txBody>
          <a:bodyPr>
            <a:normAutofit fontScale="62500" lnSpcReduction="20000"/>
          </a:bodyPr>
          <a:lstStyle/>
          <a:p>
            <a:pPr algn="l">
              <a:buFont typeface="Arial" panose="020B0604020202020204" pitchFamily="34" charset="0"/>
              <a:buChar char="•"/>
            </a:pPr>
            <a:r>
              <a:rPr lang="fr-FR" b="0" i="0" dirty="0">
                <a:effectLst/>
              </a:rPr>
              <a:t>Bonne connaissance de l’architecture et des fonctionnalités du SI de l’entreprise</a:t>
            </a:r>
          </a:p>
          <a:p>
            <a:pPr algn="l">
              <a:buFont typeface="Arial" panose="020B0604020202020204" pitchFamily="34" charset="0"/>
              <a:buChar char="•"/>
            </a:pPr>
            <a:r>
              <a:rPr lang="fr-FR" b="0" i="0" dirty="0">
                <a:effectLst/>
              </a:rPr>
              <a:t>Expertise dans l’administration des réseaux et systèmes (routeurs, firewall…)</a:t>
            </a:r>
          </a:p>
          <a:p>
            <a:pPr algn="l">
              <a:buFont typeface="Arial" panose="020B0604020202020204" pitchFamily="34" charset="0"/>
              <a:buChar char="•"/>
            </a:pPr>
            <a:r>
              <a:rPr lang="fr-FR" b="0" i="0" dirty="0">
                <a:effectLst/>
              </a:rPr>
              <a:t>Connaissance des protocoles réseaux et de télécommunication (TCP/IP, Ethernet, LAN, WAN, X25…)</a:t>
            </a:r>
          </a:p>
          <a:p>
            <a:pPr algn="l">
              <a:buFont typeface="Arial" panose="020B0604020202020204" pitchFamily="34" charset="0"/>
              <a:buChar char="•"/>
            </a:pPr>
            <a:r>
              <a:rPr lang="fr-FR" b="0" i="0" dirty="0">
                <a:effectLst/>
              </a:rPr>
              <a:t>Maîtrise de la gestion des logiciels d’infrastructure (systèmes d’exploitation, serveurs de messagerie, bases de données…)</a:t>
            </a:r>
          </a:p>
          <a:p>
            <a:pPr algn="l">
              <a:buFont typeface="Arial" panose="020B0604020202020204" pitchFamily="34" charset="0"/>
              <a:buChar char="•"/>
            </a:pPr>
            <a:r>
              <a:rPr lang="fr-FR" b="0" i="0" dirty="0">
                <a:effectLst/>
              </a:rPr>
              <a:t>Bonne connaissance des technologies télécoms et Internet (DNS, SSH, FTP, DHCP, HTTP(S), NTP, SNMP …)</a:t>
            </a:r>
          </a:p>
          <a:p>
            <a:pPr algn="l">
              <a:buFont typeface="Arial" panose="020B0604020202020204" pitchFamily="34" charset="0"/>
              <a:buChar char="•"/>
            </a:pPr>
            <a:r>
              <a:rPr lang="fr-FR" b="0" i="0" dirty="0">
                <a:effectLst/>
              </a:rPr>
              <a:t>Connaissance des bases de données (Oracle, </a:t>
            </a:r>
            <a:r>
              <a:rPr lang="fr-FR" b="0" i="0" dirty="0" err="1">
                <a:effectLst/>
              </a:rPr>
              <a:t>SQLServer</a:t>
            </a:r>
            <a:r>
              <a:rPr lang="fr-FR" b="0" i="0" dirty="0">
                <a:effectLst/>
              </a:rPr>
              <a:t>…)</a:t>
            </a:r>
          </a:p>
          <a:p>
            <a:pPr algn="l">
              <a:buFont typeface="Arial" panose="020B0604020202020204" pitchFamily="34" charset="0"/>
              <a:buChar char="•"/>
            </a:pPr>
            <a:r>
              <a:rPr lang="fr-FR" b="0" i="0" dirty="0">
                <a:effectLst/>
              </a:rPr>
              <a:t>Très bonnes connaissances des principaux systèmes d’exploitation (notamment Windows et Unix)</a:t>
            </a:r>
          </a:p>
          <a:p>
            <a:pPr algn="l">
              <a:buFont typeface="Arial" panose="020B0604020202020204" pitchFamily="34" charset="0"/>
              <a:buChar char="•"/>
            </a:pPr>
            <a:r>
              <a:rPr lang="fr-FR" b="0" i="0" dirty="0">
                <a:effectLst/>
              </a:rPr>
              <a:t>Connaissance des normes et procédures de sécurité et des outils et technologies qui s'y rapportent: firewall, antivirus, serveurs d'authentification, filtrages d'URL...</a:t>
            </a:r>
          </a:p>
          <a:p>
            <a:pPr algn="l">
              <a:buFont typeface="Arial" panose="020B0604020202020204" pitchFamily="34" charset="0"/>
              <a:buChar char="•"/>
            </a:pPr>
            <a:r>
              <a:rPr lang="fr-FR" b="0" i="0" dirty="0">
                <a:effectLst/>
              </a:rPr>
              <a:t>Connaissance des principaux constructeurs et éditeurs prestataires du marché</a:t>
            </a:r>
          </a:p>
          <a:p>
            <a:pPr algn="l">
              <a:buFont typeface="Arial" panose="020B0604020202020204" pitchFamily="34" charset="0"/>
              <a:buChar char="•"/>
            </a:pPr>
            <a:r>
              <a:rPr lang="fr-FR" b="0" i="0" dirty="0">
                <a:effectLst/>
              </a:rPr>
              <a:t>Connaissance des normes ISO (si l’entreprise dispose d’une certification) ou ITIL</a:t>
            </a:r>
          </a:p>
          <a:p>
            <a:pPr algn="l">
              <a:buFont typeface="Arial" panose="020B0604020202020204" pitchFamily="34" charset="0"/>
              <a:buChar char="•"/>
            </a:pPr>
            <a:r>
              <a:rPr lang="fr-FR" b="0" i="0" dirty="0">
                <a:effectLst/>
              </a:rPr>
              <a:t>Compréhension de l’environnement de l’entreprise, et de ses spécificités métiers</a:t>
            </a:r>
          </a:p>
          <a:p>
            <a:pPr algn="l">
              <a:buFont typeface="Arial" panose="020B0604020202020204" pitchFamily="34" charset="0"/>
              <a:buChar char="•"/>
            </a:pPr>
            <a:r>
              <a:rPr lang="fr-FR" b="0" i="0" dirty="0">
                <a:effectLst/>
              </a:rPr>
              <a:t>Maîtrise de l’anglais technique</a:t>
            </a:r>
          </a:p>
        </p:txBody>
      </p:sp>
      <p:sp>
        <p:nvSpPr>
          <p:cNvPr id="8" name="ZoneTexte 7"/>
          <p:cNvSpPr txBox="1"/>
          <p:nvPr/>
        </p:nvSpPr>
        <p:spPr>
          <a:xfrm>
            <a:off x="397394" y="1367522"/>
            <a:ext cx="2490950" cy="400110"/>
          </a:xfrm>
          <a:prstGeom prst="rect">
            <a:avLst/>
          </a:prstGeom>
          <a:noFill/>
        </p:spPr>
        <p:txBody>
          <a:bodyPr wrap="square" rtlCol="0">
            <a:spAutoFit/>
          </a:bodyPr>
          <a:lstStyle/>
          <a:p>
            <a:pPr algn="ctr"/>
            <a:r>
              <a:rPr lang="fr-FR" sz="2000" dirty="0">
                <a:solidFill>
                  <a:schemeClr val="bg1"/>
                </a:solidFill>
              </a:rPr>
              <a:t>2- Opérations</a:t>
            </a:r>
          </a:p>
        </p:txBody>
      </p:sp>
      <p:sp>
        <p:nvSpPr>
          <p:cNvPr id="9" name="Title 3"/>
          <p:cNvSpPr txBox="1">
            <a:spLocks/>
          </p:cNvSpPr>
          <p:nvPr/>
        </p:nvSpPr>
        <p:spPr>
          <a:xfrm>
            <a:off x="4063042" y="365125"/>
            <a:ext cx="5893758"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Ingénieur</a:t>
            </a:r>
            <a:r>
              <a:rPr lang="en-US" sz="3600" dirty="0"/>
              <a:t> </a:t>
            </a:r>
            <a:r>
              <a:rPr lang="en-US" sz="3600" dirty="0" err="1"/>
              <a:t>Réseau</a:t>
            </a:r>
            <a:r>
              <a:rPr lang="en-US" sz="3600" dirty="0"/>
              <a:t>/Telecom</a:t>
            </a:r>
            <a:br>
              <a:rPr lang="en-US" sz="3600" dirty="0"/>
            </a:br>
            <a:br>
              <a:rPr lang="en-US" sz="3600" dirty="0"/>
            </a:br>
            <a:r>
              <a:rPr lang="en-US" sz="3100" i="1" dirty="0" err="1">
                <a:effectLst>
                  <a:outerShdw blurRad="38100" dist="38100" dir="2700000" algn="tl">
                    <a:srgbClr val="000000">
                      <a:alpha val="43137"/>
                    </a:srgbClr>
                  </a:outerShdw>
                </a:effectLst>
              </a:rPr>
              <a:t>Compétences</a:t>
            </a:r>
            <a:r>
              <a:rPr lang="en-US" sz="3100" i="1" dirty="0">
                <a:effectLst>
                  <a:outerShdw blurRad="38100" dist="38100" dir="2700000" algn="tl">
                    <a:srgbClr val="000000">
                      <a:alpha val="43137"/>
                    </a:srgbClr>
                  </a:outerShdw>
                </a:effectLst>
              </a:rPr>
              <a:t> techniques</a:t>
            </a:r>
          </a:p>
        </p:txBody>
      </p:sp>
    </p:spTree>
    <p:extLst>
      <p:ext uri="{BB962C8B-B14F-4D97-AF65-F5344CB8AC3E}">
        <p14:creationId xmlns:p14="http://schemas.microsoft.com/office/powerpoint/2010/main" val="14025778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3800475" y="2328863"/>
            <a:ext cx="8391525" cy="4414837"/>
          </a:xfrm>
        </p:spPr>
        <p:txBody>
          <a:bodyPr>
            <a:normAutofit/>
          </a:bodyPr>
          <a:lstStyle/>
          <a:p>
            <a:pPr algn="l">
              <a:buFont typeface="Arial" panose="020B0604020202020204" pitchFamily="34" charset="0"/>
              <a:buChar char="•"/>
            </a:pPr>
            <a:r>
              <a:rPr lang="fr-FR" sz="2000" b="0" i="0" dirty="0">
                <a:effectLst/>
                <a:latin typeface="Montserrat-Regular"/>
              </a:rPr>
              <a:t>Formation de niveau bac +4/5 (Master) spécialisée en informatique, réseaux et télécommunications</a:t>
            </a:r>
          </a:p>
          <a:p>
            <a:pPr algn="l">
              <a:buFont typeface="Arial" panose="020B0604020202020204" pitchFamily="34" charset="0"/>
              <a:buChar char="•"/>
            </a:pPr>
            <a:r>
              <a:rPr lang="fr-FR" sz="2000" b="0" i="0" dirty="0">
                <a:effectLst/>
                <a:latin typeface="Montserrat-Regular"/>
              </a:rPr>
              <a:t>Écoles d’ingénieurs (informatique, télécoms, généralistes..)</a:t>
            </a:r>
          </a:p>
          <a:p>
            <a:pPr algn="l">
              <a:buFont typeface="Arial" panose="020B0604020202020204" pitchFamily="34" charset="0"/>
              <a:buChar char="•"/>
            </a:pPr>
            <a:r>
              <a:rPr lang="fr-FR" sz="2000" b="0" i="0" dirty="0">
                <a:effectLst/>
                <a:latin typeface="Montserrat-Regular"/>
              </a:rPr>
              <a:t>Une certification professionnelle à certains outils (notamment CISCO) peut être exigée</a:t>
            </a:r>
          </a:p>
        </p:txBody>
      </p:sp>
      <p:sp>
        <p:nvSpPr>
          <p:cNvPr id="8" name="ZoneTexte 7"/>
          <p:cNvSpPr txBox="1"/>
          <p:nvPr/>
        </p:nvSpPr>
        <p:spPr>
          <a:xfrm>
            <a:off x="397394" y="1367522"/>
            <a:ext cx="2490950" cy="400110"/>
          </a:xfrm>
          <a:prstGeom prst="rect">
            <a:avLst/>
          </a:prstGeom>
          <a:noFill/>
        </p:spPr>
        <p:txBody>
          <a:bodyPr wrap="square" rtlCol="0">
            <a:spAutoFit/>
          </a:bodyPr>
          <a:lstStyle/>
          <a:p>
            <a:pPr algn="ctr"/>
            <a:r>
              <a:rPr lang="fr-FR" sz="2000" dirty="0">
                <a:solidFill>
                  <a:schemeClr val="bg1"/>
                </a:solidFill>
              </a:rPr>
              <a:t>2- Opérations</a:t>
            </a:r>
          </a:p>
        </p:txBody>
      </p:sp>
      <p:sp>
        <p:nvSpPr>
          <p:cNvPr id="9" name="Title 3"/>
          <p:cNvSpPr txBox="1">
            <a:spLocks/>
          </p:cNvSpPr>
          <p:nvPr/>
        </p:nvSpPr>
        <p:spPr>
          <a:xfrm>
            <a:off x="4063042" y="365125"/>
            <a:ext cx="5893758"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Ingénieur</a:t>
            </a:r>
            <a:r>
              <a:rPr lang="en-US" sz="3600" dirty="0"/>
              <a:t> </a:t>
            </a:r>
            <a:r>
              <a:rPr lang="en-US" sz="3600" dirty="0" err="1"/>
              <a:t>Réseau</a:t>
            </a:r>
            <a:r>
              <a:rPr lang="en-US" sz="3600" dirty="0"/>
              <a:t>/Telecom</a:t>
            </a:r>
            <a:br>
              <a:rPr lang="en-US" sz="3600" dirty="0"/>
            </a:br>
            <a:br>
              <a:rPr lang="en-US" sz="3600" dirty="0"/>
            </a:br>
            <a:r>
              <a:rPr lang="en-US" sz="3100" i="1" dirty="0" err="1">
                <a:effectLst>
                  <a:outerShdw blurRad="38100" dist="38100" dir="2700000" algn="tl">
                    <a:srgbClr val="000000">
                      <a:alpha val="43137"/>
                    </a:srgbClr>
                  </a:outerShdw>
                </a:effectLst>
              </a:rPr>
              <a:t>Profil</a:t>
            </a:r>
            <a:r>
              <a:rPr lang="en-US" sz="3100" i="1" dirty="0">
                <a:effectLst>
                  <a:outerShdw blurRad="38100" dist="38100" dir="2700000" algn="tl">
                    <a:srgbClr val="000000">
                      <a:alpha val="43137"/>
                    </a:srgbClr>
                  </a:outerShdw>
                </a:effectLst>
              </a:rPr>
              <a:t> du </a:t>
            </a:r>
            <a:r>
              <a:rPr lang="en-US" sz="3100" i="1" dirty="0" err="1">
                <a:effectLst>
                  <a:outerShdw blurRad="38100" dist="38100" dir="2700000" algn="tl">
                    <a:srgbClr val="000000">
                      <a:alpha val="43137"/>
                    </a:srgbClr>
                  </a:outerShdw>
                </a:effectLst>
              </a:rPr>
              <a:t>candidat</a:t>
            </a:r>
            <a:endParaRPr lang="en-US" sz="3100" i="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6927338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4063042" y="2343149"/>
            <a:ext cx="8128958" cy="3833813"/>
          </a:xfrm>
        </p:spPr>
        <p:txBody>
          <a:bodyPr>
            <a:normAutofit/>
          </a:bodyPr>
          <a:lstStyle/>
          <a:p>
            <a:r>
              <a:rPr lang="fr-FR" sz="2000" dirty="0"/>
              <a:t>Un ingénieur en cybersécurité est un professionnel chargé de protéger l'infrastructure informatique (y compris les réseaux, le matériel et les logiciels) contre une gamme d'activités criminelles.</a:t>
            </a:r>
          </a:p>
          <a:p>
            <a:r>
              <a:rPr lang="fr-FR" sz="2000" dirty="0"/>
              <a:t>Surveillez les réseaux et les systèmes, détectez les menaces de sécurité (`` événements ''), analysez et évaluez les alarmes et signalez les menaces, les tentatives d'intrusion et les fausses alarmes, en les résolvant ou en les augmentant, selon la gravité. </a:t>
            </a:r>
            <a:endParaRPr lang="en-US" sz="2000" dirty="0"/>
          </a:p>
          <a:p>
            <a:endParaRPr lang="en-US" sz="2000" dirty="0"/>
          </a:p>
        </p:txBody>
      </p:sp>
      <p:sp>
        <p:nvSpPr>
          <p:cNvPr id="8" name="ZoneTexte 7"/>
          <p:cNvSpPr txBox="1"/>
          <p:nvPr/>
        </p:nvSpPr>
        <p:spPr>
          <a:xfrm>
            <a:off x="397394" y="1367522"/>
            <a:ext cx="2490950" cy="400110"/>
          </a:xfrm>
          <a:prstGeom prst="rect">
            <a:avLst/>
          </a:prstGeom>
          <a:noFill/>
        </p:spPr>
        <p:txBody>
          <a:bodyPr wrap="square" rtlCol="0">
            <a:spAutoFit/>
          </a:bodyPr>
          <a:lstStyle/>
          <a:p>
            <a:pPr algn="ctr"/>
            <a:r>
              <a:rPr lang="fr-FR" sz="2000" dirty="0">
                <a:solidFill>
                  <a:schemeClr val="bg1"/>
                </a:solidFill>
              </a:rPr>
              <a:t>2- Opérations</a:t>
            </a:r>
          </a:p>
        </p:txBody>
      </p:sp>
      <p:sp>
        <p:nvSpPr>
          <p:cNvPr id="9" name="Title 3"/>
          <p:cNvSpPr txBox="1">
            <a:spLocks/>
          </p:cNvSpPr>
          <p:nvPr/>
        </p:nvSpPr>
        <p:spPr>
          <a:xfrm>
            <a:off x="4063042" y="365125"/>
            <a:ext cx="5893758"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Ingénieur</a:t>
            </a:r>
            <a:r>
              <a:rPr lang="en-US" sz="3600" dirty="0"/>
              <a:t> </a:t>
            </a:r>
            <a:r>
              <a:rPr lang="en-US" sz="3600" dirty="0" err="1"/>
              <a:t>Sécurité</a:t>
            </a:r>
            <a:br>
              <a:rPr lang="en-US" sz="3600" dirty="0"/>
            </a:br>
            <a:br>
              <a:rPr lang="en-US" sz="3600" dirty="0"/>
            </a:br>
            <a:r>
              <a:rPr lang="en-US" sz="3100" i="1" dirty="0" err="1">
                <a:effectLst>
                  <a:outerShdw blurRad="38100" dist="38100" dir="2700000" algn="tl">
                    <a:srgbClr val="000000">
                      <a:alpha val="43137"/>
                    </a:srgbClr>
                  </a:outerShdw>
                </a:effectLst>
              </a:rPr>
              <a:t>Définition</a:t>
            </a:r>
            <a:r>
              <a:rPr lang="en-US" sz="3100" i="1" dirty="0">
                <a:effectLst>
                  <a:outerShdw blurRad="38100" dist="38100" dir="2700000" algn="tl">
                    <a:srgbClr val="000000">
                      <a:alpha val="43137"/>
                    </a:srgbClr>
                  </a:outerShdw>
                </a:effectLst>
              </a:rPr>
              <a:t> du </a:t>
            </a:r>
            <a:r>
              <a:rPr lang="en-US" sz="3100" i="1" dirty="0" err="1">
                <a:effectLst>
                  <a:outerShdw blurRad="38100" dist="38100" dir="2700000" algn="tl">
                    <a:srgbClr val="000000">
                      <a:alpha val="43137"/>
                    </a:srgbClr>
                  </a:outerShdw>
                </a:effectLst>
              </a:rPr>
              <a:t>rôle</a:t>
            </a:r>
            <a:r>
              <a:rPr lang="en-US" sz="3100" i="1" dirty="0">
                <a:effectLst>
                  <a:outerShdw blurRad="38100" dist="38100" dir="2700000" algn="tl">
                    <a:srgbClr val="000000">
                      <a:alpha val="43137"/>
                    </a:srgbClr>
                  </a:outerShdw>
                </a:effectLst>
              </a:rPr>
              <a:t> et des missions</a:t>
            </a:r>
          </a:p>
        </p:txBody>
      </p:sp>
    </p:spTree>
    <p:extLst>
      <p:ext uri="{BB962C8B-B14F-4D97-AF65-F5344CB8AC3E}">
        <p14:creationId xmlns:p14="http://schemas.microsoft.com/office/powerpoint/2010/main" val="13984044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3857625" y="1825625"/>
            <a:ext cx="8229600" cy="5032375"/>
          </a:xfrm>
        </p:spPr>
        <p:txBody>
          <a:bodyPr>
            <a:normAutofit fontScale="62500" lnSpcReduction="20000"/>
          </a:bodyPr>
          <a:lstStyle/>
          <a:p>
            <a:r>
              <a:rPr lang="fr-FR" dirty="0"/>
              <a:t>Se tenir au courant des derniers développements en matière de sécurité et de technologie.</a:t>
            </a:r>
          </a:p>
          <a:p>
            <a:r>
              <a:rPr lang="fr-FR" dirty="0"/>
              <a:t>Rechercher / évaluer les menaces de cybersécurité émergentes et les moyens de les gérer.</a:t>
            </a:r>
          </a:p>
          <a:p>
            <a:r>
              <a:rPr lang="fr-FR" dirty="0"/>
              <a:t>Planifier la reprise après sinistre et créer des plans d'urgence en cas de faille de sécurité.</a:t>
            </a:r>
          </a:p>
          <a:p>
            <a:r>
              <a:rPr lang="fr-FR" dirty="0"/>
              <a:t>Surveiller les attaques, intrusions et activités inhabituelles, non autorisées ou illégales.</a:t>
            </a:r>
          </a:p>
          <a:p>
            <a:r>
              <a:rPr lang="fr-FR" dirty="0"/>
              <a:t>Utiliser des outils d'analyse avancés pour déterminer les modèles de menaces et les vulnérabilités émergentes.</a:t>
            </a:r>
          </a:p>
          <a:p>
            <a:r>
              <a:rPr lang="fr-FR" dirty="0"/>
              <a:t>Participer au «piratage éthique», par exemple en simulant des failles de sécurité.</a:t>
            </a:r>
          </a:p>
          <a:p>
            <a:r>
              <a:rPr lang="fr-FR" dirty="0"/>
              <a:t>Identifier les faiblesses potentielles et mettre en œuvre des mesures, telles que les pare-feu et le chiffrement.</a:t>
            </a:r>
          </a:p>
          <a:p>
            <a:r>
              <a:rPr lang="fr-FR" dirty="0"/>
              <a:t>Examiner les alertes de sécurité et fournir une réponse aux incidents.</a:t>
            </a:r>
          </a:p>
          <a:p>
            <a:r>
              <a:rPr lang="fr-FR" dirty="0"/>
              <a:t>Surveiller la gestion des identités et des accès, y compris la surveillance des abus d'autorisations par les utilisateurs système autorisés.</a:t>
            </a:r>
          </a:p>
          <a:p>
            <a:r>
              <a:rPr lang="fr-FR" dirty="0"/>
              <a:t>Tenir un registre des risques de sécurité de l'information et participer aux audits internes et externes relatifs à la sécurité de l'information.</a:t>
            </a:r>
          </a:p>
          <a:p>
            <a:r>
              <a:rPr lang="fr-FR" dirty="0"/>
              <a:t>Surveiller et répondre aux e-mails de «phishing» et aux activités de «pharming».</a:t>
            </a:r>
            <a:endParaRPr lang="en-US" dirty="0"/>
          </a:p>
        </p:txBody>
      </p:sp>
      <p:sp>
        <p:nvSpPr>
          <p:cNvPr id="8" name="ZoneTexte 7"/>
          <p:cNvSpPr txBox="1"/>
          <p:nvPr/>
        </p:nvSpPr>
        <p:spPr>
          <a:xfrm>
            <a:off x="397394" y="1367522"/>
            <a:ext cx="2490950" cy="400110"/>
          </a:xfrm>
          <a:prstGeom prst="rect">
            <a:avLst/>
          </a:prstGeom>
          <a:noFill/>
        </p:spPr>
        <p:txBody>
          <a:bodyPr wrap="square" rtlCol="0">
            <a:spAutoFit/>
          </a:bodyPr>
          <a:lstStyle/>
          <a:p>
            <a:pPr algn="ctr"/>
            <a:r>
              <a:rPr lang="fr-FR" sz="2000" dirty="0">
                <a:solidFill>
                  <a:schemeClr val="bg1"/>
                </a:solidFill>
              </a:rPr>
              <a:t>2- Opérations</a:t>
            </a:r>
          </a:p>
        </p:txBody>
      </p:sp>
      <p:sp>
        <p:nvSpPr>
          <p:cNvPr id="9" name="Title 3"/>
          <p:cNvSpPr txBox="1">
            <a:spLocks/>
          </p:cNvSpPr>
          <p:nvPr/>
        </p:nvSpPr>
        <p:spPr>
          <a:xfrm>
            <a:off x="4063042" y="365125"/>
            <a:ext cx="5893758"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Ingénieur</a:t>
            </a:r>
            <a:r>
              <a:rPr lang="en-US" sz="3600" dirty="0"/>
              <a:t> </a:t>
            </a:r>
            <a:r>
              <a:rPr lang="en-US" sz="3600" dirty="0" err="1"/>
              <a:t>Sécurité</a:t>
            </a:r>
            <a:br>
              <a:rPr lang="en-US" sz="3600" dirty="0"/>
            </a:br>
            <a:br>
              <a:rPr lang="en-US" sz="3600" dirty="0"/>
            </a:br>
            <a:r>
              <a:rPr lang="en-US" sz="3100" i="1" dirty="0" err="1">
                <a:effectLst>
                  <a:outerShdw blurRad="38100" dist="38100" dir="2700000" algn="tl">
                    <a:srgbClr val="000000">
                      <a:alpha val="43137"/>
                    </a:srgbClr>
                  </a:outerShdw>
                </a:effectLst>
              </a:rPr>
              <a:t>Définition</a:t>
            </a:r>
            <a:r>
              <a:rPr lang="en-US" sz="3100" i="1" dirty="0">
                <a:effectLst>
                  <a:outerShdw blurRad="38100" dist="38100" dir="2700000" algn="tl">
                    <a:srgbClr val="000000">
                      <a:alpha val="43137"/>
                    </a:srgbClr>
                  </a:outerShdw>
                </a:effectLst>
              </a:rPr>
              <a:t> du </a:t>
            </a:r>
            <a:r>
              <a:rPr lang="en-US" sz="3100" i="1" dirty="0" err="1">
                <a:effectLst>
                  <a:outerShdw blurRad="38100" dist="38100" dir="2700000" algn="tl">
                    <a:srgbClr val="000000">
                      <a:alpha val="43137"/>
                    </a:srgbClr>
                  </a:outerShdw>
                </a:effectLst>
              </a:rPr>
              <a:t>rôle</a:t>
            </a:r>
            <a:r>
              <a:rPr lang="en-US" sz="3100" i="1" dirty="0">
                <a:effectLst>
                  <a:outerShdw blurRad="38100" dist="38100" dir="2700000" algn="tl">
                    <a:srgbClr val="000000">
                      <a:alpha val="43137"/>
                    </a:srgbClr>
                  </a:outerShdw>
                </a:effectLst>
              </a:rPr>
              <a:t> et des missions (suite)</a:t>
            </a:r>
          </a:p>
        </p:txBody>
      </p:sp>
    </p:spTree>
    <p:extLst>
      <p:ext uri="{BB962C8B-B14F-4D97-AF65-F5344CB8AC3E}">
        <p14:creationId xmlns:p14="http://schemas.microsoft.com/office/powerpoint/2010/main" val="13984044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3843337" y="2243138"/>
            <a:ext cx="8243887" cy="4140408"/>
          </a:xfrm>
        </p:spPr>
        <p:txBody>
          <a:bodyPr>
            <a:normAutofit/>
          </a:bodyPr>
          <a:lstStyle/>
          <a:p>
            <a:r>
              <a:rPr lang="fr-FR" sz="2400" dirty="0"/>
              <a:t>Masters professionnels en informatique appliqué </a:t>
            </a:r>
          </a:p>
          <a:p>
            <a:r>
              <a:rPr lang="fr-FR" sz="2400" dirty="0"/>
              <a:t>Master professionnel (bac +5) dans l'informatique et les réseaux.</a:t>
            </a:r>
          </a:p>
          <a:p>
            <a:r>
              <a:rPr lang="fr-FR" sz="2400" dirty="0"/>
              <a:t>Écoles d'ingénieurs : UTC Compiègne, EPITA, ENSAM</a:t>
            </a:r>
          </a:p>
          <a:p>
            <a:endParaRPr lang="en-US" sz="2400" dirty="0"/>
          </a:p>
        </p:txBody>
      </p:sp>
      <p:sp>
        <p:nvSpPr>
          <p:cNvPr id="8" name="ZoneTexte 7"/>
          <p:cNvSpPr txBox="1"/>
          <p:nvPr/>
        </p:nvSpPr>
        <p:spPr>
          <a:xfrm>
            <a:off x="397394" y="1367522"/>
            <a:ext cx="2490950" cy="400110"/>
          </a:xfrm>
          <a:prstGeom prst="rect">
            <a:avLst/>
          </a:prstGeom>
          <a:noFill/>
        </p:spPr>
        <p:txBody>
          <a:bodyPr wrap="square" rtlCol="0">
            <a:spAutoFit/>
          </a:bodyPr>
          <a:lstStyle/>
          <a:p>
            <a:pPr algn="ctr"/>
            <a:r>
              <a:rPr lang="fr-FR" sz="2000" dirty="0">
                <a:solidFill>
                  <a:schemeClr val="bg1"/>
                </a:solidFill>
              </a:rPr>
              <a:t>2- Opérations</a:t>
            </a:r>
          </a:p>
        </p:txBody>
      </p:sp>
      <p:sp>
        <p:nvSpPr>
          <p:cNvPr id="9" name="Title 3"/>
          <p:cNvSpPr txBox="1">
            <a:spLocks/>
          </p:cNvSpPr>
          <p:nvPr/>
        </p:nvSpPr>
        <p:spPr>
          <a:xfrm>
            <a:off x="4063042" y="365125"/>
            <a:ext cx="5893758"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Ingénieur</a:t>
            </a:r>
            <a:r>
              <a:rPr lang="en-US" sz="3600" dirty="0"/>
              <a:t> </a:t>
            </a:r>
            <a:r>
              <a:rPr lang="en-US" sz="3600" dirty="0" err="1"/>
              <a:t>Sécurité</a:t>
            </a:r>
            <a:br>
              <a:rPr lang="en-US" sz="3600" dirty="0"/>
            </a:br>
            <a:br>
              <a:rPr lang="en-US" sz="3600" dirty="0"/>
            </a:br>
            <a:r>
              <a:rPr lang="en-US" sz="3100" i="1" dirty="0" err="1">
                <a:effectLst>
                  <a:outerShdw blurRad="38100" dist="38100" dir="2700000" algn="tl">
                    <a:srgbClr val="000000">
                      <a:alpha val="43137"/>
                    </a:srgbClr>
                  </a:outerShdw>
                </a:effectLst>
              </a:rPr>
              <a:t>Profil</a:t>
            </a:r>
            <a:r>
              <a:rPr lang="en-US" sz="3100" i="1" dirty="0">
                <a:effectLst>
                  <a:outerShdw blurRad="38100" dist="38100" dir="2700000" algn="tl">
                    <a:srgbClr val="000000">
                      <a:alpha val="43137"/>
                    </a:srgbClr>
                  </a:outerShdw>
                </a:effectLst>
              </a:rPr>
              <a:t> du </a:t>
            </a:r>
            <a:r>
              <a:rPr lang="en-US" sz="3100" i="1" dirty="0" err="1">
                <a:effectLst>
                  <a:outerShdw blurRad="38100" dist="38100" dir="2700000" algn="tl">
                    <a:srgbClr val="000000">
                      <a:alpha val="43137"/>
                    </a:srgbClr>
                  </a:outerShdw>
                </a:effectLst>
              </a:rPr>
              <a:t>candidat</a:t>
            </a:r>
            <a:endParaRPr lang="en-US" sz="3100" i="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83076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3918857" y="1825624"/>
            <a:ext cx="8112034" cy="5032375"/>
          </a:xfrm>
        </p:spPr>
        <p:txBody>
          <a:bodyPr>
            <a:normAutofit/>
          </a:bodyPr>
          <a:lstStyle/>
          <a:p>
            <a:r>
              <a:rPr lang="fr-FR" sz="2400" dirty="0"/>
              <a:t>Expert en virtualisation des données en dehors de l'entreprise et leur stockage sécurisé sur des serveur distants.</a:t>
            </a:r>
          </a:p>
          <a:p>
            <a:r>
              <a:rPr lang="fr-FR" sz="2400" dirty="0"/>
              <a:t>il repère et scrute les propositions des fournisseurs de logiciels, des plates-formes de stockage, etc., étudie les solutions en regard des besoins, passe les appels d'offres, assure la migration.</a:t>
            </a:r>
          </a:p>
          <a:p>
            <a:r>
              <a:rPr lang="fr-FR" sz="2400" dirty="0"/>
              <a:t>Architecture Cloud : suit la mise en place et l'appropriation du nouveau système par les utilisateurs.</a:t>
            </a:r>
          </a:p>
          <a:p>
            <a:r>
              <a:rPr lang="fr-FR" sz="2400" dirty="0"/>
              <a:t>Implémentez des applications cloud, migrez les applications sur site existantes vers le cloud et déboguez les piles cloud.</a:t>
            </a:r>
            <a:endParaRPr lang="en-US" sz="2400" dirty="0"/>
          </a:p>
          <a:p>
            <a:pPr>
              <a:buNone/>
            </a:pPr>
            <a:endParaRPr lang="en-US" sz="2400" dirty="0"/>
          </a:p>
          <a:p>
            <a:endParaRPr lang="en-US" sz="2400" dirty="0"/>
          </a:p>
        </p:txBody>
      </p:sp>
      <p:sp>
        <p:nvSpPr>
          <p:cNvPr id="8" name="ZoneTexte 7"/>
          <p:cNvSpPr txBox="1"/>
          <p:nvPr/>
        </p:nvSpPr>
        <p:spPr>
          <a:xfrm>
            <a:off x="397394" y="1367522"/>
            <a:ext cx="2490950" cy="400110"/>
          </a:xfrm>
          <a:prstGeom prst="rect">
            <a:avLst/>
          </a:prstGeom>
          <a:noFill/>
        </p:spPr>
        <p:txBody>
          <a:bodyPr wrap="square" rtlCol="0">
            <a:spAutoFit/>
          </a:bodyPr>
          <a:lstStyle/>
          <a:p>
            <a:pPr algn="ctr"/>
            <a:r>
              <a:rPr lang="fr-FR" sz="2000" dirty="0">
                <a:solidFill>
                  <a:schemeClr val="bg1"/>
                </a:solidFill>
              </a:rPr>
              <a:t>2- Opérations</a:t>
            </a:r>
          </a:p>
        </p:txBody>
      </p:sp>
      <p:sp>
        <p:nvSpPr>
          <p:cNvPr id="9" name="Title 3"/>
          <p:cNvSpPr txBox="1">
            <a:spLocks/>
          </p:cNvSpPr>
          <p:nvPr/>
        </p:nvSpPr>
        <p:spPr>
          <a:xfrm>
            <a:off x="4063042" y="365125"/>
            <a:ext cx="5893758"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Ingénieur</a:t>
            </a:r>
            <a:r>
              <a:rPr lang="en-US" sz="3600" dirty="0"/>
              <a:t> Cloud</a:t>
            </a:r>
            <a:br>
              <a:rPr lang="en-US" sz="3600" dirty="0"/>
            </a:br>
            <a:br>
              <a:rPr lang="en-US" sz="3600" dirty="0"/>
            </a:br>
            <a:r>
              <a:rPr lang="en-US" sz="3100" i="1" dirty="0" err="1">
                <a:effectLst>
                  <a:outerShdw blurRad="38100" dist="38100" dir="2700000" algn="tl">
                    <a:srgbClr val="000000">
                      <a:alpha val="43137"/>
                    </a:srgbClr>
                  </a:outerShdw>
                </a:effectLst>
              </a:rPr>
              <a:t>Définition</a:t>
            </a:r>
            <a:r>
              <a:rPr lang="en-US" sz="3100" i="1" dirty="0">
                <a:effectLst>
                  <a:outerShdw blurRad="38100" dist="38100" dir="2700000" algn="tl">
                    <a:srgbClr val="000000">
                      <a:alpha val="43137"/>
                    </a:srgbClr>
                  </a:outerShdw>
                </a:effectLst>
              </a:rPr>
              <a:t> du </a:t>
            </a:r>
            <a:r>
              <a:rPr lang="en-US" sz="3100" i="1" dirty="0" err="1">
                <a:effectLst>
                  <a:outerShdw blurRad="38100" dist="38100" dir="2700000" algn="tl">
                    <a:srgbClr val="000000">
                      <a:alpha val="43137"/>
                    </a:srgbClr>
                  </a:outerShdw>
                </a:effectLst>
              </a:rPr>
              <a:t>rôle</a:t>
            </a:r>
            <a:r>
              <a:rPr lang="en-US" sz="3100" i="1" dirty="0">
                <a:effectLst>
                  <a:outerShdw blurRad="38100" dist="38100" dir="2700000" algn="tl">
                    <a:srgbClr val="000000">
                      <a:alpha val="43137"/>
                    </a:srgbClr>
                  </a:outerShdw>
                </a:effectLst>
              </a:rPr>
              <a:t> et des missions</a:t>
            </a:r>
          </a:p>
        </p:txBody>
      </p:sp>
    </p:spTree>
    <p:extLst>
      <p:ext uri="{BB962C8B-B14F-4D97-AF65-F5344CB8AC3E}">
        <p14:creationId xmlns:p14="http://schemas.microsoft.com/office/powerpoint/2010/main" val="13984044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3814354" y="1941036"/>
            <a:ext cx="8377646" cy="4718866"/>
          </a:xfrm>
        </p:spPr>
        <p:txBody>
          <a:bodyPr>
            <a:normAutofit fontScale="62500" lnSpcReduction="20000"/>
          </a:bodyPr>
          <a:lstStyle/>
          <a:p>
            <a:r>
              <a:rPr lang="fr-FR" dirty="0"/>
              <a:t>Collaborer avec les équipes d'ingénierie et de développement pour évaluer et identifier les solutions cloud optimales.</a:t>
            </a:r>
          </a:p>
          <a:p>
            <a:r>
              <a:rPr lang="fr-FR" dirty="0"/>
              <a:t>Modifier et améliorer les systèmes existants.</a:t>
            </a:r>
          </a:p>
          <a:p>
            <a:r>
              <a:rPr lang="fr-FR" dirty="0"/>
              <a:t>Sensibiliser les équipes à la mise en œuvre des nouvelles technologies et initiatives cloud.</a:t>
            </a:r>
          </a:p>
          <a:p>
            <a:r>
              <a:rPr lang="fr-FR" dirty="0"/>
              <a:t>Concevoir, développer et déployer des systèmes modulaires basés sur le cloud.</a:t>
            </a:r>
          </a:p>
          <a:p>
            <a:r>
              <a:rPr lang="fr-FR" dirty="0"/>
              <a:t>Développer et maintenir des solutions cloud conformément aux meilleures pratiques.</a:t>
            </a:r>
          </a:p>
          <a:p>
            <a:r>
              <a:rPr lang="fr-FR" dirty="0"/>
              <a:t>Assurer le fonctionnement efficace des fonctions de stockage et de traitement des données conformément aux politiques de sécurité de l'entreprise et aux meilleures pratiques en matière de sécurité cloud.</a:t>
            </a:r>
          </a:p>
          <a:p>
            <a:r>
              <a:rPr lang="fr-FR" dirty="0"/>
              <a:t>Identifier, analyser et </a:t>
            </a:r>
            <a:r>
              <a:rPr lang="fr-FR" dirty="0" err="1"/>
              <a:t>résolver</a:t>
            </a:r>
            <a:r>
              <a:rPr lang="fr-FR" dirty="0"/>
              <a:t> les vulnérabilités de l'infrastructure et les problèmes de déploiement d'applications.</a:t>
            </a:r>
          </a:p>
          <a:p>
            <a:r>
              <a:rPr lang="fr-FR" dirty="0"/>
              <a:t>Examiner régulièrement les systèmes existants et faire des recommandations d'amélioration.</a:t>
            </a:r>
          </a:p>
          <a:p>
            <a:r>
              <a:rPr lang="fr-FR" dirty="0"/>
              <a:t>Interagir avec les clients, en fournissant une assistance cloud et en formulant des recommandations en fonction des besoins des clients.</a:t>
            </a:r>
            <a:endParaRPr lang="en-US" dirty="0"/>
          </a:p>
          <a:p>
            <a:pPr>
              <a:buNone/>
            </a:pPr>
            <a:endParaRPr lang="en-US" dirty="0"/>
          </a:p>
        </p:txBody>
      </p:sp>
      <p:sp>
        <p:nvSpPr>
          <p:cNvPr id="8" name="ZoneTexte 7"/>
          <p:cNvSpPr txBox="1"/>
          <p:nvPr/>
        </p:nvSpPr>
        <p:spPr>
          <a:xfrm>
            <a:off x="397394" y="1367522"/>
            <a:ext cx="2490950" cy="400110"/>
          </a:xfrm>
          <a:prstGeom prst="rect">
            <a:avLst/>
          </a:prstGeom>
          <a:noFill/>
        </p:spPr>
        <p:txBody>
          <a:bodyPr wrap="square" rtlCol="0">
            <a:spAutoFit/>
          </a:bodyPr>
          <a:lstStyle/>
          <a:p>
            <a:pPr algn="ctr"/>
            <a:r>
              <a:rPr lang="fr-FR" sz="2000" dirty="0">
                <a:solidFill>
                  <a:schemeClr val="bg1"/>
                </a:solidFill>
              </a:rPr>
              <a:t>2- Opérations</a:t>
            </a:r>
          </a:p>
        </p:txBody>
      </p:sp>
      <p:sp>
        <p:nvSpPr>
          <p:cNvPr id="9" name="Title 3"/>
          <p:cNvSpPr txBox="1">
            <a:spLocks/>
          </p:cNvSpPr>
          <p:nvPr/>
        </p:nvSpPr>
        <p:spPr>
          <a:xfrm>
            <a:off x="4063042" y="365125"/>
            <a:ext cx="5893758"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Ingénieur</a:t>
            </a:r>
            <a:r>
              <a:rPr lang="en-US" sz="3600" dirty="0"/>
              <a:t> Cloud</a:t>
            </a:r>
            <a:br>
              <a:rPr lang="en-US" sz="3600" dirty="0"/>
            </a:br>
            <a:br>
              <a:rPr lang="en-US" sz="3600" dirty="0"/>
            </a:br>
            <a:r>
              <a:rPr lang="en-US" sz="3100" i="1" dirty="0" err="1">
                <a:effectLst>
                  <a:outerShdw blurRad="38100" dist="38100" dir="2700000" algn="tl">
                    <a:srgbClr val="000000">
                      <a:alpha val="43137"/>
                    </a:srgbClr>
                  </a:outerShdw>
                </a:effectLst>
              </a:rPr>
              <a:t>Définition</a:t>
            </a:r>
            <a:r>
              <a:rPr lang="en-US" sz="3100" i="1" dirty="0">
                <a:effectLst>
                  <a:outerShdw blurRad="38100" dist="38100" dir="2700000" algn="tl">
                    <a:srgbClr val="000000">
                      <a:alpha val="43137"/>
                    </a:srgbClr>
                  </a:outerShdw>
                </a:effectLst>
              </a:rPr>
              <a:t> du </a:t>
            </a:r>
            <a:r>
              <a:rPr lang="en-US" sz="3100" i="1" dirty="0" err="1">
                <a:effectLst>
                  <a:outerShdw blurRad="38100" dist="38100" dir="2700000" algn="tl">
                    <a:srgbClr val="000000">
                      <a:alpha val="43137"/>
                    </a:srgbClr>
                  </a:outerShdw>
                </a:effectLst>
              </a:rPr>
              <a:t>rôle</a:t>
            </a:r>
            <a:r>
              <a:rPr lang="en-US" sz="3100" i="1" dirty="0">
                <a:effectLst>
                  <a:outerShdw blurRad="38100" dist="38100" dir="2700000" algn="tl">
                    <a:srgbClr val="000000">
                      <a:alpha val="43137"/>
                    </a:srgbClr>
                  </a:outerShdw>
                </a:effectLst>
              </a:rPr>
              <a:t> et des missions (suite)</a:t>
            </a:r>
          </a:p>
        </p:txBody>
      </p:sp>
    </p:spTree>
    <p:extLst>
      <p:ext uri="{BB962C8B-B14F-4D97-AF65-F5344CB8AC3E}">
        <p14:creationId xmlns:p14="http://schemas.microsoft.com/office/powerpoint/2010/main" val="13984044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4063042" y="1825625"/>
            <a:ext cx="7290758" cy="4557921"/>
          </a:xfrm>
        </p:spPr>
        <p:txBody>
          <a:bodyPr vert="horz" lIns="91440" tIns="45720" rIns="91440" bIns="45720" rtlCol="0">
            <a:normAutofit/>
          </a:bodyPr>
          <a:lstStyle/>
          <a:p>
            <a:r>
              <a:rPr lang="fr-FR" sz="2400" dirty="0"/>
              <a:t>Maitrise des OS Linux et Windows. </a:t>
            </a:r>
          </a:p>
          <a:p>
            <a:r>
              <a:rPr lang="fr-FR" sz="2400" dirty="0"/>
              <a:t>Des outils de virtualisation (VirtualBox, </a:t>
            </a:r>
            <a:r>
              <a:rPr lang="fr-FR" sz="2400" dirty="0" err="1"/>
              <a:t>hyper-v</a:t>
            </a:r>
            <a:r>
              <a:rPr lang="fr-FR" sz="2400" dirty="0"/>
              <a:t>, </a:t>
            </a:r>
            <a:r>
              <a:rPr lang="fr-FR" sz="2400" dirty="0" err="1"/>
              <a:t>Virtualbox</a:t>
            </a:r>
            <a:r>
              <a:rPr lang="fr-FR" sz="2400" dirty="0"/>
              <a:t>).</a:t>
            </a:r>
          </a:p>
          <a:p>
            <a:r>
              <a:rPr lang="fr-FR" sz="2400" dirty="0"/>
              <a:t>Compétences réseaux et télécom, du système de stockage et des bases de données.</a:t>
            </a:r>
          </a:p>
          <a:p>
            <a:r>
              <a:rPr lang="fr-FR" sz="2400" dirty="0"/>
              <a:t>Connaissance des normes et procédures de sécurité et des outils associés.</a:t>
            </a:r>
          </a:p>
          <a:p>
            <a:endParaRPr lang="en-US" sz="2400" dirty="0"/>
          </a:p>
        </p:txBody>
      </p:sp>
      <p:sp>
        <p:nvSpPr>
          <p:cNvPr id="8" name="ZoneTexte 7"/>
          <p:cNvSpPr txBox="1"/>
          <p:nvPr/>
        </p:nvSpPr>
        <p:spPr>
          <a:xfrm>
            <a:off x="397394" y="1367522"/>
            <a:ext cx="2490950" cy="400110"/>
          </a:xfrm>
          <a:prstGeom prst="rect">
            <a:avLst/>
          </a:prstGeom>
          <a:noFill/>
        </p:spPr>
        <p:txBody>
          <a:bodyPr wrap="square" rtlCol="0">
            <a:spAutoFit/>
          </a:bodyPr>
          <a:lstStyle/>
          <a:p>
            <a:pPr algn="ctr"/>
            <a:r>
              <a:rPr lang="fr-FR" sz="2000" dirty="0">
                <a:solidFill>
                  <a:schemeClr val="bg1"/>
                </a:solidFill>
              </a:rPr>
              <a:t>2- Opérations</a:t>
            </a:r>
          </a:p>
        </p:txBody>
      </p:sp>
      <p:sp>
        <p:nvSpPr>
          <p:cNvPr id="9" name="Title 3"/>
          <p:cNvSpPr txBox="1">
            <a:spLocks/>
          </p:cNvSpPr>
          <p:nvPr/>
        </p:nvSpPr>
        <p:spPr>
          <a:xfrm>
            <a:off x="4063042" y="365125"/>
            <a:ext cx="5893758"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Ingénieur</a:t>
            </a:r>
            <a:r>
              <a:rPr lang="en-US" sz="3600" dirty="0"/>
              <a:t> Cloud</a:t>
            </a:r>
            <a:br>
              <a:rPr lang="en-US" sz="3600" dirty="0"/>
            </a:br>
            <a:br>
              <a:rPr lang="en-US" sz="3600" dirty="0"/>
            </a:br>
            <a:r>
              <a:rPr lang="en-US" sz="3100" i="1" dirty="0" err="1">
                <a:effectLst>
                  <a:outerShdw blurRad="38100" dist="38100" dir="2700000" algn="tl">
                    <a:srgbClr val="000000">
                      <a:alpha val="43137"/>
                    </a:srgbClr>
                  </a:outerShdw>
                </a:effectLst>
              </a:rPr>
              <a:t>Compétences</a:t>
            </a:r>
            <a:r>
              <a:rPr lang="en-US" sz="3100" i="1" dirty="0">
                <a:effectLst>
                  <a:outerShdw blurRad="38100" dist="38100" dir="2700000" algn="tl">
                    <a:srgbClr val="000000">
                      <a:alpha val="43137"/>
                    </a:srgbClr>
                  </a:outerShdw>
                </a:effectLst>
              </a:rPr>
              <a:t> techniques</a:t>
            </a:r>
          </a:p>
        </p:txBody>
      </p:sp>
    </p:spTree>
    <p:extLst>
      <p:ext uri="{BB962C8B-B14F-4D97-AF65-F5344CB8AC3E}">
        <p14:creationId xmlns:p14="http://schemas.microsoft.com/office/powerpoint/2010/main" val="33240167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4063042" y="2220686"/>
            <a:ext cx="7290758" cy="4162860"/>
          </a:xfrm>
        </p:spPr>
        <p:txBody>
          <a:bodyPr vert="horz" lIns="91440" tIns="45720" rIns="91440" bIns="45720" rtlCol="0">
            <a:normAutofit/>
          </a:bodyPr>
          <a:lstStyle/>
          <a:p>
            <a:r>
              <a:rPr lang="fr-FR" sz="2400" dirty="0"/>
              <a:t>Formation de niveau Bac +5 (Master 2) spécialisée en informatique, réseaux et télécommunications .</a:t>
            </a:r>
          </a:p>
          <a:p>
            <a:endParaRPr lang="fr-FR" sz="2400" dirty="0"/>
          </a:p>
          <a:p>
            <a:r>
              <a:rPr lang="fr-FR" sz="2400" dirty="0"/>
              <a:t>Écoles d’ingénieurs (informatique, télécoms, généralistes</a:t>
            </a:r>
            <a:endParaRPr lang="en-US" sz="2400" dirty="0"/>
          </a:p>
        </p:txBody>
      </p:sp>
      <p:sp>
        <p:nvSpPr>
          <p:cNvPr id="8" name="ZoneTexte 7"/>
          <p:cNvSpPr txBox="1"/>
          <p:nvPr/>
        </p:nvSpPr>
        <p:spPr>
          <a:xfrm>
            <a:off x="397394" y="1367522"/>
            <a:ext cx="2490950" cy="400110"/>
          </a:xfrm>
          <a:prstGeom prst="rect">
            <a:avLst/>
          </a:prstGeom>
          <a:noFill/>
        </p:spPr>
        <p:txBody>
          <a:bodyPr wrap="square" rtlCol="0">
            <a:spAutoFit/>
          </a:bodyPr>
          <a:lstStyle/>
          <a:p>
            <a:pPr algn="ctr"/>
            <a:r>
              <a:rPr lang="fr-FR" sz="2000" dirty="0">
                <a:solidFill>
                  <a:schemeClr val="bg1"/>
                </a:solidFill>
              </a:rPr>
              <a:t>2- Opérations</a:t>
            </a:r>
          </a:p>
        </p:txBody>
      </p:sp>
      <p:sp>
        <p:nvSpPr>
          <p:cNvPr id="9" name="Title 3"/>
          <p:cNvSpPr txBox="1">
            <a:spLocks/>
          </p:cNvSpPr>
          <p:nvPr/>
        </p:nvSpPr>
        <p:spPr>
          <a:xfrm>
            <a:off x="4063042" y="365125"/>
            <a:ext cx="5893758"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Ingénieur</a:t>
            </a:r>
            <a:r>
              <a:rPr lang="en-US" sz="3600" dirty="0"/>
              <a:t> Cloud</a:t>
            </a:r>
            <a:br>
              <a:rPr lang="en-US" sz="3600" dirty="0"/>
            </a:br>
            <a:br>
              <a:rPr lang="en-US" sz="3600" dirty="0"/>
            </a:br>
            <a:r>
              <a:rPr lang="en-US" sz="3100" i="1" dirty="0" err="1">
                <a:effectLst>
                  <a:outerShdw blurRad="38100" dist="38100" dir="2700000" algn="tl">
                    <a:srgbClr val="000000">
                      <a:alpha val="43137"/>
                    </a:srgbClr>
                  </a:outerShdw>
                </a:effectLst>
              </a:rPr>
              <a:t>Profil</a:t>
            </a:r>
            <a:r>
              <a:rPr lang="en-US" sz="3100" i="1" dirty="0">
                <a:effectLst>
                  <a:outerShdw blurRad="38100" dist="38100" dir="2700000" algn="tl">
                    <a:srgbClr val="000000">
                      <a:alpha val="43137"/>
                    </a:srgbClr>
                  </a:outerShdw>
                </a:effectLst>
              </a:rPr>
              <a:t> du </a:t>
            </a:r>
            <a:r>
              <a:rPr lang="en-US" sz="3100" i="1" dirty="0" err="1">
                <a:effectLst>
                  <a:outerShdw blurRad="38100" dist="38100" dir="2700000" algn="tl">
                    <a:srgbClr val="000000">
                      <a:alpha val="43137"/>
                    </a:srgbClr>
                  </a:outerShdw>
                </a:effectLst>
              </a:rPr>
              <a:t>candidat</a:t>
            </a:r>
            <a:endParaRPr lang="en-US" sz="3100" i="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8380645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3775166" y="1959429"/>
            <a:ext cx="8416834" cy="4424117"/>
          </a:xfrm>
        </p:spPr>
        <p:txBody>
          <a:bodyPr>
            <a:noAutofit/>
          </a:bodyPr>
          <a:lstStyle/>
          <a:p>
            <a:r>
              <a:rPr lang="fr-FR" sz="2000" dirty="0"/>
              <a:t>L'ingénieur système est un expert du matériel et des logiciels. Il analyse, optimise et sécurise l'outil informatique de son entreprise afin que tous les utilisateurs disposent d'une installation adaptée et performante. En cas d'incidents complexes, il examine de bout en bout la situation pour effectuer au mieux les réparations qui s'imposent. Il assure une veille technologique permanente afin d'anticiper les évolutions des systèmes.</a:t>
            </a:r>
          </a:p>
          <a:p>
            <a:endParaRPr lang="fr-FR" sz="2000" dirty="0"/>
          </a:p>
          <a:p>
            <a:r>
              <a:rPr lang="fr-FR" sz="2000" dirty="0"/>
              <a:t>Cet expert comprend les besoins des utilisateurs, conseille les développeurs, entretient des relations régulières avec les constructeurs, les éditeurs de logiciels, les opérateurs. Il est rigoureux et fait preuve de méthode. Maîtriser l'anglais est indispensable.</a:t>
            </a:r>
            <a:endParaRPr lang="en-US" sz="2000" dirty="0"/>
          </a:p>
        </p:txBody>
      </p:sp>
      <p:sp>
        <p:nvSpPr>
          <p:cNvPr id="7" name="ZoneTexte 6"/>
          <p:cNvSpPr txBox="1"/>
          <p:nvPr/>
        </p:nvSpPr>
        <p:spPr>
          <a:xfrm>
            <a:off x="397394" y="1367522"/>
            <a:ext cx="2490950" cy="400110"/>
          </a:xfrm>
          <a:prstGeom prst="rect">
            <a:avLst/>
          </a:prstGeom>
          <a:noFill/>
        </p:spPr>
        <p:txBody>
          <a:bodyPr wrap="square" rtlCol="0">
            <a:spAutoFit/>
          </a:bodyPr>
          <a:lstStyle/>
          <a:p>
            <a:pPr algn="ctr"/>
            <a:r>
              <a:rPr lang="fr-FR" sz="2000" dirty="0">
                <a:solidFill>
                  <a:schemeClr val="bg1"/>
                </a:solidFill>
              </a:rPr>
              <a:t>2- Opérations</a:t>
            </a:r>
          </a:p>
        </p:txBody>
      </p:sp>
      <p:sp>
        <p:nvSpPr>
          <p:cNvPr id="8" name="Title 3"/>
          <p:cNvSpPr txBox="1">
            <a:spLocks/>
          </p:cNvSpPr>
          <p:nvPr/>
        </p:nvSpPr>
        <p:spPr>
          <a:xfrm>
            <a:off x="4063042" y="365125"/>
            <a:ext cx="5893758"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Ingénieur</a:t>
            </a:r>
            <a:r>
              <a:rPr lang="en-US" sz="3600" dirty="0"/>
              <a:t> </a:t>
            </a:r>
            <a:r>
              <a:rPr lang="en-US" sz="3600" dirty="0" err="1"/>
              <a:t>Système</a:t>
            </a:r>
            <a:br>
              <a:rPr lang="en-US" sz="3600" dirty="0"/>
            </a:br>
            <a:br>
              <a:rPr lang="en-US" sz="3600" dirty="0"/>
            </a:br>
            <a:r>
              <a:rPr lang="en-US" sz="3100" i="1" dirty="0" err="1">
                <a:effectLst>
                  <a:outerShdw blurRad="38100" dist="38100" dir="2700000" algn="tl">
                    <a:srgbClr val="000000">
                      <a:alpha val="43137"/>
                    </a:srgbClr>
                  </a:outerShdw>
                </a:effectLst>
              </a:rPr>
              <a:t>Définition</a:t>
            </a:r>
            <a:r>
              <a:rPr lang="en-US" sz="3100" i="1" dirty="0">
                <a:effectLst>
                  <a:outerShdw blurRad="38100" dist="38100" dir="2700000" algn="tl">
                    <a:srgbClr val="000000">
                      <a:alpha val="43137"/>
                    </a:srgbClr>
                  </a:outerShdw>
                </a:effectLst>
              </a:rPr>
              <a:t> du </a:t>
            </a:r>
            <a:r>
              <a:rPr lang="en-US" sz="3100" i="1" dirty="0" err="1">
                <a:effectLst>
                  <a:outerShdw blurRad="38100" dist="38100" dir="2700000" algn="tl">
                    <a:srgbClr val="000000">
                      <a:alpha val="43137"/>
                    </a:srgbClr>
                  </a:outerShdw>
                </a:effectLst>
              </a:rPr>
              <a:t>rôle</a:t>
            </a:r>
            <a:r>
              <a:rPr lang="en-US" sz="3100" i="1" dirty="0">
                <a:effectLst>
                  <a:outerShdw blurRad="38100" dist="38100" dir="2700000" algn="tl">
                    <a:srgbClr val="000000">
                      <a:alpha val="43137"/>
                    </a:srgbClr>
                  </a:outerShdw>
                </a:effectLst>
              </a:rPr>
              <a:t> et des missions</a:t>
            </a:r>
          </a:p>
        </p:txBody>
      </p:sp>
    </p:spTree>
    <p:extLst>
      <p:ext uri="{BB962C8B-B14F-4D97-AF65-F5344CB8AC3E}">
        <p14:creationId xmlns:p14="http://schemas.microsoft.com/office/powerpoint/2010/main" val="23675785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3775166" y="1825625"/>
            <a:ext cx="8416834" cy="5032375"/>
          </a:xfrm>
        </p:spPr>
        <p:txBody>
          <a:bodyPr>
            <a:normAutofit fontScale="62500" lnSpcReduction="20000"/>
          </a:bodyPr>
          <a:lstStyle/>
          <a:p>
            <a:r>
              <a:rPr lang="fr-FR" dirty="0"/>
              <a:t>Maîtrise voire expertise des logiciels de l’infrastructure technique notamment des systèmes d’exploitation (UNIX, LINUX, MVS, Windows…), et des interprétateurs de commandes (Shell) pour diagnostiquer et réparer les dysfonctionnements</a:t>
            </a:r>
          </a:p>
          <a:p>
            <a:r>
              <a:rPr lang="fr-FR" dirty="0"/>
              <a:t>Bonne maîtrise des technologies Internet : protocoles de sécurité, protocoles Internet…</a:t>
            </a:r>
          </a:p>
          <a:p>
            <a:r>
              <a:rPr lang="fr-FR" dirty="0"/>
              <a:t>Bonne connaissance de l’architecture et des fonctionnalités du SI de l’entreprise</a:t>
            </a:r>
          </a:p>
          <a:p>
            <a:r>
              <a:rPr lang="fr-FR" dirty="0"/>
              <a:t>Connaissance des principaux constructeurs et éditeurs prestataires du marché et notamment de l’offre hardware du marché</a:t>
            </a:r>
          </a:p>
          <a:p>
            <a:r>
              <a:rPr lang="fr-FR" dirty="0"/>
              <a:t>Connaissance des normes ITIL ou ISO (si l’entreprise dispose d’une certification)</a:t>
            </a:r>
          </a:p>
          <a:p>
            <a:r>
              <a:rPr lang="fr-FR" dirty="0"/>
              <a:t>Connaissance des bases de données (Oracle, </a:t>
            </a:r>
            <a:r>
              <a:rPr lang="fr-FR" dirty="0" err="1"/>
              <a:t>SQLServer</a:t>
            </a:r>
            <a:r>
              <a:rPr lang="fr-FR" dirty="0"/>
              <a:t>…) et des serveurs de messagerie</a:t>
            </a:r>
          </a:p>
          <a:p>
            <a:r>
              <a:rPr lang="fr-FR" dirty="0"/>
              <a:t>Connaissance des normes et procédures de sécurité et des outils associés</a:t>
            </a:r>
          </a:p>
          <a:p>
            <a:r>
              <a:rPr lang="fr-FR" dirty="0"/>
              <a:t>Bonne culture informatique : principaux langages et outils de développement de l’entreprise</a:t>
            </a:r>
          </a:p>
          <a:p>
            <a:r>
              <a:rPr lang="fr-FR" dirty="0"/>
              <a:t>Bonne connaissance des clients internes de la DSI : les principaux métiers de l’entreprise</a:t>
            </a:r>
          </a:p>
          <a:p>
            <a:r>
              <a:rPr lang="fr-FR" dirty="0"/>
              <a:t>Maîtrise de l’anglais technique</a:t>
            </a:r>
          </a:p>
        </p:txBody>
      </p:sp>
      <p:sp>
        <p:nvSpPr>
          <p:cNvPr id="7" name="ZoneTexte 6"/>
          <p:cNvSpPr txBox="1"/>
          <p:nvPr/>
        </p:nvSpPr>
        <p:spPr>
          <a:xfrm>
            <a:off x="397394" y="1367522"/>
            <a:ext cx="2490950" cy="400110"/>
          </a:xfrm>
          <a:prstGeom prst="rect">
            <a:avLst/>
          </a:prstGeom>
          <a:noFill/>
        </p:spPr>
        <p:txBody>
          <a:bodyPr wrap="square" rtlCol="0">
            <a:spAutoFit/>
          </a:bodyPr>
          <a:lstStyle/>
          <a:p>
            <a:pPr algn="ctr"/>
            <a:r>
              <a:rPr lang="fr-FR" sz="2000" dirty="0">
                <a:solidFill>
                  <a:schemeClr val="bg1"/>
                </a:solidFill>
              </a:rPr>
              <a:t>2- Opérations</a:t>
            </a:r>
          </a:p>
        </p:txBody>
      </p:sp>
      <p:sp>
        <p:nvSpPr>
          <p:cNvPr id="8" name="Title 3"/>
          <p:cNvSpPr txBox="1">
            <a:spLocks/>
          </p:cNvSpPr>
          <p:nvPr/>
        </p:nvSpPr>
        <p:spPr>
          <a:xfrm>
            <a:off x="4063042" y="365125"/>
            <a:ext cx="5893758"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Ingénieur</a:t>
            </a:r>
            <a:r>
              <a:rPr lang="en-US" sz="3600" dirty="0"/>
              <a:t> </a:t>
            </a:r>
            <a:r>
              <a:rPr lang="en-US" sz="3600" dirty="0" err="1"/>
              <a:t>Système</a:t>
            </a:r>
            <a:br>
              <a:rPr lang="en-US" sz="3600" dirty="0"/>
            </a:br>
            <a:br>
              <a:rPr lang="en-US" sz="3600" dirty="0"/>
            </a:br>
            <a:r>
              <a:rPr lang="en-US" sz="3100" i="1" dirty="0" err="1">
                <a:effectLst>
                  <a:outerShdw blurRad="38100" dist="38100" dir="2700000" algn="tl">
                    <a:srgbClr val="000000">
                      <a:alpha val="43137"/>
                    </a:srgbClr>
                  </a:outerShdw>
                </a:effectLst>
              </a:rPr>
              <a:t>Compétences</a:t>
            </a:r>
            <a:r>
              <a:rPr lang="en-US" sz="3100" i="1" dirty="0">
                <a:effectLst>
                  <a:outerShdw blurRad="38100" dist="38100" dir="2700000" algn="tl">
                    <a:srgbClr val="000000">
                      <a:alpha val="43137"/>
                    </a:srgbClr>
                  </a:outerShdw>
                </a:effectLst>
              </a:rPr>
              <a:t> techniques</a:t>
            </a:r>
          </a:p>
        </p:txBody>
      </p:sp>
    </p:spTree>
    <p:extLst>
      <p:ext uri="{BB962C8B-B14F-4D97-AF65-F5344CB8AC3E}">
        <p14:creationId xmlns:p14="http://schemas.microsoft.com/office/powerpoint/2010/main" val="6873188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3853543" y="2055813"/>
            <a:ext cx="8177347" cy="4327733"/>
          </a:xfrm>
        </p:spPr>
        <p:txBody>
          <a:bodyPr>
            <a:normAutofit/>
          </a:bodyPr>
          <a:lstStyle/>
          <a:p>
            <a:pPr algn="l">
              <a:buFont typeface="Arial" panose="020B0604020202020204" pitchFamily="34" charset="0"/>
              <a:buChar char="•"/>
            </a:pPr>
            <a:r>
              <a:rPr lang="fr-FR" sz="2400" b="0" i="0" dirty="0">
                <a:effectLst/>
                <a:latin typeface="Open Sans"/>
              </a:rPr>
              <a:t>Master mention informatique ou mention réseaux et télécommunication, spécialités réseaux et systèmes, sécurité du logiciel...</a:t>
            </a:r>
          </a:p>
          <a:p>
            <a:pPr algn="l">
              <a:buFont typeface="Arial" panose="020B0604020202020204" pitchFamily="34" charset="0"/>
              <a:buChar char="•"/>
            </a:pPr>
            <a:r>
              <a:rPr lang="fr-FR" sz="2400" b="0" i="0" dirty="0">
                <a:effectLst/>
                <a:latin typeface="Open Sans"/>
              </a:rPr>
              <a:t>Diplôme d'ingénieur spécialités informatique, génie informatique</a:t>
            </a:r>
          </a:p>
          <a:p>
            <a:pPr algn="l">
              <a:buFont typeface="Arial" panose="020B0604020202020204" pitchFamily="34" charset="0"/>
              <a:buChar char="•"/>
            </a:pPr>
            <a:r>
              <a:rPr lang="fr-FR" sz="2400" dirty="0">
                <a:latin typeface="Open Sans"/>
              </a:rPr>
              <a:t>Mathématique Informatiques</a:t>
            </a:r>
            <a:endParaRPr lang="fr-FR" sz="2400" b="0" i="0" dirty="0">
              <a:effectLst/>
              <a:latin typeface="Open Sans"/>
            </a:endParaRPr>
          </a:p>
        </p:txBody>
      </p:sp>
      <p:sp>
        <p:nvSpPr>
          <p:cNvPr id="7" name="ZoneTexte 6"/>
          <p:cNvSpPr txBox="1"/>
          <p:nvPr/>
        </p:nvSpPr>
        <p:spPr>
          <a:xfrm>
            <a:off x="397394" y="1367522"/>
            <a:ext cx="2490950" cy="400110"/>
          </a:xfrm>
          <a:prstGeom prst="rect">
            <a:avLst/>
          </a:prstGeom>
          <a:noFill/>
        </p:spPr>
        <p:txBody>
          <a:bodyPr wrap="square" rtlCol="0">
            <a:spAutoFit/>
          </a:bodyPr>
          <a:lstStyle/>
          <a:p>
            <a:pPr algn="ctr"/>
            <a:r>
              <a:rPr lang="fr-FR" sz="2000" dirty="0">
                <a:solidFill>
                  <a:schemeClr val="bg1"/>
                </a:solidFill>
              </a:rPr>
              <a:t>2- Opérations</a:t>
            </a:r>
          </a:p>
        </p:txBody>
      </p:sp>
      <p:sp>
        <p:nvSpPr>
          <p:cNvPr id="8" name="Title 3"/>
          <p:cNvSpPr txBox="1">
            <a:spLocks/>
          </p:cNvSpPr>
          <p:nvPr/>
        </p:nvSpPr>
        <p:spPr>
          <a:xfrm>
            <a:off x="4063042" y="365125"/>
            <a:ext cx="5893758"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Ingénieur</a:t>
            </a:r>
            <a:r>
              <a:rPr lang="en-US" sz="3600" dirty="0"/>
              <a:t> </a:t>
            </a:r>
            <a:r>
              <a:rPr lang="en-US" sz="3600" dirty="0" err="1"/>
              <a:t>Système</a:t>
            </a:r>
            <a:br>
              <a:rPr lang="en-US" sz="3600" dirty="0"/>
            </a:br>
            <a:br>
              <a:rPr lang="en-US" sz="3600" dirty="0"/>
            </a:br>
            <a:r>
              <a:rPr lang="en-US" sz="3100" i="1" dirty="0" err="1">
                <a:effectLst>
                  <a:outerShdw blurRad="38100" dist="38100" dir="2700000" algn="tl">
                    <a:srgbClr val="000000">
                      <a:alpha val="43137"/>
                    </a:srgbClr>
                  </a:outerShdw>
                </a:effectLst>
              </a:rPr>
              <a:t>Profil</a:t>
            </a:r>
            <a:r>
              <a:rPr lang="en-US" sz="3100" i="1" dirty="0">
                <a:effectLst>
                  <a:outerShdw blurRad="38100" dist="38100" dir="2700000" algn="tl">
                    <a:srgbClr val="000000">
                      <a:alpha val="43137"/>
                    </a:srgbClr>
                  </a:outerShdw>
                </a:effectLst>
              </a:rPr>
              <a:t> du </a:t>
            </a:r>
            <a:r>
              <a:rPr lang="en-US" sz="3100" i="1" dirty="0" err="1">
                <a:effectLst>
                  <a:outerShdw blurRad="38100" dist="38100" dir="2700000" algn="tl">
                    <a:srgbClr val="000000">
                      <a:alpha val="43137"/>
                    </a:srgbClr>
                  </a:outerShdw>
                </a:effectLst>
              </a:rPr>
              <a:t>candidat</a:t>
            </a:r>
            <a:endParaRPr lang="en-US" sz="3100" i="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2000479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3722914" y="2011680"/>
            <a:ext cx="8469085" cy="4499079"/>
          </a:xfrm>
        </p:spPr>
        <p:txBody>
          <a:bodyPr>
            <a:normAutofit/>
          </a:bodyPr>
          <a:lstStyle/>
          <a:p>
            <a:pPr fontAlgn="base"/>
            <a:r>
              <a:rPr lang="fr-FR" sz="2400" dirty="0" err="1"/>
              <a:t>DevSecOps</a:t>
            </a:r>
            <a:r>
              <a:rPr lang="fr-FR" sz="2400" dirty="0"/>
              <a:t>: méthode de travail collaboratif faisant le lien entre les équipes de sécurité et d’exploitation.</a:t>
            </a:r>
          </a:p>
          <a:p>
            <a:pPr fontAlgn="base"/>
            <a:r>
              <a:rPr lang="fr-FR" sz="2400" dirty="0"/>
              <a:t>Objectif principal: limiter les risques dans la mesure où la sécurité est « intégrée » à toutes les étapes des projets DevOps.</a:t>
            </a:r>
          </a:p>
          <a:p>
            <a:pPr fontAlgn="base"/>
            <a:r>
              <a:rPr lang="fr-FR" sz="2400" dirty="0"/>
              <a:t>Implémentation de la sécurité comme élément fondamental de tous les aspects d’une organisation et en fait la responsabilité de l’ensemble des équipes. Les équipes de sécurité et d’exploitation sont donc unifiées pour maximiser la sécurité en limitant l’impact sur l’efficacité.</a:t>
            </a:r>
            <a:endParaRPr lang="en-US" sz="2400" dirty="0"/>
          </a:p>
        </p:txBody>
      </p:sp>
      <p:sp>
        <p:nvSpPr>
          <p:cNvPr id="7" name="ZoneTexte 6"/>
          <p:cNvSpPr txBox="1"/>
          <p:nvPr/>
        </p:nvSpPr>
        <p:spPr>
          <a:xfrm>
            <a:off x="397394" y="1367522"/>
            <a:ext cx="2490950" cy="400110"/>
          </a:xfrm>
          <a:prstGeom prst="rect">
            <a:avLst/>
          </a:prstGeom>
          <a:noFill/>
        </p:spPr>
        <p:txBody>
          <a:bodyPr wrap="square" rtlCol="0">
            <a:spAutoFit/>
          </a:bodyPr>
          <a:lstStyle/>
          <a:p>
            <a:pPr algn="ctr"/>
            <a:r>
              <a:rPr lang="fr-FR" sz="2000" dirty="0">
                <a:solidFill>
                  <a:schemeClr val="bg1"/>
                </a:solidFill>
              </a:rPr>
              <a:t>2- Opérations</a:t>
            </a:r>
          </a:p>
        </p:txBody>
      </p:sp>
      <p:sp>
        <p:nvSpPr>
          <p:cNvPr id="8" name="Title 3"/>
          <p:cNvSpPr txBox="1">
            <a:spLocks/>
          </p:cNvSpPr>
          <p:nvPr/>
        </p:nvSpPr>
        <p:spPr>
          <a:xfrm>
            <a:off x="4063042" y="365125"/>
            <a:ext cx="5893758"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Ingénieur</a:t>
            </a:r>
            <a:r>
              <a:rPr lang="en-US" sz="3600" dirty="0"/>
              <a:t> </a:t>
            </a:r>
            <a:r>
              <a:rPr lang="en-US" sz="3600" dirty="0" err="1"/>
              <a:t>DevSecOps</a:t>
            </a:r>
            <a:br>
              <a:rPr lang="en-US" sz="3600" dirty="0"/>
            </a:br>
            <a:br>
              <a:rPr lang="en-US" sz="3600" dirty="0"/>
            </a:br>
            <a:r>
              <a:rPr lang="en-US" sz="3100" i="1" dirty="0" err="1">
                <a:effectLst>
                  <a:outerShdw blurRad="38100" dist="38100" dir="2700000" algn="tl">
                    <a:srgbClr val="000000">
                      <a:alpha val="43137"/>
                    </a:srgbClr>
                  </a:outerShdw>
                </a:effectLst>
              </a:rPr>
              <a:t>Définition</a:t>
            </a:r>
            <a:r>
              <a:rPr lang="en-US" sz="3100" i="1" dirty="0">
                <a:effectLst>
                  <a:outerShdw blurRad="38100" dist="38100" dir="2700000" algn="tl">
                    <a:srgbClr val="000000">
                      <a:alpha val="43137"/>
                    </a:srgbClr>
                  </a:outerShdw>
                </a:effectLst>
              </a:rPr>
              <a:t> du </a:t>
            </a:r>
            <a:r>
              <a:rPr lang="en-US" sz="3100" i="1" dirty="0" err="1">
                <a:effectLst>
                  <a:outerShdw blurRad="38100" dist="38100" dir="2700000" algn="tl">
                    <a:srgbClr val="000000">
                      <a:alpha val="43137"/>
                    </a:srgbClr>
                  </a:outerShdw>
                </a:effectLst>
              </a:rPr>
              <a:t>rôle</a:t>
            </a:r>
            <a:r>
              <a:rPr lang="en-US" sz="3100" i="1" dirty="0">
                <a:effectLst>
                  <a:outerShdw blurRad="38100" dist="38100" dir="2700000" algn="tl">
                    <a:srgbClr val="000000">
                      <a:alpha val="43137"/>
                    </a:srgbClr>
                  </a:outerShdw>
                </a:effectLst>
              </a:rPr>
              <a:t> et des missions</a:t>
            </a:r>
          </a:p>
        </p:txBody>
      </p:sp>
    </p:spTree>
    <p:extLst>
      <p:ext uri="{BB962C8B-B14F-4D97-AF65-F5344CB8AC3E}">
        <p14:creationId xmlns:p14="http://schemas.microsoft.com/office/powerpoint/2010/main" val="16605685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4063042" y="1825625"/>
            <a:ext cx="7290758" cy="4351338"/>
          </a:xfrm>
        </p:spPr>
        <p:txBody>
          <a:bodyPr>
            <a:normAutofit fontScale="77500" lnSpcReduction="20000"/>
          </a:bodyPr>
          <a:lstStyle/>
          <a:p>
            <a:pPr fontAlgn="base"/>
            <a:r>
              <a:rPr lang="fr-FR" dirty="0"/>
              <a:t>Le suivi des process</a:t>
            </a:r>
          </a:p>
          <a:p>
            <a:pPr fontAlgn="base"/>
            <a:r>
              <a:rPr lang="fr-FR" dirty="0"/>
              <a:t>La rédaction des analyses de risques</a:t>
            </a:r>
          </a:p>
          <a:p>
            <a:pPr fontAlgn="base"/>
            <a:r>
              <a:rPr lang="fr-FR" dirty="0"/>
              <a:t>La gestion des incidents</a:t>
            </a:r>
          </a:p>
          <a:p>
            <a:pPr fontAlgn="base"/>
            <a:r>
              <a:rPr lang="fr-FR" dirty="0"/>
              <a:t>Les tests, la sélection et la mise en place de technologies, outillages et méthodes de travail</a:t>
            </a:r>
          </a:p>
          <a:p>
            <a:pPr fontAlgn="base"/>
            <a:r>
              <a:rPr lang="fr-FR" dirty="0"/>
              <a:t>L’automatisation des contrôles de sécurité</a:t>
            </a:r>
          </a:p>
          <a:p>
            <a:pPr fontAlgn="base"/>
            <a:r>
              <a:rPr lang="fr-FR" dirty="0"/>
              <a:t>La maintenance du système et du réseau informatique externe et interne de l’entreprise</a:t>
            </a:r>
          </a:p>
          <a:p>
            <a:pPr fontAlgn="base"/>
            <a:r>
              <a:rPr lang="fr-FR" dirty="0"/>
              <a:t>Le contrôle et le management des opérations de sécurité</a:t>
            </a:r>
          </a:p>
          <a:p>
            <a:pPr fontAlgn="base"/>
            <a:r>
              <a:rPr lang="fr-FR" dirty="0"/>
              <a:t>Plus largement, il participe à la construction d’une « culture sécurité » au sein de l’entreprise via l’accompagnement des différentes équipes et des clients dans la mise en place des bonnes pratiques de sécurité</a:t>
            </a:r>
            <a:endParaRPr lang="en-US" dirty="0"/>
          </a:p>
        </p:txBody>
      </p:sp>
      <p:sp>
        <p:nvSpPr>
          <p:cNvPr id="7" name="ZoneTexte 6"/>
          <p:cNvSpPr txBox="1"/>
          <p:nvPr/>
        </p:nvSpPr>
        <p:spPr>
          <a:xfrm>
            <a:off x="397394" y="1367522"/>
            <a:ext cx="2490950" cy="400110"/>
          </a:xfrm>
          <a:prstGeom prst="rect">
            <a:avLst/>
          </a:prstGeom>
          <a:noFill/>
        </p:spPr>
        <p:txBody>
          <a:bodyPr wrap="square" rtlCol="0">
            <a:spAutoFit/>
          </a:bodyPr>
          <a:lstStyle/>
          <a:p>
            <a:pPr algn="ctr"/>
            <a:r>
              <a:rPr lang="fr-FR" sz="2000" dirty="0">
                <a:solidFill>
                  <a:schemeClr val="bg1"/>
                </a:solidFill>
              </a:rPr>
              <a:t>2- Opérations</a:t>
            </a:r>
          </a:p>
        </p:txBody>
      </p:sp>
      <p:sp>
        <p:nvSpPr>
          <p:cNvPr id="8" name="Title 3"/>
          <p:cNvSpPr txBox="1">
            <a:spLocks/>
          </p:cNvSpPr>
          <p:nvPr/>
        </p:nvSpPr>
        <p:spPr>
          <a:xfrm>
            <a:off x="4063042" y="365125"/>
            <a:ext cx="5893758"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Ingénieur</a:t>
            </a:r>
            <a:r>
              <a:rPr lang="en-US" sz="3600" dirty="0"/>
              <a:t> </a:t>
            </a:r>
            <a:r>
              <a:rPr lang="en-US" sz="3600" dirty="0" err="1"/>
              <a:t>DevSecOps</a:t>
            </a:r>
            <a:br>
              <a:rPr lang="en-US" sz="3600" dirty="0"/>
            </a:br>
            <a:br>
              <a:rPr lang="en-US" sz="3600" dirty="0"/>
            </a:br>
            <a:r>
              <a:rPr lang="en-US" sz="3100" i="1" dirty="0" err="1">
                <a:effectLst>
                  <a:outerShdw blurRad="38100" dist="38100" dir="2700000" algn="tl">
                    <a:srgbClr val="000000">
                      <a:alpha val="43137"/>
                    </a:srgbClr>
                  </a:outerShdw>
                </a:effectLst>
              </a:rPr>
              <a:t>Définition</a:t>
            </a:r>
            <a:r>
              <a:rPr lang="en-US" sz="3100" i="1" dirty="0">
                <a:effectLst>
                  <a:outerShdw blurRad="38100" dist="38100" dir="2700000" algn="tl">
                    <a:srgbClr val="000000">
                      <a:alpha val="43137"/>
                    </a:srgbClr>
                  </a:outerShdw>
                </a:effectLst>
              </a:rPr>
              <a:t> du </a:t>
            </a:r>
            <a:r>
              <a:rPr lang="en-US" sz="3100" i="1" dirty="0" err="1">
                <a:effectLst>
                  <a:outerShdw blurRad="38100" dist="38100" dir="2700000" algn="tl">
                    <a:srgbClr val="000000">
                      <a:alpha val="43137"/>
                    </a:srgbClr>
                  </a:outerShdw>
                </a:effectLst>
              </a:rPr>
              <a:t>rôle</a:t>
            </a:r>
            <a:r>
              <a:rPr lang="en-US" sz="3100" i="1" dirty="0">
                <a:effectLst>
                  <a:outerShdw blurRad="38100" dist="38100" dir="2700000" algn="tl">
                    <a:srgbClr val="000000">
                      <a:alpha val="43137"/>
                    </a:srgbClr>
                  </a:outerShdw>
                </a:effectLst>
              </a:rPr>
              <a:t> et des missions (suite)</a:t>
            </a:r>
          </a:p>
        </p:txBody>
      </p:sp>
    </p:spTree>
    <p:extLst>
      <p:ext uri="{BB962C8B-B14F-4D97-AF65-F5344CB8AC3E}">
        <p14:creationId xmlns:p14="http://schemas.microsoft.com/office/powerpoint/2010/main" val="26901459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3879669" y="2055813"/>
            <a:ext cx="8312331" cy="4121150"/>
          </a:xfrm>
        </p:spPr>
        <p:txBody>
          <a:bodyPr>
            <a:normAutofit/>
          </a:bodyPr>
          <a:lstStyle/>
          <a:p>
            <a:pPr algn="l">
              <a:buFont typeface="Arial" panose="020B0604020202020204" pitchFamily="34" charset="0"/>
              <a:buChar char="•"/>
            </a:pPr>
            <a:r>
              <a:rPr lang="fr-FR" sz="2400" b="0" i="0" dirty="0">
                <a:effectLst/>
                <a:latin typeface="Open Sans"/>
              </a:rPr>
              <a:t>Master mention informatique ou mention réseaux et télécommunication, spécialités réseaux et systèmes, sécurité du logiciel...</a:t>
            </a:r>
          </a:p>
          <a:p>
            <a:pPr algn="l">
              <a:buFont typeface="Arial" panose="020B0604020202020204" pitchFamily="34" charset="0"/>
              <a:buChar char="•"/>
            </a:pPr>
            <a:r>
              <a:rPr lang="fr-FR" sz="2400" b="0" i="0" dirty="0">
                <a:effectLst/>
                <a:latin typeface="Open Sans"/>
              </a:rPr>
              <a:t>Diplôme d'ingénieur spécialités informatique, génie informatique</a:t>
            </a:r>
          </a:p>
        </p:txBody>
      </p:sp>
      <p:sp>
        <p:nvSpPr>
          <p:cNvPr id="7" name="ZoneTexte 6"/>
          <p:cNvSpPr txBox="1"/>
          <p:nvPr/>
        </p:nvSpPr>
        <p:spPr>
          <a:xfrm>
            <a:off x="397394" y="1367522"/>
            <a:ext cx="2490950" cy="400110"/>
          </a:xfrm>
          <a:prstGeom prst="rect">
            <a:avLst/>
          </a:prstGeom>
          <a:noFill/>
        </p:spPr>
        <p:txBody>
          <a:bodyPr wrap="square" rtlCol="0">
            <a:spAutoFit/>
          </a:bodyPr>
          <a:lstStyle/>
          <a:p>
            <a:pPr algn="ctr"/>
            <a:r>
              <a:rPr lang="fr-FR" sz="2000" dirty="0">
                <a:solidFill>
                  <a:schemeClr val="bg1"/>
                </a:solidFill>
              </a:rPr>
              <a:t>2- Opérations</a:t>
            </a:r>
          </a:p>
        </p:txBody>
      </p:sp>
      <p:sp>
        <p:nvSpPr>
          <p:cNvPr id="8" name="Title 3"/>
          <p:cNvSpPr txBox="1">
            <a:spLocks/>
          </p:cNvSpPr>
          <p:nvPr/>
        </p:nvSpPr>
        <p:spPr>
          <a:xfrm>
            <a:off x="4063042" y="365125"/>
            <a:ext cx="5893758"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Ingénieur</a:t>
            </a:r>
            <a:r>
              <a:rPr lang="en-US" sz="3600" dirty="0"/>
              <a:t> </a:t>
            </a:r>
            <a:r>
              <a:rPr lang="en-US" sz="3600" dirty="0" err="1"/>
              <a:t>DevSecOps</a:t>
            </a:r>
            <a:br>
              <a:rPr lang="en-US" sz="3600" dirty="0"/>
            </a:br>
            <a:br>
              <a:rPr lang="en-US" sz="3600" dirty="0"/>
            </a:br>
            <a:r>
              <a:rPr lang="en-US" sz="3100" i="1" dirty="0" err="1">
                <a:effectLst>
                  <a:outerShdw blurRad="38100" dist="38100" dir="2700000" algn="tl">
                    <a:srgbClr val="000000">
                      <a:alpha val="43137"/>
                    </a:srgbClr>
                  </a:outerShdw>
                </a:effectLst>
              </a:rPr>
              <a:t>Profil</a:t>
            </a:r>
            <a:r>
              <a:rPr lang="en-US" sz="3100" i="1" dirty="0">
                <a:effectLst>
                  <a:outerShdw blurRad="38100" dist="38100" dir="2700000" algn="tl">
                    <a:srgbClr val="000000">
                      <a:alpha val="43137"/>
                    </a:srgbClr>
                  </a:outerShdw>
                </a:effectLst>
              </a:rPr>
              <a:t> du </a:t>
            </a:r>
            <a:r>
              <a:rPr lang="en-US" sz="3100" i="1" dirty="0" err="1">
                <a:effectLst>
                  <a:outerShdw blurRad="38100" dist="38100" dir="2700000" algn="tl">
                    <a:srgbClr val="000000">
                      <a:alpha val="43137"/>
                    </a:srgbClr>
                  </a:outerShdw>
                </a:effectLst>
              </a:rPr>
              <a:t>candidat</a:t>
            </a:r>
            <a:endParaRPr lang="en-US" sz="3100" i="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093013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4063042" y="1825625"/>
            <a:ext cx="8128958" cy="4351338"/>
          </a:xfrm>
        </p:spPr>
        <p:txBody>
          <a:bodyPr>
            <a:normAutofit/>
          </a:bodyPr>
          <a:lstStyle/>
          <a:p>
            <a:r>
              <a:rPr lang="fr-FR" sz="2400" dirty="0"/>
              <a:t>Le DevOps est un ensemble de pratiques / combinaison </a:t>
            </a:r>
            <a:r>
              <a:rPr lang="fr-FR" sz="2400" dirty="0" err="1"/>
              <a:t>interfonctionnelle</a:t>
            </a:r>
            <a:r>
              <a:rPr lang="fr-FR" sz="2400" dirty="0"/>
              <a:t> qui combine le développement logiciel (Dev) et les opérations informatiques (</a:t>
            </a:r>
            <a:r>
              <a:rPr lang="fr-FR" sz="2400" dirty="0" err="1"/>
              <a:t>Ops</a:t>
            </a:r>
            <a:r>
              <a:rPr lang="fr-FR" sz="2400" dirty="0"/>
              <a:t>).</a:t>
            </a:r>
          </a:p>
          <a:p>
            <a:pPr marL="0" indent="0">
              <a:buNone/>
            </a:pPr>
            <a:endParaRPr lang="fr-FR" sz="2400" dirty="0"/>
          </a:p>
          <a:p>
            <a:r>
              <a:rPr lang="fr-FR" sz="2400" dirty="0"/>
              <a:t>Il vise à raccourcir le cycle de vie du développement et toutes les opérations informatiques liées à un logiciel en intégrant continuellement et automatiquement les mises à jour et les changements à travers le processus d’ intégration continue (CI) et déploiement continu (CD). </a:t>
            </a:r>
            <a:endParaRPr lang="en-US" sz="2400" dirty="0"/>
          </a:p>
        </p:txBody>
      </p:sp>
      <p:sp>
        <p:nvSpPr>
          <p:cNvPr id="8" name="ZoneTexte 7"/>
          <p:cNvSpPr txBox="1"/>
          <p:nvPr/>
        </p:nvSpPr>
        <p:spPr>
          <a:xfrm>
            <a:off x="397394" y="1367522"/>
            <a:ext cx="2490950" cy="400110"/>
          </a:xfrm>
          <a:prstGeom prst="rect">
            <a:avLst/>
          </a:prstGeom>
          <a:noFill/>
        </p:spPr>
        <p:txBody>
          <a:bodyPr wrap="square" rtlCol="0">
            <a:spAutoFit/>
          </a:bodyPr>
          <a:lstStyle/>
          <a:p>
            <a:pPr algn="ctr"/>
            <a:r>
              <a:rPr lang="fr-FR" sz="2000" dirty="0">
                <a:solidFill>
                  <a:schemeClr val="bg1"/>
                </a:solidFill>
              </a:rPr>
              <a:t>3- </a:t>
            </a:r>
            <a:r>
              <a:rPr lang="fr-FR" sz="2000" dirty="0" err="1">
                <a:solidFill>
                  <a:schemeClr val="bg1"/>
                </a:solidFill>
              </a:rPr>
              <a:t>DevOps</a:t>
            </a:r>
            <a:endParaRPr lang="fr-FR" sz="2000" dirty="0">
              <a:solidFill>
                <a:schemeClr val="bg1"/>
              </a:solidFill>
            </a:endParaRPr>
          </a:p>
        </p:txBody>
      </p:sp>
      <p:sp>
        <p:nvSpPr>
          <p:cNvPr id="9" name="Title 3"/>
          <p:cNvSpPr txBox="1">
            <a:spLocks/>
          </p:cNvSpPr>
          <p:nvPr/>
        </p:nvSpPr>
        <p:spPr>
          <a:xfrm>
            <a:off x="4063042" y="365125"/>
            <a:ext cx="812895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chemeClr val="accent1">
                    <a:lumMod val="50000"/>
                  </a:schemeClr>
                </a:solidFill>
                <a:effectLst>
                  <a:outerShdw blurRad="38100" dist="38100" dir="2700000" algn="tl">
                    <a:srgbClr val="000000">
                      <a:alpha val="43137"/>
                    </a:srgbClr>
                  </a:outerShdw>
                </a:effectLst>
              </a:rPr>
              <a:t>3. DevOps</a:t>
            </a:r>
          </a:p>
        </p:txBody>
      </p:sp>
    </p:spTree>
    <p:extLst>
      <p:ext uri="{BB962C8B-B14F-4D97-AF65-F5344CB8AC3E}">
        <p14:creationId xmlns:p14="http://schemas.microsoft.com/office/powerpoint/2010/main" val="13984044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3866606" y="2055813"/>
            <a:ext cx="8325394" cy="4121150"/>
          </a:xfrm>
        </p:spPr>
        <p:txBody>
          <a:bodyPr>
            <a:normAutofit/>
          </a:bodyPr>
          <a:lstStyle/>
          <a:p>
            <a:r>
              <a:rPr lang="fr-FR" sz="2400" dirty="0"/>
              <a:t>Les ingénieurs DevOps sont des professionnels qui travaillent avec les développeurs et le personnel informatique pour gérer la production des versions de code.</a:t>
            </a:r>
          </a:p>
          <a:p>
            <a:pPr marL="0" indent="0">
              <a:buNone/>
            </a:pPr>
            <a:endParaRPr lang="fr-FR" sz="2400" dirty="0"/>
          </a:p>
          <a:p>
            <a:r>
              <a:rPr lang="fr-FR" sz="2400" dirty="0"/>
              <a:t>Ils automatisent la construction, le test et maintiennent l'infrastructure et les outils pour permettre le développement et la publication rapides des logiciels. </a:t>
            </a:r>
            <a:endParaRPr lang="en-US" sz="2400" dirty="0"/>
          </a:p>
        </p:txBody>
      </p:sp>
      <p:sp>
        <p:nvSpPr>
          <p:cNvPr id="7" name="ZoneTexte 6"/>
          <p:cNvSpPr txBox="1"/>
          <p:nvPr/>
        </p:nvSpPr>
        <p:spPr>
          <a:xfrm>
            <a:off x="397394" y="1367522"/>
            <a:ext cx="2490950" cy="400110"/>
          </a:xfrm>
          <a:prstGeom prst="rect">
            <a:avLst/>
          </a:prstGeom>
          <a:noFill/>
        </p:spPr>
        <p:txBody>
          <a:bodyPr wrap="square" rtlCol="0">
            <a:spAutoFit/>
          </a:bodyPr>
          <a:lstStyle/>
          <a:p>
            <a:pPr algn="ctr"/>
            <a:r>
              <a:rPr lang="fr-FR" sz="2000" dirty="0">
                <a:solidFill>
                  <a:schemeClr val="bg1"/>
                </a:solidFill>
              </a:rPr>
              <a:t>3- </a:t>
            </a:r>
            <a:r>
              <a:rPr lang="fr-FR" sz="2000" dirty="0" err="1">
                <a:solidFill>
                  <a:schemeClr val="bg1"/>
                </a:solidFill>
              </a:rPr>
              <a:t>DevOps</a:t>
            </a:r>
            <a:endParaRPr lang="fr-FR" sz="2000" dirty="0">
              <a:solidFill>
                <a:schemeClr val="bg1"/>
              </a:solidFill>
            </a:endParaRPr>
          </a:p>
        </p:txBody>
      </p:sp>
      <p:sp>
        <p:nvSpPr>
          <p:cNvPr id="8" name="Title 3"/>
          <p:cNvSpPr txBox="1">
            <a:spLocks/>
          </p:cNvSpPr>
          <p:nvPr/>
        </p:nvSpPr>
        <p:spPr>
          <a:xfrm>
            <a:off x="4063042" y="365125"/>
            <a:ext cx="5893758"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Ingénieur</a:t>
            </a:r>
            <a:r>
              <a:rPr lang="en-US" sz="3600" dirty="0"/>
              <a:t> DevOps</a:t>
            </a:r>
            <a:br>
              <a:rPr lang="en-US" sz="3600" dirty="0"/>
            </a:br>
            <a:br>
              <a:rPr lang="en-US" sz="3600" dirty="0"/>
            </a:br>
            <a:r>
              <a:rPr lang="en-US" sz="3100" i="1" dirty="0" err="1">
                <a:effectLst>
                  <a:outerShdw blurRad="38100" dist="38100" dir="2700000" algn="tl">
                    <a:srgbClr val="000000">
                      <a:alpha val="43137"/>
                    </a:srgbClr>
                  </a:outerShdw>
                </a:effectLst>
              </a:rPr>
              <a:t>Définition</a:t>
            </a:r>
            <a:r>
              <a:rPr lang="en-US" sz="3100" i="1" dirty="0">
                <a:effectLst>
                  <a:outerShdw blurRad="38100" dist="38100" dir="2700000" algn="tl">
                    <a:srgbClr val="000000">
                      <a:alpha val="43137"/>
                    </a:srgbClr>
                  </a:outerShdw>
                </a:effectLst>
              </a:rPr>
              <a:t> du </a:t>
            </a:r>
            <a:r>
              <a:rPr lang="en-US" sz="3100" i="1" dirty="0" err="1">
                <a:effectLst>
                  <a:outerShdw blurRad="38100" dist="38100" dir="2700000" algn="tl">
                    <a:srgbClr val="000000">
                      <a:alpha val="43137"/>
                    </a:srgbClr>
                  </a:outerShdw>
                </a:effectLst>
              </a:rPr>
              <a:t>rôle</a:t>
            </a:r>
            <a:r>
              <a:rPr lang="en-US" sz="3100" i="1" dirty="0">
                <a:effectLst>
                  <a:outerShdw blurRad="38100" dist="38100" dir="2700000" algn="tl">
                    <a:srgbClr val="000000">
                      <a:alpha val="43137"/>
                    </a:srgbClr>
                  </a:outerShdw>
                </a:effectLst>
              </a:rPr>
              <a:t> et des missions</a:t>
            </a:r>
          </a:p>
        </p:txBody>
      </p:sp>
    </p:spTree>
    <p:extLst>
      <p:ext uri="{BB962C8B-B14F-4D97-AF65-F5344CB8AC3E}">
        <p14:creationId xmlns:p14="http://schemas.microsoft.com/office/powerpoint/2010/main" val="13984044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6" name="Content Placeholder 5"/>
          <p:cNvSpPr>
            <a:spLocks noGrp="1"/>
          </p:cNvSpPr>
          <p:nvPr>
            <p:ph idx="1"/>
          </p:nvPr>
        </p:nvSpPr>
        <p:spPr>
          <a:xfrm>
            <a:off x="3918857" y="1825624"/>
            <a:ext cx="8177349" cy="4784181"/>
          </a:xfrm>
        </p:spPr>
        <p:txBody>
          <a:bodyPr>
            <a:normAutofit/>
          </a:bodyPr>
          <a:lstStyle/>
          <a:p>
            <a:pPr fontAlgn="base"/>
            <a:r>
              <a:rPr lang="fr-FR" sz="2000" dirty="0"/>
              <a:t>Construire et mettre en place de nouveaux outils et infrastructures de développement.</a:t>
            </a:r>
          </a:p>
          <a:p>
            <a:pPr fontAlgn="base"/>
            <a:r>
              <a:rPr lang="fr-FR" sz="2000" dirty="0"/>
              <a:t>Travailler sur des moyens d'automatiser et d'améliorer les processus de développement et de publication.</a:t>
            </a:r>
          </a:p>
          <a:p>
            <a:pPr fontAlgn="base"/>
            <a:r>
              <a:rPr lang="fr-FR" sz="2000" dirty="0"/>
              <a:t>Tester et examiner le code écrit par d'autres et analyser les résultats.</a:t>
            </a:r>
          </a:p>
          <a:p>
            <a:pPr fontAlgn="base"/>
            <a:r>
              <a:rPr lang="fr-FR" sz="2000" dirty="0"/>
              <a:t>S’assurer que les systèmes sont sûrs et sécurisés contre les menaces de cybersécurité.</a:t>
            </a:r>
          </a:p>
          <a:p>
            <a:pPr fontAlgn="base"/>
            <a:r>
              <a:rPr lang="fr-FR" sz="2000" dirty="0"/>
              <a:t>Identifier les problèmes techniques et développer des mises à jour logicielles et des «correctifs».</a:t>
            </a:r>
          </a:p>
          <a:p>
            <a:pPr fontAlgn="base"/>
            <a:r>
              <a:rPr lang="fr-FR" sz="2000" dirty="0"/>
              <a:t>Travailler avec les développeurs de logiciels et les ingénieurs en logiciel pour s'assurer que le développement suit les processus établis et fonctionne comme prévu.</a:t>
            </a:r>
          </a:p>
          <a:p>
            <a:pPr fontAlgn="base"/>
            <a:r>
              <a:rPr lang="fr-FR" sz="2000" dirty="0"/>
              <a:t>Planifier les projets et participer aux décisions de gestion de projet.</a:t>
            </a:r>
            <a:endParaRPr lang="en-US" sz="2000" dirty="0"/>
          </a:p>
        </p:txBody>
      </p:sp>
      <p:sp>
        <p:nvSpPr>
          <p:cNvPr id="7" name="ZoneTexte 6"/>
          <p:cNvSpPr txBox="1"/>
          <p:nvPr/>
        </p:nvSpPr>
        <p:spPr>
          <a:xfrm>
            <a:off x="397394" y="1367522"/>
            <a:ext cx="2490950" cy="400110"/>
          </a:xfrm>
          <a:prstGeom prst="rect">
            <a:avLst/>
          </a:prstGeom>
          <a:noFill/>
        </p:spPr>
        <p:txBody>
          <a:bodyPr wrap="square" rtlCol="0">
            <a:spAutoFit/>
          </a:bodyPr>
          <a:lstStyle/>
          <a:p>
            <a:pPr algn="ctr"/>
            <a:r>
              <a:rPr lang="fr-FR" sz="2000" dirty="0">
                <a:solidFill>
                  <a:schemeClr val="bg1"/>
                </a:solidFill>
              </a:rPr>
              <a:t>3- </a:t>
            </a:r>
            <a:r>
              <a:rPr lang="fr-FR" sz="2000" dirty="0" err="1">
                <a:solidFill>
                  <a:schemeClr val="bg1"/>
                </a:solidFill>
              </a:rPr>
              <a:t>DevOps</a:t>
            </a:r>
            <a:endParaRPr lang="fr-FR" sz="2000" dirty="0">
              <a:solidFill>
                <a:schemeClr val="bg1"/>
              </a:solidFill>
            </a:endParaRPr>
          </a:p>
        </p:txBody>
      </p:sp>
      <p:sp>
        <p:nvSpPr>
          <p:cNvPr id="8" name="Title 3"/>
          <p:cNvSpPr txBox="1">
            <a:spLocks/>
          </p:cNvSpPr>
          <p:nvPr/>
        </p:nvSpPr>
        <p:spPr>
          <a:xfrm>
            <a:off x="4063042" y="365125"/>
            <a:ext cx="5893758"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t>Ingénieur</a:t>
            </a:r>
            <a:r>
              <a:rPr lang="en-US" sz="3600" dirty="0"/>
              <a:t> DevOps</a:t>
            </a:r>
            <a:br>
              <a:rPr lang="en-US" sz="3600" dirty="0"/>
            </a:br>
            <a:br>
              <a:rPr lang="en-US" sz="3600" dirty="0"/>
            </a:br>
            <a:r>
              <a:rPr lang="en-US" sz="3100" i="1" dirty="0" err="1">
                <a:effectLst>
                  <a:outerShdw blurRad="38100" dist="38100" dir="2700000" algn="tl">
                    <a:srgbClr val="000000">
                      <a:alpha val="43137"/>
                    </a:srgbClr>
                  </a:outerShdw>
                </a:effectLst>
              </a:rPr>
              <a:t>Définition</a:t>
            </a:r>
            <a:r>
              <a:rPr lang="en-US" sz="3100" i="1" dirty="0">
                <a:effectLst>
                  <a:outerShdw blurRad="38100" dist="38100" dir="2700000" algn="tl">
                    <a:srgbClr val="000000">
                      <a:alpha val="43137"/>
                    </a:srgbClr>
                  </a:outerShdw>
                </a:effectLst>
              </a:rPr>
              <a:t> du </a:t>
            </a:r>
            <a:r>
              <a:rPr lang="en-US" sz="3100" i="1" dirty="0" err="1">
                <a:effectLst>
                  <a:outerShdw blurRad="38100" dist="38100" dir="2700000" algn="tl">
                    <a:srgbClr val="000000">
                      <a:alpha val="43137"/>
                    </a:srgbClr>
                  </a:outerShdw>
                </a:effectLst>
              </a:rPr>
              <a:t>rôle</a:t>
            </a:r>
            <a:r>
              <a:rPr lang="en-US" sz="3100" i="1" dirty="0">
                <a:effectLst>
                  <a:outerShdw blurRad="38100" dist="38100" dir="2700000" algn="tl">
                    <a:srgbClr val="000000">
                      <a:alpha val="43137"/>
                    </a:srgbClr>
                  </a:outerShdw>
                </a:effectLst>
              </a:rPr>
              <a:t> et des missions (suite)</a:t>
            </a:r>
          </a:p>
        </p:txBody>
      </p:sp>
    </p:spTree>
    <p:extLst>
      <p:ext uri="{BB962C8B-B14F-4D97-AF65-F5344CB8AC3E}">
        <p14:creationId xmlns:p14="http://schemas.microsoft.com/office/powerpoint/2010/main" val="13984044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9F299D9-CB3C-5E4C-B055-26DC86002447}"/>
              </a:ext>
            </a:extLst>
          </p:cNvPr>
          <p:cNvPicPr>
            <a:picLocks noChangeAspect="1"/>
          </p:cNvPicPr>
          <p:nvPr/>
        </p:nvPicPr>
        <p:blipFill>
          <a:blip r:embed="rId2"/>
          <a:stretch>
            <a:fillRect/>
          </a:stretch>
        </p:blipFill>
        <p:spPr>
          <a:xfrm>
            <a:off x="0" y="24714"/>
            <a:ext cx="12192000" cy="6858000"/>
          </a:xfrm>
          <a:prstGeom prst="rect">
            <a:avLst/>
          </a:prstGeom>
        </p:spPr>
      </p:pic>
    </p:spTree>
    <p:extLst>
      <p:ext uri="{BB962C8B-B14F-4D97-AF65-F5344CB8AC3E}">
        <p14:creationId xmlns:p14="http://schemas.microsoft.com/office/powerpoint/2010/main" val="7862683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2344</TotalTime>
  <Words>5211</Words>
  <Application>Microsoft Office PowerPoint</Application>
  <PresentationFormat>Grand écran</PresentationFormat>
  <Paragraphs>440</Paragraphs>
  <Slides>56</Slides>
  <Notes>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56</vt:i4>
      </vt:variant>
    </vt:vector>
  </HeadingPairs>
  <TitlesOfParts>
    <vt:vector size="64" baseType="lpstr">
      <vt:lpstr>Arial</vt:lpstr>
      <vt:lpstr>Calibri</vt:lpstr>
      <vt:lpstr>Calibri Light</vt:lpstr>
      <vt:lpstr>Courier New</vt:lpstr>
      <vt:lpstr>Montserrat-Regular</vt:lpstr>
      <vt:lpstr>Open Sans</vt:lpstr>
      <vt:lpstr>Wingdings</vt:lpstr>
      <vt:lpstr>Office Theme</vt:lpstr>
      <vt:lpstr>Présentation PowerPoint</vt:lpstr>
      <vt:lpstr>Présentation PowerPoint</vt:lpstr>
      <vt:lpstr>L’IT en tant qu'industrie </vt:lpstr>
      <vt:lpstr>Branches de l’informatique</vt:lpstr>
      <vt:lpstr>Industrie du Logiciel</vt:lpstr>
      <vt:lpstr>Développement Logiciel</vt:lpstr>
      <vt:lpstr>Ingénieur Développeur Application / Web  Définition du rôle et des missions </vt:lpstr>
      <vt:lpstr>Ingénieur Développeur Application / Web  Définition du rôle et des missions (suite)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2. Administration/Production Logiciel</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christian JOAO</dc:creator>
  <cp:lastModifiedBy>Frederic Fromager</cp:lastModifiedBy>
  <cp:revision>370</cp:revision>
  <dcterms:created xsi:type="dcterms:W3CDTF">2021-02-09T15:04:07Z</dcterms:created>
  <dcterms:modified xsi:type="dcterms:W3CDTF">2021-02-16T07:38:17Z</dcterms:modified>
</cp:coreProperties>
</file>