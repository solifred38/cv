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9" r:id="rId4"/>
    <p:sldId id="275" r:id="rId5"/>
    <p:sldId id="270" r:id="rId6"/>
    <p:sldId id="283" r:id="rId7"/>
    <p:sldId id="271" r:id="rId8"/>
    <p:sldId id="272" r:id="rId9"/>
    <p:sldId id="273" r:id="rId10"/>
    <p:sldId id="274" r:id="rId11"/>
    <p:sldId id="268" r:id="rId12"/>
    <p:sldId id="276" r:id="rId13"/>
    <p:sldId id="277" r:id="rId14"/>
    <p:sldId id="278" r:id="rId15"/>
    <p:sldId id="279" r:id="rId16"/>
    <p:sldId id="281" r:id="rId17"/>
    <p:sldId id="282" r:id="rId18"/>
    <p:sldId id="284" r:id="rId19"/>
    <p:sldId id="285" r:id="rId20"/>
    <p:sldId id="287" r:id="rId21"/>
    <p:sldId id="286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61" r:id="rId3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1"/>
    <p:restoredTop sz="96327"/>
  </p:normalViewPr>
  <p:slideViewPr>
    <p:cSldViewPr snapToGrid="0" snapToObjects="1">
      <p:cViewPr varScale="1">
        <p:scale>
          <a:sx n="88" d="100"/>
          <a:sy n="88" d="100"/>
        </p:scale>
        <p:origin x="-437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17A2A-2FF0-2E40-8A9B-E5208E8F6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2B167A9-E0F1-E346-9A44-CB7CDE716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E50AE3-BB8F-DF41-B8FF-651EB246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4CB9D6-36F5-4242-8C0F-C6F18DB3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30F667-42B4-EA4A-BF8C-6A589DE9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027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02E48F-B9BD-B146-998F-5839D40E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2E3093-CE8D-4F4C-B6EE-DCE54B504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09A057-2B3A-DD44-A5AE-97F94091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6565A1-7EAF-174C-8E09-E141B178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9686AB-2FBE-3743-B03F-0051B123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77400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90209C-5990-1B49-8917-094F9E929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4378749-D299-D84E-BADD-AA243C4A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2016C4-5F0A-7840-BB7E-B2E552E5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1FAD20-17B7-EE4F-ACEA-0185257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042EAB-6068-2F4E-943F-794B8CD1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72372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E1EB3B-C53E-AA4C-B7A0-13FDAA95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47F1EB-6563-8D4A-8C21-038AAAF2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1D67101-3F16-1247-98FA-7505527FE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1FA766-9C30-834F-A4EF-9A236DF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6E21626-D81C-0B41-B4C8-6E7AB9EB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F7179D-6073-BF43-B684-B27BEC0B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96420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E9CB91-775F-D044-BDE2-0FCBCE7E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1A4BE6D-21BB-314D-882B-ABA3E8C9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3A68C4D-1202-B74D-A3F7-9FE7D1733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112C724-48A1-3C4D-A01C-3A7F3A1C0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BAE3F74-F2C1-0C46-AC45-485A82FDC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688A28F-4B85-674D-8031-AB9B2985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E9CEF26-66C2-BD40-9358-D3E74E21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DF6D21C-1441-8040-B669-F6314020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17494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7DFC87-F48D-BC49-9F1D-6AE158BB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F587F50-3ACA-7446-AA11-2ACC5A08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616A4FA-DB0F-184C-949B-98169FFE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AE15ABD-6E2F-B443-BD2A-DBA3357E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7173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1FBF121-DC11-2642-BE62-78AF1012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F46E423-499B-1B41-9E9B-99219A0C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86B0D6-750A-E649-BBD2-C69E8C5B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10944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185610-725B-B540-A137-E9D16AFC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FAA86B-9151-0846-8A36-03F6A639E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C9B5F47-E787-6740-B4D6-518C12ECB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D109BB-0F63-014E-B4EB-C277ED11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5241E4-7222-764C-85BA-576AD600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6288CF-F1C1-7649-A5D2-4272F9FB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8307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81F6C3-EF41-ED40-8FDB-23F9E75C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3A0D5DE-80D4-274F-AC84-B5B21154D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8104EF4-6397-3649-B4A0-D79B8F5D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41D3502-17E9-5845-9ECB-056A17D7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B5F3D0-CB82-F841-8CDD-2C2F0F83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D661E6-A849-0F44-ABFB-ECCE976C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91666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F389B6-5D9E-4043-9A8F-BECD6E1B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2526EE-F39A-7741-8F9D-95F17311A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B1DE46-D753-7E42-9F01-FD21D8C8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D157AA-ED43-7F4B-83D6-22429BD7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1CA035-91B3-2F41-BDFD-7F1E3E25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25572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4C3C00F-BB0B-7449-AA5E-9CDC854E4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41C707F-160A-4243-843E-90F3B5173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3B0F26-CFA2-FE46-9597-D182E716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E99DDA-D9DE-844D-A314-BC025838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A50BE6-602A-B44D-87F9-FB904878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27148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C325231-3B40-5C40-B274-CF3046C7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1E1FD4-D2A7-9249-9FA3-2B8D1AD8F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B2A841-6EB9-3B40-8356-74B77F458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0DBA9-D40E-C549-9F7C-850ED2B6AE7B}" type="datetimeFigureOut">
              <a:rPr lang="x-none" smtClean="0"/>
              <a:pPr/>
              <a:t>10-02-2021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5D3080-D60E-3E45-B8CF-1342B9671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8BF69A-A726-2B46-B995-8A3F93BF4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CAFE-089C-0349-85F0-5FEE40907274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7326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E2DCDCC-1767-9C4E-BEBE-95E51E39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32317" y="2499145"/>
            <a:ext cx="7798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An Introduction to different job profiles in Information Technology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4757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A05F37F-29A1-344A-AF12-76A7B860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0717" y="2846717"/>
            <a:ext cx="4658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Contents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0249" y="577970"/>
            <a:ext cx="5529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Introduction to Information Technology as an industry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Branches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0249" y="2078966"/>
            <a:ext cx="55295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b="1" dirty="0" smtClean="0"/>
              <a:t>Software</a:t>
            </a:r>
          </a:p>
          <a:p>
            <a:pPr lvl="1">
              <a:buFont typeface="Wingdings" pitchFamily="2" charset="2"/>
              <a:buChar char="q"/>
            </a:pPr>
            <a:r>
              <a:rPr lang="en-US" sz="1200" b="1" dirty="0" smtClean="0"/>
              <a:t>Development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Application/Web Developer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Application Analyst/Architect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Data Analyst/Scientist/Engineer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Software Tester</a:t>
            </a:r>
          </a:p>
          <a:p>
            <a:pPr lvl="1">
              <a:buFont typeface="Arial" pitchFamily="34" charset="0"/>
              <a:buChar char="•"/>
            </a:pP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6090249" y="3640347"/>
            <a:ext cx="57279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1200" b="1" dirty="0" smtClean="0"/>
              <a:t>Operations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Database Administrator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Network Engineer</a:t>
            </a:r>
            <a:endParaRPr lang="en-US" sz="1200" dirty="0" smtClean="0"/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Security Engineer</a:t>
            </a:r>
          </a:p>
          <a:p>
            <a:pPr lvl="2">
              <a:buFont typeface="Wingdings" pitchFamily="2" charset="2"/>
              <a:buChar char="§"/>
            </a:pPr>
            <a:r>
              <a:rPr lang="en-US" sz="1200" dirty="0" smtClean="0"/>
              <a:t>Cloud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9645" y="5331125"/>
            <a:ext cx="559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1200" b="1" dirty="0" err="1" smtClean="0"/>
              <a:t>DevOps</a:t>
            </a:r>
            <a:endParaRPr lang="en-US" sz="1200" b="1" dirty="0" smtClean="0"/>
          </a:p>
          <a:p>
            <a:pPr lvl="2">
              <a:buFont typeface="Wingdings" pitchFamily="2" charset="2"/>
              <a:buChar char="§"/>
            </a:pPr>
            <a:r>
              <a:rPr lang="en-US" sz="1200" dirty="0" err="1" smtClean="0"/>
              <a:t>DevOps</a:t>
            </a:r>
            <a:r>
              <a:rPr lang="en-US" sz="1200" dirty="0" smtClean="0"/>
              <a:t> Engineer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xmlns="" val="414317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IT as an Industry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Information technology sector is a business sector that works with computation and digital media.</a:t>
            </a:r>
          </a:p>
          <a:p>
            <a:r>
              <a:rPr lang="en-US" dirty="0" smtClean="0"/>
              <a:t>It provides services and support to various IT products, software, applications and websites, maintenance, support for hardware devices, consulting etc.</a:t>
            </a:r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Branches of 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The IT industry and its functions can be divided into two major branches: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Software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Hardware</a:t>
            </a:r>
            <a:endParaRPr lang="en-US" dirty="0" smtClean="0"/>
          </a:p>
          <a:p>
            <a:r>
              <a:rPr lang="en-US" dirty="0" smtClean="0"/>
              <a:t>Any job profile in the field of Information Technology would fall under either of the two branches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this presentation, we are focusing on major job profiles in the </a:t>
            </a:r>
            <a:r>
              <a:rPr lang="en-US" b="1" dirty="0" smtClean="0"/>
              <a:t>software</a:t>
            </a:r>
            <a:r>
              <a:rPr lang="en-US" dirty="0" smtClean="0"/>
              <a:t> industry.</a:t>
            </a:r>
            <a:endParaRPr lang="en-US" dirty="0" smtClean="0"/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Software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293962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It revolves around the entire lifecycle of an application/software/website. From conception to development to production to maintenance.</a:t>
            </a:r>
          </a:p>
          <a:p>
            <a:r>
              <a:rPr lang="en-US" dirty="0" smtClean="0"/>
              <a:t> The entire software Industry can be divided into </a:t>
            </a:r>
            <a:r>
              <a:rPr lang="en-US" dirty="0" smtClean="0"/>
              <a:t>two, </a:t>
            </a:r>
            <a:r>
              <a:rPr lang="en-US" dirty="0" smtClean="0"/>
              <a:t>based on it’s </a:t>
            </a:r>
            <a:r>
              <a:rPr lang="en-US" dirty="0" smtClean="0"/>
              <a:t>functions: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Development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Operations</a:t>
            </a:r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075" name="Picture 3" descr="D:\IT presentatation\DevOps-Development-Operations-Gap-B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3479" y="4244196"/>
            <a:ext cx="8508521" cy="26138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Software Development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Development</a:t>
            </a:r>
            <a:r>
              <a:rPr lang="en-US" dirty="0" smtClean="0"/>
              <a:t> </a:t>
            </a:r>
            <a:r>
              <a:rPr lang="en-US" dirty="0" smtClean="0"/>
              <a:t>of a software is a </a:t>
            </a:r>
            <a:r>
              <a:rPr lang="en-US" dirty="0" smtClean="0"/>
              <a:t>life cycle</a:t>
            </a:r>
            <a:br>
              <a:rPr lang="en-US" dirty="0" smtClean="0"/>
            </a:br>
            <a:r>
              <a:rPr lang="en-US" dirty="0" smtClean="0"/>
              <a:t>which </a:t>
            </a:r>
            <a:r>
              <a:rPr lang="en-US" dirty="0" smtClean="0"/>
              <a:t>consists of </a:t>
            </a:r>
            <a:r>
              <a:rPr lang="en-US" dirty="0" smtClean="0"/>
              <a:t>6 </a:t>
            </a:r>
            <a:r>
              <a:rPr lang="en-US" dirty="0" smtClean="0"/>
              <a:t>major steps.</a:t>
            </a:r>
          </a:p>
          <a:p>
            <a:r>
              <a:rPr lang="en-US" dirty="0" smtClean="0"/>
              <a:t>The major job profiles in </a:t>
            </a:r>
            <a:r>
              <a:rPr lang="en-US" dirty="0" smtClean="0"/>
              <a:t>development</a:t>
            </a:r>
            <a:br>
              <a:rPr lang="en-US" dirty="0" smtClean="0"/>
            </a:br>
            <a:r>
              <a:rPr lang="en-US" dirty="0" smtClean="0"/>
              <a:t>are as </a:t>
            </a:r>
            <a:r>
              <a:rPr lang="en-US" dirty="0" smtClean="0"/>
              <a:t>follows:</a:t>
            </a:r>
          </a:p>
          <a:p>
            <a:pPr lvl="1"/>
            <a:r>
              <a:rPr lang="en-US" dirty="0" smtClean="0"/>
              <a:t>Application/web developer</a:t>
            </a:r>
          </a:p>
          <a:p>
            <a:pPr lvl="1"/>
            <a:r>
              <a:rPr lang="en-US" dirty="0" smtClean="0"/>
              <a:t>Application Analyst/architect</a:t>
            </a:r>
          </a:p>
          <a:p>
            <a:pPr lvl="1"/>
            <a:r>
              <a:rPr lang="en-US" dirty="0" smtClean="0"/>
              <a:t>Data Analyst/Scientist</a:t>
            </a:r>
          </a:p>
          <a:p>
            <a:pPr lvl="1"/>
            <a:r>
              <a:rPr lang="en-US" dirty="0" smtClean="0"/>
              <a:t>Software Tester</a:t>
            </a:r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2" descr="D:\IT presentatation\627x627-SftwareDev-Feature-HUS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32410" y="3107687"/>
            <a:ext cx="3198873" cy="31988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Application/Web </a:t>
            </a:r>
            <a:r>
              <a:rPr lang="en-US" dirty="0" smtClean="0"/>
              <a:t>Developer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70000"/>
              </a:lnSpc>
            </a:pPr>
            <a:r>
              <a:rPr lang="en-US" sz="4900" b="1" dirty="0" smtClean="0"/>
              <a:t>An application developer </a:t>
            </a:r>
            <a:r>
              <a:rPr lang="en-US" sz="4900" dirty="0" smtClean="0"/>
              <a:t>is someone who translates software requirements into workable programming code and maintain and develop programs for business.</a:t>
            </a:r>
          </a:p>
          <a:p>
            <a:pPr>
              <a:lnSpc>
                <a:spcPct val="170000"/>
              </a:lnSpc>
            </a:pPr>
            <a:r>
              <a:rPr lang="en-US" sz="4900" dirty="0" smtClean="0"/>
              <a:t>A developer usually works within a specific development field such as mobile phone applications, accounting software, office suites or graphics software, and will have in-depth knowledge of at least one computer language.</a:t>
            </a:r>
          </a:p>
          <a:p>
            <a:pPr>
              <a:lnSpc>
                <a:spcPct val="170000"/>
              </a:lnSpc>
            </a:pPr>
            <a:r>
              <a:rPr lang="en-US" sz="4900" dirty="0" smtClean="0"/>
              <a:t>An application developer might write applications, or apps, for either:</a:t>
            </a:r>
          </a:p>
          <a:p>
            <a:pPr lvl="1">
              <a:lnSpc>
                <a:spcPct val="170000"/>
              </a:lnSpc>
            </a:pPr>
            <a:r>
              <a:rPr lang="en-US" sz="4900" dirty="0" smtClean="0"/>
              <a:t>A particular system, such as Windows or Android</a:t>
            </a:r>
          </a:p>
          <a:p>
            <a:pPr lvl="1">
              <a:lnSpc>
                <a:spcPct val="170000"/>
              </a:lnSpc>
            </a:pPr>
            <a:r>
              <a:rPr lang="en-US" sz="4900" dirty="0" smtClean="0"/>
              <a:t>Across numerous platforms, including computers and mobile devices</a:t>
            </a:r>
            <a:r>
              <a:rPr lang="en-US" sz="4900" dirty="0" smtClean="0"/>
              <a:t>.</a:t>
            </a:r>
            <a:endParaRPr lang="en-US" sz="4900" dirty="0" smtClean="0"/>
          </a:p>
          <a:p>
            <a:pPr>
              <a:lnSpc>
                <a:spcPct val="170000"/>
              </a:lnSpc>
            </a:pPr>
            <a:r>
              <a:rPr lang="en-US" sz="4900" dirty="0" smtClean="0"/>
              <a:t> </a:t>
            </a:r>
            <a:r>
              <a:rPr lang="en-US" sz="4900" b="1" dirty="0" smtClean="0"/>
              <a:t>A web developer </a:t>
            </a:r>
            <a:r>
              <a:rPr lang="en-US" sz="4900" dirty="0" smtClean="0"/>
              <a:t>on the other hand will create reliable and high-performing applications and services, which can be accessed over the internet.</a:t>
            </a:r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15527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an Application Developer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480838"/>
            <a:ext cx="7290758" cy="495446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5400" dirty="0" smtClean="0"/>
              <a:t>As an applications developer, you'll need to:</a:t>
            </a:r>
          </a:p>
          <a:p>
            <a:r>
              <a:rPr lang="en-US" sz="5400" dirty="0" smtClean="0"/>
              <a:t>Establish a detailed program specification through discussion with </a:t>
            </a:r>
            <a:r>
              <a:rPr lang="en-US" sz="5400" dirty="0" smtClean="0"/>
              <a:t>clients.</a:t>
            </a:r>
            <a:endParaRPr lang="en-US" sz="5400" dirty="0" smtClean="0"/>
          </a:p>
          <a:p>
            <a:r>
              <a:rPr lang="en-US" sz="5400" dirty="0" smtClean="0"/>
              <a:t>Clarify the actions the program is intended to </a:t>
            </a:r>
            <a:r>
              <a:rPr lang="en-US" sz="5400" dirty="0" smtClean="0"/>
              <a:t>perform.</a:t>
            </a:r>
            <a:endParaRPr lang="en-US" sz="5400" dirty="0" smtClean="0"/>
          </a:p>
          <a:p>
            <a:r>
              <a:rPr lang="en-US" sz="5400" dirty="0" smtClean="0"/>
              <a:t>Write the program - to do this you'll break down program specification into its simplest elements and translate this logic into a programming </a:t>
            </a:r>
            <a:r>
              <a:rPr lang="en-US" sz="5400" dirty="0" smtClean="0"/>
              <a:t>language.</a:t>
            </a:r>
            <a:endParaRPr lang="en-US" sz="5400" dirty="0" smtClean="0"/>
          </a:p>
          <a:p>
            <a:r>
              <a:rPr lang="en-US" sz="5400" dirty="0" smtClean="0"/>
              <a:t>Work as part of a team - which may be established purely for a particular project to write a specific section of the </a:t>
            </a:r>
            <a:r>
              <a:rPr lang="en-US" sz="5400" dirty="0" smtClean="0"/>
              <a:t>program.</a:t>
            </a:r>
            <a:endParaRPr lang="en-US" sz="5400" dirty="0" smtClean="0"/>
          </a:p>
          <a:p>
            <a:r>
              <a:rPr lang="en-US" sz="5400" dirty="0" smtClean="0"/>
              <a:t>Test sample data-sets to check that output from the program works as </a:t>
            </a:r>
            <a:r>
              <a:rPr lang="en-US" sz="5400" dirty="0" smtClean="0"/>
              <a:t>intended.</a:t>
            </a:r>
            <a:endParaRPr lang="en-US" sz="5400" dirty="0" smtClean="0"/>
          </a:p>
          <a:p>
            <a:r>
              <a:rPr lang="en-US" sz="5400" dirty="0" smtClean="0"/>
              <a:t>Install the program into production, once testing is </a:t>
            </a:r>
            <a:r>
              <a:rPr lang="en-US" sz="5400" dirty="0" smtClean="0"/>
              <a:t>complete.</a:t>
            </a:r>
            <a:endParaRPr lang="en-US" sz="5400" dirty="0" smtClean="0"/>
          </a:p>
          <a:p>
            <a:r>
              <a:rPr lang="en-US" sz="5400" dirty="0" smtClean="0"/>
              <a:t>Devise possible solutions to anticipated </a:t>
            </a:r>
            <a:r>
              <a:rPr lang="en-US" sz="5400" dirty="0" smtClean="0"/>
              <a:t>problems.</a:t>
            </a:r>
            <a:endParaRPr lang="en-US" sz="5400" dirty="0" smtClean="0"/>
          </a:p>
          <a:p>
            <a:r>
              <a:rPr lang="en-US" sz="5400" dirty="0" smtClean="0"/>
              <a:t>React to problems and correct the program as </a:t>
            </a:r>
            <a:r>
              <a:rPr lang="en-US" sz="5400" dirty="0" smtClean="0"/>
              <a:t>necessary.</a:t>
            </a:r>
            <a:endParaRPr lang="en-US" sz="5400" dirty="0" smtClean="0"/>
          </a:p>
          <a:p>
            <a:r>
              <a:rPr lang="en-US" sz="5400" dirty="0" smtClean="0"/>
              <a:t>Evaluate and increase the program's </a:t>
            </a:r>
            <a:r>
              <a:rPr lang="en-US" sz="5400" dirty="0" smtClean="0"/>
              <a:t>effectiveness.</a:t>
            </a:r>
            <a:endParaRPr lang="en-US" sz="5400" dirty="0" smtClean="0"/>
          </a:p>
          <a:p>
            <a:r>
              <a:rPr lang="en-US" sz="5400" dirty="0" smtClean="0"/>
              <a:t>Adapt the program to new requirements, as </a:t>
            </a:r>
            <a:r>
              <a:rPr lang="en-US" sz="5400" dirty="0" smtClean="0"/>
              <a:t>necessary.</a:t>
            </a:r>
            <a:endParaRPr lang="en-US" sz="5400" dirty="0" smtClean="0"/>
          </a:p>
          <a:p>
            <a:r>
              <a:rPr lang="en-US" sz="5400" dirty="0" smtClean="0"/>
              <a:t>Conduct user acceptance testing, to ensure the </a:t>
            </a:r>
            <a:r>
              <a:rPr lang="en-US" sz="5400" dirty="0" smtClean="0"/>
              <a:t>program </a:t>
            </a:r>
            <a:r>
              <a:rPr lang="en-US" sz="5400" dirty="0" smtClean="0"/>
              <a:t>can be used easily, quickly and </a:t>
            </a:r>
            <a:r>
              <a:rPr lang="en-US" sz="5400" dirty="0" smtClean="0"/>
              <a:t>accurately.</a:t>
            </a:r>
            <a:endParaRPr lang="en-US" sz="5400" dirty="0" smtClean="0"/>
          </a:p>
          <a:p>
            <a:r>
              <a:rPr lang="en-US" sz="5400" dirty="0" smtClean="0"/>
              <a:t>Write detailed documentation for the operation of the program by users and computer </a:t>
            </a:r>
            <a:r>
              <a:rPr lang="en-US" sz="5400" dirty="0" smtClean="0"/>
              <a:t>operators.</a:t>
            </a:r>
            <a:endParaRPr lang="en-US" sz="5400" dirty="0" smtClean="0"/>
          </a:p>
          <a:p>
            <a:r>
              <a:rPr lang="en-US" sz="5400" dirty="0" smtClean="0"/>
              <a:t>Consult manuals, periodicals and technical reports to learn new ways to develop programs and maintain existing skills and </a:t>
            </a:r>
            <a:r>
              <a:rPr lang="en-US" sz="5400" dirty="0" smtClean="0"/>
              <a:t>knowledge.</a:t>
            </a:r>
            <a:endParaRPr lang="en-US" sz="5400" dirty="0" smtClean="0"/>
          </a:p>
          <a:p>
            <a:r>
              <a:rPr lang="en-US" sz="5400" dirty="0" smtClean="0"/>
              <a:t>Update, repair, modify and develop existing software and generic applications.</a:t>
            </a:r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15527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Web Developer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480838"/>
            <a:ext cx="7290758" cy="4600785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5400" dirty="0" smtClean="0"/>
              <a:t>As </a:t>
            </a:r>
            <a:r>
              <a:rPr lang="en-US" sz="5400" dirty="0" smtClean="0"/>
              <a:t>a web developer</a:t>
            </a:r>
            <a:r>
              <a:rPr lang="en-US" sz="5400" dirty="0" smtClean="0"/>
              <a:t>, you'll need to: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Write code in one or more programming or scripting languages, such as PHP or JavaScript.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Fix bugs in existing projects.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Test new features thoroughly to ensure they perform the correct task in all cases.</a:t>
            </a:r>
          </a:p>
          <a:p>
            <a:pPr>
              <a:lnSpc>
                <a:spcPct val="120000"/>
              </a:lnSpc>
            </a:pPr>
            <a:r>
              <a:rPr lang="en-US" sz="5400" dirty="0" smtClean="0"/>
              <a:t>Build and test Application Program Interfaces (APIs) for applications to exchange data.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Research, incorporate and contribute to Open Source projects.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Meet designers, developers and project staff for progress updates.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Gather requirements from clients and users.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Learn and test new technologies, frameworks and languages.</a:t>
            </a:r>
          </a:p>
          <a:p>
            <a:pPr>
              <a:lnSpc>
                <a:spcPct val="170000"/>
              </a:lnSpc>
            </a:pPr>
            <a:r>
              <a:rPr lang="en-US" sz="5400" dirty="0" smtClean="0"/>
              <a:t>Stay up to date with new trends and advancements in web development.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Build and maintain databases.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Carry out code refactoring and optimization of existing code.</a:t>
            </a:r>
          </a:p>
          <a:p>
            <a:pPr>
              <a:lnSpc>
                <a:spcPct val="150000"/>
              </a:lnSpc>
            </a:pPr>
            <a:r>
              <a:rPr lang="en-US" sz="5400" dirty="0" smtClean="0"/>
              <a:t>Document code, so other developers can understand and contribute to it.</a:t>
            </a:r>
          </a:p>
          <a:p>
            <a:pPr marL="800100" lvl="1" indent="-34290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155275"/>
            <a:ext cx="7290758" cy="1325563"/>
          </a:xfrm>
        </p:spPr>
        <p:txBody>
          <a:bodyPr/>
          <a:lstStyle/>
          <a:p>
            <a:r>
              <a:rPr lang="en-US" dirty="0" smtClean="0"/>
              <a:t>Application Architect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480838"/>
            <a:ext cx="7290758" cy="460078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Application architects </a:t>
            </a:r>
            <a:r>
              <a:rPr lang="en-US" dirty="0" smtClean="0"/>
              <a:t>are responsible for the administration, monitoring and maintenance of software infrastructures and applications.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An architect oversees best practices and processes needed for a business to function and succeed are running smoothly, acting as a technical point of contact to fix application and systems issues - usually on an immediate basis.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job title requires to work within various IT departments alongside application developers and software engineers and involved in tasks such as: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Training and support of staff in using applications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Analysis and diagnosis of application errors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Problem resolution in both the long and short term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Design and development of existing and new applications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Road testing and implementation of new applications.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an Architect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800" dirty="0" smtClean="0"/>
              <a:t>As an application </a:t>
            </a:r>
            <a:r>
              <a:rPr lang="en-US" sz="4800" dirty="0" smtClean="0"/>
              <a:t>architect, </a:t>
            </a:r>
            <a:r>
              <a:rPr lang="en-US" sz="4800" dirty="0" smtClean="0"/>
              <a:t>you'll need to:</a:t>
            </a:r>
          </a:p>
          <a:p>
            <a:r>
              <a:rPr lang="en-US" sz="4800" dirty="0" smtClean="0"/>
              <a:t>Identify organizational </a:t>
            </a:r>
            <a:r>
              <a:rPr lang="en-US" sz="4800" dirty="0" smtClean="0"/>
              <a:t>need for new </a:t>
            </a:r>
            <a:r>
              <a:rPr lang="en-US" sz="4800" dirty="0" smtClean="0"/>
              <a:t>applications.</a:t>
            </a:r>
            <a:endParaRPr lang="en-US" sz="4800" dirty="0" smtClean="0"/>
          </a:p>
          <a:p>
            <a:r>
              <a:rPr lang="en-US" sz="4800" dirty="0" smtClean="0"/>
              <a:t>Prepare </a:t>
            </a:r>
            <a:r>
              <a:rPr lang="en-US" sz="4800" dirty="0" smtClean="0"/>
              <a:t>technical specification as a roadmap for </a:t>
            </a:r>
            <a:r>
              <a:rPr lang="en-US" sz="4800" dirty="0" smtClean="0"/>
              <a:t>software.</a:t>
            </a:r>
            <a:endParaRPr lang="en-US" sz="4800" dirty="0" smtClean="0"/>
          </a:p>
          <a:p>
            <a:r>
              <a:rPr lang="en-US" sz="4800" dirty="0" smtClean="0"/>
              <a:t>P</a:t>
            </a:r>
            <a:r>
              <a:rPr lang="en-US" sz="4800" dirty="0" smtClean="0"/>
              <a:t>rovide </a:t>
            </a:r>
            <a:r>
              <a:rPr lang="en-US" sz="4800" dirty="0" smtClean="0"/>
              <a:t>instructions and training to staff when </a:t>
            </a:r>
            <a:r>
              <a:rPr lang="en-US" sz="4800" dirty="0" smtClean="0"/>
              <a:t>necessary.</a:t>
            </a:r>
            <a:endParaRPr lang="en-US" sz="4800" dirty="0" smtClean="0"/>
          </a:p>
          <a:p>
            <a:r>
              <a:rPr lang="en-US" sz="4800" dirty="0" smtClean="0"/>
              <a:t>Monitor</a:t>
            </a:r>
            <a:r>
              <a:rPr lang="en-US" sz="4800" dirty="0" smtClean="0"/>
              <a:t>, record and respond to requests for </a:t>
            </a:r>
            <a:r>
              <a:rPr lang="en-US" sz="4800" dirty="0" smtClean="0"/>
              <a:t>support.</a:t>
            </a:r>
            <a:endParaRPr lang="en-US" sz="4800" dirty="0" smtClean="0"/>
          </a:p>
          <a:p>
            <a:r>
              <a:rPr lang="en-US" sz="4800" dirty="0" smtClean="0"/>
              <a:t>Analyze </a:t>
            </a:r>
            <a:r>
              <a:rPr lang="en-US" sz="4800" dirty="0" smtClean="0"/>
              <a:t>error trends aimed at reducing or </a:t>
            </a:r>
            <a:r>
              <a:rPr lang="en-US" sz="4800" dirty="0" smtClean="0"/>
              <a:t>minimizing </a:t>
            </a:r>
            <a:r>
              <a:rPr lang="en-US" sz="4800" dirty="0" smtClean="0"/>
              <a:t>down </a:t>
            </a:r>
            <a:r>
              <a:rPr lang="en-US" sz="4800" dirty="0" smtClean="0"/>
              <a:t>time.</a:t>
            </a:r>
            <a:endParaRPr lang="en-US" sz="4800" dirty="0" smtClean="0"/>
          </a:p>
          <a:p>
            <a:r>
              <a:rPr lang="en-US" sz="4800" dirty="0" smtClean="0"/>
              <a:t>Communicate </a:t>
            </a:r>
            <a:r>
              <a:rPr lang="en-US" sz="4800" dirty="0" smtClean="0"/>
              <a:t>messages regarding systems issues to users </a:t>
            </a:r>
            <a:r>
              <a:rPr lang="en-US" sz="4800" dirty="0" smtClean="0"/>
              <a:t>promptly.</a:t>
            </a:r>
            <a:endParaRPr lang="en-US" sz="4800" dirty="0" smtClean="0"/>
          </a:p>
          <a:p>
            <a:r>
              <a:rPr lang="en-US" sz="4800" dirty="0" smtClean="0"/>
              <a:t>Liaise </a:t>
            </a:r>
            <a:r>
              <a:rPr lang="en-US" sz="4800" dirty="0" smtClean="0"/>
              <a:t>with software suppliers to </a:t>
            </a:r>
            <a:r>
              <a:rPr lang="en-US" sz="4800" dirty="0" smtClean="0"/>
              <a:t>fulfill </a:t>
            </a:r>
            <a:r>
              <a:rPr lang="en-US" sz="4800" dirty="0" smtClean="0"/>
              <a:t>the requirements of the </a:t>
            </a:r>
            <a:r>
              <a:rPr lang="en-US" sz="4800" dirty="0" smtClean="0"/>
              <a:t>organization.</a:t>
            </a:r>
            <a:endParaRPr lang="en-US" sz="4800" dirty="0" smtClean="0"/>
          </a:p>
          <a:p>
            <a:r>
              <a:rPr lang="en-US" sz="4800" dirty="0" smtClean="0"/>
              <a:t>S</a:t>
            </a:r>
            <a:r>
              <a:rPr lang="en-US" sz="4800" dirty="0" smtClean="0"/>
              <a:t>chedule regular </a:t>
            </a:r>
            <a:r>
              <a:rPr lang="en-US" sz="4800" dirty="0" smtClean="0"/>
              <a:t>tests to enhance the current systems and </a:t>
            </a:r>
            <a:r>
              <a:rPr lang="en-US" sz="4800" dirty="0" smtClean="0"/>
              <a:t>applications.</a:t>
            </a:r>
            <a:endParaRPr lang="en-US" sz="4800" dirty="0" smtClean="0"/>
          </a:p>
          <a:p>
            <a:r>
              <a:rPr lang="en-US" sz="4800" dirty="0" smtClean="0"/>
              <a:t>Identify functionality changes.</a:t>
            </a:r>
            <a:endParaRPr lang="en-US" sz="4800" dirty="0" smtClean="0"/>
          </a:p>
          <a:p>
            <a:r>
              <a:rPr lang="en-US" sz="4800" dirty="0" smtClean="0"/>
              <a:t>Maintain </a:t>
            </a:r>
            <a:r>
              <a:rPr lang="en-US" sz="4800" dirty="0" smtClean="0"/>
              <a:t>documentation of key databases and linked </a:t>
            </a:r>
            <a:r>
              <a:rPr lang="en-US" sz="4800" dirty="0" smtClean="0"/>
              <a:t>applications.</a:t>
            </a:r>
          </a:p>
          <a:p>
            <a:r>
              <a:rPr lang="en-US" sz="4800" dirty="0" smtClean="0"/>
              <a:t>Prepare and manage sprints and ensure all requirements are properly met.</a:t>
            </a:r>
            <a:endParaRPr lang="en-US" sz="4800" dirty="0" smtClean="0"/>
          </a:p>
          <a:p>
            <a:r>
              <a:rPr lang="en-US" sz="4800" dirty="0" smtClean="0"/>
              <a:t>Attend </a:t>
            </a:r>
            <a:r>
              <a:rPr lang="en-US" sz="4800" dirty="0" smtClean="0"/>
              <a:t>regular internal and external meetings to provide updates on the progress of your task and to present to users the application solutions you are proposing.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Data Analyst/Scientist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A </a:t>
            </a:r>
            <a:r>
              <a:rPr lang="en-US" b="1" dirty="0" smtClean="0"/>
              <a:t>data analyst </a:t>
            </a:r>
            <a:r>
              <a:rPr lang="en-US" dirty="0" smtClean="0"/>
              <a:t>is a professional </a:t>
            </a:r>
            <a:r>
              <a:rPr lang="en-US" dirty="0" smtClean="0"/>
              <a:t>who retrieves </a:t>
            </a:r>
            <a:r>
              <a:rPr lang="en-US" dirty="0" smtClean="0"/>
              <a:t>and </a:t>
            </a:r>
            <a:r>
              <a:rPr lang="en-US" dirty="0" smtClean="0"/>
              <a:t>gathers </a:t>
            </a:r>
            <a:r>
              <a:rPr lang="en-US" dirty="0" smtClean="0"/>
              <a:t>data, </a:t>
            </a:r>
            <a:r>
              <a:rPr lang="en-US" dirty="0" smtClean="0"/>
              <a:t>organizes </a:t>
            </a:r>
            <a:r>
              <a:rPr lang="en-US" dirty="0" smtClean="0"/>
              <a:t>it and </a:t>
            </a:r>
            <a:r>
              <a:rPr lang="en-US" dirty="0" smtClean="0"/>
              <a:t>uses </a:t>
            </a:r>
            <a:r>
              <a:rPr lang="en-US" dirty="0" smtClean="0"/>
              <a:t>it to reach meaningful conclusions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 data scientist </a:t>
            </a:r>
            <a:r>
              <a:rPr lang="en-US" dirty="0" smtClean="0"/>
              <a:t>on the other hand, is </a:t>
            </a:r>
            <a:r>
              <a:rPr lang="en-US" dirty="0" smtClean="0"/>
              <a:t>a professional responsible for collecting, analyzing and interpreting extremely large amounts of </a:t>
            </a:r>
            <a:r>
              <a:rPr lang="en-US" dirty="0" smtClean="0"/>
              <a:t>data and is able to perform predictive analysis based on past patterns.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Data Analyst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As a data analyst, you'll need to:</a:t>
            </a:r>
          </a:p>
          <a:p>
            <a:r>
              <a:rPr lang="en-US" dirty="0" smtClean="0"/>
              <a:t>Develop records management processes and policies.</a:t>
            </a:r>
          </a:p>
          <a:p>
            <a:r>
              <a:rPr lang="en-US" dirty="0" smtClean="0"/>
              <a:t>Identify areas to increase efficiency and automation of processes.</a:t>
            </a:r>
          </a:p>
          <a:p>
            <a:r>
              <a:rPr lang="en-US" dirty="0" smtClean="0"/>
              <a:t>Set up and maintain automated data processes.</a:t>
            </a:r>
          </a:p>
          <a:p>
            <a:r>
              <a:rPr lang="en-US" dirty="0" smtClean="0"/>
              <a:t>Identify, evaluate and implement external services and tools to support data validation and cleansing.</a:t>
            </a:r>
          </a:p>
          <a:p>
            <a:r>
              <a:rPr lang="en-US" dirty="0" smtClean="0"/>
              <a:t>Produce and track key performance indicators.</a:t>
            </a:r>
          </a:p>
          <a:p>
            <a:r>
              <a:rPr lang="en-US" dirty="0" smtClean="0"/>
              <a:t>Develop and support reporting processes.</a:t>
            </a:r>
          </a:p>
          <a:p>
            <a:r>
              <a:rPr lang="en-US" dirty="0" smtClean="0"/>
              <a:t>Monitor and audit data quality.</a:t>
            </a:r>
          </a:p>
          <a:p>
            <a:r>
              <a:rPr lang="en-US" dirty="0" smtClean="0"/>
              <a:t>Gather, understand and document detailed business requirements using appropriate tools and techniques.</a:t>
            </a:r>
          </a:p>
          <a:p>
            <a:r>
              <a:rPr lang="en-US" dirty="0" smtClean="0"/>
              <a:t>Design and carry out surveys and analyze survey data.</a:t>
            </a:r>
          </a:p>
          <a:p>
            <a:r>
              <a:rPr lang="en-US" dirty="0" smtClean="0"/>
              <a:t>Prepare reports for internal and external audiences using business analytics reporting tools.</a:t>
            </a:r>
          </a:p>
          <a:p>
            <a:r>
              <a:rPr lang="en-US" dirty="0" smtClean="0"/>
              <a:t>Create data dashboards, graphs and visualizations.</a:t>
            </a:r>
          </a:p>
          <a:p>
            <a:r>
              <a:rPr lang="en-US" dirty="0" smtClean="0"/>
              <a:t>Provide sector and competitor benchmarking.</a:t>
            </a:r>
          </a:p>
          <a:p>
            <a:r>
              <a:rPr lang="en-US" dirty="0" smtClean="0"/>
              <a:t>Mine and analyze large datasets, draw valid inferences and present them successfully to management using a reporting tool.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Data Scientist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As a data </a:t>
            </a:r>
            <a:r>
              <a:rPr lang="en-US" dirty="0" smtClean="0"/>
              <a:t>scientist, </a:t>
            </a:r>
            <a:r>
              <a:rPr lang="en-US" dirty="0" smtClean="0"/>
              <a:t>you'll need to:</a:t>
            </a:r>
          </a:p>
          <a:p>
            <a:r>
              <a:rPr lang="en-US" dirty="0" smtClean="0"/>
              <a:t>Work </a:t>
            </a:r>
            <a:r>
              <a:rPr lang="en-US" dirty="0" smtClean="0"/>
              <a:t>closely with your business to identify issues and use data to propose solutions for effective decision making</a:t>
            </a:r>
          </a:p>
          <a:p>
            <a:r>
              <a:rPr lang="en-US" dirty="0" smtClean="0"/>
              <a:t>Build </a:t>
            </a:r>
            <a:r>
              <a:rPr lang="en-US" dirty="0" smtClean="0"/>
              <a:t>algorithms and design experiments to merge, manage, interrogate and extract data to supply tailored reports to colleagues, customers or the wider </a:t>
            </a:r>
            <a:r>
              <a:rPr lang="en-US" dirty="0" smtClean="0"/>
              <a:t>organization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 smtClean="0"/>
              <a:t>machine learning tools and statistical techniques to produce solutions to problems</a:t>
            </a:r>
          </a:p>
          <a:p>
            <a:r>
              <a:rPr lang="en-US" dirty="0" smtClean="0"/>
              <a:t>Test </a:t>
            </a:r>
            <a:r>
              <a:rPr lang="en-US" dirty="0" smtClean="0"/>
              <a:t>data mining models to select the most appropriate ones for use on a project</a:t>
            </a:r>
          </a:p>
          <a:p>
            <a:r>
              <a:rPr lang="en-US" dirty="0" smtClean="0"/>
              <a:t>A</a:t>
            </a:r>
            <a:r>
              <a:rPr lang="en-US" dirty="0" smtClean="0"/>
              <a:t>ssess </a:t>
            </a:r>
            <a:r>
              <a:rPr lang="en-US" dirty="0" smtClean="0"/>
              <a:t>the effectiveness of data sources and data-gathering techniques and improve data collection methods</a:t>
            </a:r>
          </a:p>
          <a:p>
            <a:r>
              <a:rPr lang="en-US" dirty="0" smtClean="0"/>
              <a:t>C</a:t>
            </a:r>
            <a:r>
              <a:rPr lang="en-US" dirty="0" smtClean="0"/>
              <a:t>onduct </a:t>
            </a:r>
            <a:r>
              <a:rPr lang="en-US" dirty="0" smtClean="0"/>
              <a:t>research from which you'll develop prototypes and proof of concepts</a:t>
            </a:r>
          </a:p>
          <a:p>
            <a:r>
              <a:rPr lang="en-US" dirty="0" smtClean="0"/>
              <a:t>S</a:t>
            </a:r>
            <a:r>
              <a:rPr lang="en-US" dirty="0" smtClean="0"/>
              <a:t>tay up-to-date about new technologies, libraries and  </a:t>
            </a:r>
            <a:r>
              <a:rPr lang="en-US" dirty="0" smtClean="0"/>
              <a:t>using algorithms to solve </a:t>
            </a:r>
            <a:r>
              <a:rPr lang="en-US" dirty="0" smtClean="0"/>
              <a:t>problems.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Software Tester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690688"/>
            <a:ext cx="7290758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 smtClean="0"/>
              <a:t>A software tester </a:t>
            </a:r>
            <a:r>
              <a:rPr lang="en-US" sz="1400" dirty="0" smtClean="0"/>
              <a:t>is a professional who conducts automated </a:t>
            </a:r>
            <a:r>
              <a:rPr lang="en-US" sz="1400" dirty="0" smtClean="0"/>
              <a:t>and manual tests to ensure the software created by developers is fit for purpose and any bugs or issues are removed within a product before it gets deployed to everyday users</a:t>
            </a:r>
            <a:r>
              <a:rPr lang="en-US" sz="1400" dirty="0" smtClean="0"/>
              <a:t>.</a:t>
            </a:r>
          </a:p>
          <a:p>
            <a:r>
              <a:rPr lang="en-US" sz="1400" dirty="0" smtClean="0"/>
              <a:t>A tester should be knowledgeable in various types of functional testing like:</a:t>
            </a:r>
          </a:p>
          <a:p>
            <a:pPr lvl="1"/>
            <a:r>
              <a:rPr lang="en-US" sz="1400" dirty="0" smtClean="0"/>
              <a:t>Unit Testing</a:t>
            </a:r>
          </a:p>
          <a:p>
            <a:pPr lvl="1"/>
            <a:r>
              <a:rPr lang="en-US" sz="1400" dirty="0" smtClean="0"/>
              <a:t>Integration Testing</a:t>
            </a:r>
          </a:p>
          <a:p>
            <a:pPr lvl="1"/>
            <a:r>
              <a:rPr lang="en-US" sz="1400" dirty="0" smtClean="0"/>
              <a:t>System </a:t>
            </a:r>
            <a:r>
              <a:rPr lang="en-US" sz="1400" dirty="0" smtClean="0"/>
              <a:t>Testing</a:t>
            </a:r>
          </a:p>
          <a:p>
            <a:pPr lvl="1"/>
            <a:r>
              <a:rPr lang="en-US" sz="1400" dirty="0" smtClean="0"/>
              <a:t>Regression Testing</a:t>
            </a:r>
          </a:p>
          <a:p>
            <a:pPr lvl="1"/>
            <a:r>
              <a:rPr lang="en-US" sz="1400" dirty="0" smtClean="0"/>
              <a:t>Beta/Acceptance </a:t>
            </a:r>
            <a:r>
              <a:rPr lang="en-US" sz="1400" dirty="0" smtClean="0"/>
              <a:t>Testing</a:t>
            </a:r>
          </a:p>
          <a:p>
            <a:r>
              <a:rPr lang="en-US" sz="1400" dirty="0" smtClean="0"/>
              <a:t>And non-functional testing like:</a:t>
            </a:r>
          </a:p>
          <a:p>
            <a:pPr lvl="1"/>
            <a:r>
              <a:rPr lang="en-US" sz="1400" dirty="0" smtClean="0"/>
              <a:t>Performance Testing</a:t>
            </a:r>
          </a:p>
          <a:p>
            <a:pPr lvl="1"/>
            <a:r>
              <a:rPr lang="en-US" sz="1400" dirty="0" smtClean="0"/>
              <a:t>Load Testing</a:t>
            </a:r>
          </a:p>
          <a:p>
            <a:pPr lvl="1"/>
            <a:r>
              <a:rPr lang="en-US" sz="1400" dirty="0" smtClean="0"/>
              <a:t>Stress </a:t>
            </a:r>
            <a:r>
              <a:rPr lang="en-US" sz="1400" dirty="0" smtClean="0"/>
              <a:t>Testing</a:t>
            </a:r>
          </a:p>
          <a:p>
            <a:pPr lvl="1"/>
            <a:r>
              <a:rPr lang="en-US" sz="1400" dirty="0" smtClean="0"/>
              <a:t>Security Testing</a:t>
            </a:r>
          </a:p>
          <a:p>
            <a:pPr lvl="1"/>
            <a:r>
              <a:rPr lang="en-US" sz="1400" dirty="0" smtClean="0"/>
              <a:t>Compatibility </a:t>
            </a:r>
            <a:r>
              <a:rPr lang="en-US" sz="1400" dirty="0" smtClean="0"/>
              <a:t>Testing</a:t>
            </a:r>
          </a:p>
          <a:p>
            <a:pPr lvl="1"/>
            <a:r>
              <a:rPr lang="en-US" sz="1400" dirty="0" smtClean="0"/>
              <a:t>Usability Testing</a:t>
            </a:r>
          </a:p>
          <a:p>
            <a:pPr lvl="1"/>
            <a:r>
              <a:rPr lang="en-US" sz="1400" dirty="0" smtClean="0"/>
              <a:t>Compliance </a:t>
            </a:r>
            <a:r>
              <a:rPr lang="en-US" sz="1400" dirty="0" smtClean="0"/>
              <a:t>Testing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Tester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As a software tester, you'll need to:</a:t>
            </a:r>
          </a:p>
          <a:p>
            <a:r>
              <a:rPr lang="en-US" dirty="0" smtClean="0"/>
              <a:t>C</a:t>
            </a:r>
            <a:r>
              <a:rPr lang="en-US" dirty="0" smtClean="0"/>
              <a:t>arry </a:t>
            </a:r>
            <a:r>
              <a:rPr lang="en-US" dirty="0" smtClean="0"/>
              <a:t>out stress testing, performance testing, functional testing and scalability </a:t>
            </a:r>
            <a:r>
              <a:rPr lang="en-US" dirty="0" smtClean="0"/>
              <a:t>testing.</a:t>
            </a:r>
            <a:endParaRPr lang="en-US" dirty="0" smtClean="0"/>
          </a:p>
          <a:p>
            <a:r>
              <a:rPr lang="en-US" dirty="0" smtClean="0"/>
              <a:t>Write </a:t>
            </a:r>
            <a:r>
              <a:rPr lang="en-US" dirty="0" smtClean="0"/>
              <a:t>and execute </a:t>
            </a:r>
            <a:r>
              <a:rPr lang="en-US" dirty="0" smtClean="0"/>
              <a:t>test scripts.</a:t>
            </a:r>
            <a:endParaRPr lang="en-US" dirty="0" smtClean="0"/>
          </a:p>
          <a:p>
            <a:r>
              <a:rPr lang="en-US" dirty="0" smtClean="0"/>
              <a:t>Run </a:t>
            </a:r>
            <a:r>
              <a:rPr lang="en-US" dirty="0" smtClean="0"/>
              <a:t>manual and automated </a:t>
            </a:r>
            <a:r>
              <a:rPr lang="en-US" dirty="0" smtClean="0"/>
              <a:t>tests.</a:t>
            </a:r>
            <a:endParaRPr lang="en-US" dirty="0" smtClean="0"/>
          </a:p>
          <a:p>
            <a:r>
              <a:rPr lang="en-US" dirty="0" smtClean="0"/>
              <a:t>Test </a:t>
            </a:r>
            <a:r>
              <a:rPr lang="en-US" dirty="0" smtClean="0"/>
              <a:t>in different environments including web and </a:t>
            </a:r>
            <a:r>
              <a:rPr lang="en-US" dirty="0" smtClean="0"/>
              <a:t>mobile.</a:t>
            </a:r>
            <a:endParaRPr lang="en-US" dirty="0" smtClean="0"/>
          </a:p>
          <a:p>
            <a:r>
              <a:rPr lang="en-US" dirty="0" smtClean="0"/>
              <a:t>Write </a:t>
            </a:r>
            <a:r>
              <a:rPr lang="en-US" dirty="0" smtClean="0"/>
              <a:t>bug </a:t>
            </a:r>
            <a:r>
              <a:rPr lang="en-US" dirty="0" smtClean="0"/>
              <a:t>reports.</a:t>
            </a:r>
            <a:endParaRPr lang="en-US" dirty="0" smtClean="0"/>
          </a:p>
          <a:p>
            <a:r>
              <a:rPr lang="en-US" dirty="0" smtClean="0"/>
              <a:t>R</a:t>
            </a:r>
            <a:r>
              <a:rPr lang="en-US" dirty="0" smtClean="0"/>
              <a:t>eview documentation.</a:t>
            </a:r>
            <a:endParaRPr lang="en-US" dirty="0" smtClean="0"/>
          </a:p>
          <a:p>
            <a:r>
              <a:rPr lang="en-US" dirty="0" smtClean="0"/>
              <a:t>P</a:t>
            </a:r>
            <a:r>
              <a:rPr lang="en-US" dirty="0" smtClean="0"/>
              <a:t>rovide </a:t>
            </a:r>
            <a:r>
              <a:rPr lang="en-US" dirty="0" smtClean="0"/>
              <a:t>quality </a:t>
            </a:r>
            <a:r>
              <a:rPr lang="en-US" dirty="0" smtClean="0"/>
              <a:t>assurance.</a:t>
            </a:r>
            <a:endParaRPr lang="en-US" dirty="0" smtClean="0"/>
          </a:p>
          <a:p>
            <a:r>
              <a:rPr lang="en-US" dirty="0" smtClean="0"/>
              <a:t>Provide </a:t>
            </a:r>
            <a:r>
              <a:rPr lang="en-US" dirty="0" smtClean="0"/>
              <a:t>objective feedback to software development project </a:t>
            </a:r>
            <a:r>
              <a:rPr lang="en-US" dirty="0" smtClean="0"/>
              <a:t>teams.</a:t>
            </a:r>
            <a:endParaRPr lang="en-US" dirty="0" smtClean="0"/>
          </a:p>
          <a:p>
            <a:r>
              <a:rPr lang="en-US" dirty="0" smtClean="0"/>
              <a:t>Troubleshoot </a:t>
            </a:r>
            <a:r>
              <a:rPr lang="en-US" dirty="0" smtClean="0"/>
              <a:t>and problem </a:t>
            </a:r>
            <a:r>
              <a:rPr lang="en-US" dirty="0" smtClean="0"/>
              <a:t>solve.</a:t>
            </a:r>
            <a:endParaRPr lang="en-US" dirty="0" smtClean="0"/>
          </a:p>
          <a:p>
            <a:r>
              <a:rPr lang="en-US" dirty="0" smtClean="0"/>
              <a:t>Design </a:t>
            </a:r>
            <a:r>
              <a:rPr lang="en-US" dirty="0" smtClean="0"/>
              <a:t>tests to mitigate </a:t>
            </a:r>
            <a:r>
              <a:rPr lang="en-US" dirty="0" smtClean="0"/>
              <a:t>risk.</a:t>
            </a:r>
            <a:endParaRPr lang="en-US" dirty="0" smtClean="0"/>
          </a:p>
          <a:p>
            <a:r>
              <a:rPr lang="en-US" dirty="0" smtClean="0"/>
              <a:t>Present </a:t>
            </a:r>
            <a:r>
              <a:rPr lang="en-US" dirty="0" smtClean="0"/>
              <a:t>findings to software development and business user </a:t>
            </a:r>
            <a:r>
              <a:rPr lang="en-US" dirty="0" smtClean="0"/>
              <a:t>teams.</a:t>
            </a:r>
            <a:endParaRPr lang="en-US" dirty="0" smtClean="0"/>
          </a:p>
          <a:p>
            <a:pPr>
              <a:lnSpc>
                <a:spcPct val="120000"/>
              </a:lnSpc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Software Operations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Software/IT operations </a:t>
            </a:r>
            <a:r>
              <a:rPr lang="en-US" dirty="0" smtClean="0"/>
              <a:t>include administrative processes with support for hardware and software. </a:t>
            </a:r>
          </a:p>
          <a:p>
            <a:r>
              <a:rPr lang="en-US" dirty="0" smtClean="0"/>
              <a:t>Important </a:t>
            </a:r>
            <a:r>
              <a:rPr lang="en-US" dirty="0" smtClean="0"/>
              <a:t>roles of the IT operations team include tech management, quality assurance,  infrastructure management and confirmation that finished products meet all the customer's needs and expectations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major job profiles in </a:t>
            </a:r>
            <a:r>
              <a:rPr lang="en-US" dirty="0" smtClean="0"/>
              <a:t>operations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are as follows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Database Administrator</a:t>
            </a:r>
          </a:p>
          <a:p>
            <a:pPr lvl="1"/>
            <a:r>
              <a:rPr lang="en-US" dirty="0" smtClean="0"/>
              <a:t>Network Engineer</a:t>
            </a:r>
          </a:p>
          <a:p>
            <a:pPr lvl="1"/>
            <a:r>
              <a:rPr lang="en-US" dirty="0" smtClean="0"/>
              <a:t>Security Engineer</a:t>
            </a:r>
          </a:p>
          <a:p>
            <a:pPr lvl="1"/>
            <a:r>
              <a:rPr lang="en-US" dirty="0" smtClean="0"/>
              <a:t>Cloud Engineer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Database Administrator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database admin </a:t>
            </a:r>
            <a:r>
              <a:rPr lang="en-US" dirty="0" smtClean="0"/>
              <a:t>is a professional who maintains the </a:t>
            </a:r>
            <a:r>
              <a:rPr lang="en-US" dirty="0" smtClean="0"/>
              <a:t>performance, integrity and security of a database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DBA will ensure that:</a:t>
            </a:r>
          </a:p>
          <a:p>
            <a:pPr lvl="1"/>
            <a:r>
              <a:rPr lang="en-US" dirty="0" smtClean="0"/>
              <a:t>D</a:t>
            </a:r>
            <a:r>
              <a:rPr lang="en-US" dirty="0" smtClean="0"/>
              <a:t>ata </a:t>
            </a:r>
            <a:r>
              <a:rPr lang="en-US" dirty="0" smtClean="0"/>
              <a:t>remains consistent across the </a:t>
            </a:r>
            <a:r>
              <a:rPr lang="en-US" dirty="0" smtClean="0"/>
              <a:t>database.</a:t>
            </a:r>
            <a:endParaRPr lang="en-US" dirty="0" smtClean="0"/>
          </a:p>
          <a:p>
            <a:pPr lvl="1"/>
            <a:r>
              <a:rPr lang="en-US" dirty="0" smtClean="0"/>
              <a:t>Data </a:t>
            </a:r>
            <a:r>
              <a:rPr lang="en-US" dirty="0" smtClean="0"/>
              <a:t>is clearly </a:t>
            </a:r>
            <a:r>
              <a:rPr lang="en-US" dirty="0" smtClean="0"/>
              <a:t>defined.</a:t>
            </a:r>
            <a:endParaRPr lang="en-US" dirty="0" smtClean="0"/>
          </a:p>
          <a:p>
            <a:pPr lvl="1"/>
            <a:r>
              <a:rPr lang="en-US" dirty="0" smtClean="0"/>
              <a:t>Users </a:t>
            </a:r>
            <a:r>
              <a:rPr lang="en-US" dirty="0" smtClean="0"/>
              <a:t>access data concurrently, in a form that suits their </a:t>
            </a:r>
            <a:r>
              <a:rPr lang="en-US" dirty="0" smtClean="0"/>
              <a:t>needs.</a:t>
            </a:r>
            <a:endParaRPr lang="en-US" dirty="0" smtClean="0"/>
          </a:p>
          <a:p>
            <a:pPr lvl="1"/>
            <a:r>
              <a:rPr lang="en-US" dirty="0" smtClean="0"/>
              <a:t>There </a:t>
            </a:r>
            <a:r>
              <a:rPr lang="en-US" dirty="0" smtClean="0"/>
              <a:t>is provision for data security and recovery control (ensuring all data is retrievable in an emergency</a:t>
            </a:r>
            <a:r>
              <a:rPr lang="en-US" dirty="0" smtClean="0"/>
              <a:t>).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DBA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As a database administrator, you'll need to:</a:t>
            </a:r>
          </a:p>
          <a:p>
            <a:r>
              <a:rPr lang="en-US" dirty="0" smtClean="0"/>
              <a:t>Establish </a:t>
            </a:r>
            <a:r>
              <a:rPr lang="en-US" dirty="0" smtClean="0"/>
              <a:t>the needs of users and monitor user access and </a:t>
            </a:r>
            <a:r>
              <a:rPr lang="en-US" dirty="0" smtClean="0"/>
              <a:t>security.</a:t>
            </a:r>
            <a:endParaRPr lang="en-US" dirty="0" smtClean="0"/>
          </a:p>
          <a:p>
            <a:r>
              <a:rPr lang="en-US" dirty="0" smtClean="0"/>
              <a:t>Monitor </a:t>
            </a:r>
            <a:r>
              <a:rPr lang="en-US" dirty="0" smtClean="0"/>
              <a:t>performance and manage parameters in order to provide fast responses to front-end </a:t>
            </a:r>
            <a:r>
              <a:rPr lang="en-US" dirty="0" smtClean="0"/>
              <a:t>users.</a:t>
            </a:r>
            <a:endParaRPr lang="en-US" dirty="0" smtClean="0"/>
          </a:p>
          <a:p>
            <a:r>
              <a:rPr lang="en-US" dirty="0" smtClean="0"/>
              <a:t>Map </a:t>
            </a:r>
            <a:r>
              <a:rPr lang="en-US" dirty="0" smtClean="0"/>
              <a:t>out the conceptual design for a planned </a:t>
            </a:r>
            <a:r>
              <a:rPr lang="en-US" dirty="0" smtClean="0"/>
              <a:t>database.</a:t>
            </a:r>
            <a:endParaRPr lang="en-US" dirty="0" smtClean="0"/>
          </a:p>
          <a:p>
            <a:r>
              <a:rPr lang="en-US" dirty="0" smtClean="0"/>
              <a:t>I</a:t>
            </a:r>
            <a:r>
              <a:rPr lang="en-US" dirty="0" smtClean="0"/>
              <a:t>nstall </a:t>
            </a:r>
            <a:r>
              <a:rPr lang="en-US" dirty="0" smtClean="0"/>
              <a:t>and test new versions of the database management system (DBMS</a:t>
            </a:r>
            <a:r>
              <a:rPr lang="en-US" dirty="0" smtClean="0"/>
              <a:t>).</a:t>
            </a:r>
            <a:endParaRPr lang="en-US" dirty="0" smtClean="0"/>
          </a:p>
          <a:p>
            <a:r>
              <a:rPr lang="en-US" dirty="0" smtClean="0"/>
              <a:t>Maintain </a:t>
            </a:r>
            <a:r>
              <a:rPr lang="en-US" dirty="0" smtClean="0"/>
              <a:t>data standards, including adherence to the Data Protection </a:t>
            </a:r>
            <a:r>
              <a:rPr lang="en-US" dirty="0" smtClean="0"/>
              <a:t>Act.</a:t>
            </a:r>
            <a:endParaRPr lang="en-US" dirty="0" smtClean="0"/>
          </a:p>
          <a:p>
            <a:r>
              <a:rPr lang="en-US" dirty="0" smtClean="0"/>
              <a:t>Write </a:t>
            </a:r>
            <a:r>
              <a:rPr lang="en-US" dirty="0" smtClean="0"/>
              <a:t>database documentation, including data standards, procedures and definitions for the data dictionary (metadata</a:t>
            </a:r>
            <a:r>
              <a:rPr lang="en-US" dirty="0" smtClean="0"/>
              <a:t>).</a:t>
            </a:r>
            <a:endParaRPr lang="en-US" dirty="0" smtClean="0"/>
          </a:p>
          <a:p>
            <a:r>
              <a:rPr lang="en-US" dirty="0" smtClean="0"/>
              <a:t>Control </a:t>
            </a:r>
            <a:r>
              <a:rPr lang="en-US" dirty="0" smtClean="0"/>
              <a:t>access permissions and </a:t>
            </a:r>
            <a:r>
              <a:rPr lang="en-US" dirty="0" smtClean="0"/>
              <a:t>privileges.</a:t>
            </a:r>
            <a:endParaRPr lang="en-US" dirty="0" smtClean="0"/>
          </a:p>
          <a:p>
            <a:r>
              <a:rPr lang="en-US" dirty="0" smtClean="0"/>
              <a:t>M</a:t>
            </a:r>
            <a:r>
              <a:rPr lang="en-US" dirty="0" smtClean="0"/>
              <a:t>anage </a:t>
            </a:r>
            <a:r>
              <a:rPr lang="en-US" dirty="0" smtClean="0"/>
              <a:t>and test back-up and recovery </a:t>
            </a:r>
            <a:r>
              <a:rPr lang="en-US" dirty="0" smtClean="0"/>
              <a:t>plans.</a:t>
            </a:r>
            <a:endParaRPr lang="en-US" dirty="0" smtClean="0"/>
          </a:p>
          <a:p>
            <a:r>
              <a:rPr lang="en-US" dirty="0" smtClean="0"/>
              <a:t>Ensure </a:t>
            </a:r>
            <a:r>
              <a:rPr lang="en-US" dirty="0" smtClean="0"/>
              <a:t>that storage and archiving procedures are functioning </a:t>
            </a:r>
            <a:r>
              <a:rPr lang="en-US" dirty="0" smtClean="0"/>
              <a:t>correctly.</a:t>
            </a:r>
            <a:endParaRPr lang="en-US" dirty="0" smtClean="0"/>
          </a:p>
          <a:p>
            <a:r>
              <a:rPr lang="en-US" dirty="0" smtClean="0"/>
              <a:t>Carry </a:t>
            </a:r>
            <a:r>
              <a:rPr lang="en-US" dirty="0" smtClean="0"/>
              <a:t>out capacity </a:t>
            </a:r>
            <a:r>
              <a:rPr lang="en-US" dirty="0" smtClean="0"/>
              <a:t>planning.</a:t>
            </a:r>
            <a:endParaRPr lang="en-US" dirty="0" smtClean="0"/>
          </a:p>
          <a:p>
            <a:r>
              <a:rPr lang="en-US" dirty="0" smtClean="0"/>
              <a:t>Work </a:t>
            </a:r>
            <a:r>
              <a:rPr lang="en-US" dirty="0" smtClean="0"/>
              <a:t>closely with IT project managers, database programmers and multimedia </a:t>
            </a:r>
            <a:r>
              <a:rPr lang="en-US" dirty="0" smtClean="0"/>
              <a:t>programmers.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Network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network Engineer </a:t>
            </a:r>
            <a:r>
              <a:rPr lang="en-US" dirty="0" smtClean="0"/>
              <a:t>is a professional responsible </a:t>
            </a:r>
            <a:r>
              <a:rPr lang="en-US" dirty="0" smtClean="0"/>
              <a:t>for setting up, developing and maintaining computer networks within an </a:t>
            </a:r>
            <a:r>
              <a:rPr lang="en-US" dirty="0" smtClean="0"/>
              <a:t>organization </a:t>
            </a:r>
            <a:r>
              <a:rPr lang="en-US" dirty="0" smtClean="0"/>
              <a:t>or between </a:t>
            </a:r>
            <a:r>
              <a:rPr lang="en-US" dirty="0" smtClean="0"/>
              <a:t>organizations.</a:t>
            </a:r>
          </a:p>
          <a:p>
            <a:r>
              <a:rPr lang="en-US" dirty="0" smtClean="0"/>
              <a:t>Ensures </a:t>
            </a:r>
            <a:r>
              <a:rPr lang="en-US" dirty="0" smtClean="0"/>
              <a:t>the integrity of high availability network infrastructure to provide maximum performance for your </a:t>
            </a:r>
            <a:r>
              <a:rPr lang="en-US" dirty="0" smtClean="0"/>
              <a:t>users including networks like voice and firewall.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Network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74770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As a network engineer, you'll need to:</a:t>
            </a:r>
          </a:p>
          <a:p>
            <a:r>
              <a:rPr lang="en-US" dirty="0" smtClean="0"/>
              <a:t>Establish </a:t>
            </a:r>
            <a:r>
              <a:rPr lang="en-US" dirty="0" smtClean="0"/>
              <a:t>the networking environment by designing system configuration, directing system installation and defining, documenting and enforcing system </a:t>
            </a:r>
            <a:r>
              <a:rPr lang="en-US" dirty="0" smtClean="0"/>
              <a:t>standards.</a:t>
            </a:r>
            <a:endParaRPr lang="en-US" dirty="0" smtClean="0"/>
          </a:p>
          <a:p>
            <a:r>
              <a:rPr lang="en-US" dirty="0" smtClean="0"/>
              <a:t>Maximize </a:t>
            </a:r>
            <a:r>
              <a:rPr lang="en-US" dirty="0" smtClean="0"/>
              <a:t>network performance by monitoring performance, troubleshooting network problems and outages, scheduling upgrades and collaborating with network architects on network </a:t>
            </a:r>
            <a:r>
              <a:rPr lang="en-US" dirty="0" smtClean="0"/>
              <a:t>optimization.</a:t>
            </a:r>
            <a:endParaRPr lang="en-US" dirty="0" smtClean="0"/>
          </a:p>
          <a:p>
            <a:r>
              <a:rPr lang="en-US" dirty="0" smtClean="0"/>
              <a:t>Undertake </a:t>
            </a:r>
            <a:r>
              <a:rPr lang="en-US" dirty="0" smtClean="0"/>
              <a:t>data network fault investigations in local and wide area environments using information from multiple </a:t>
            </a:r>
            <a:r>
              <a:rPr lang="en-US" dirty="0" smtClean="0"/>
              <a:t>sources.</a:t>
            </a:r>
            <a:endParaRPr lang="en-US" dirty="0" smtClean="0"/>
          </a:p>
          <a:p>
            <a:r>
              <a:rPr lang="en-US" dirty="0" smtClean="0"/>
              <a:t>Secure </a:t>
            </a:r>
            <a:r>
              <a:rPr lang="en-US" dirty="0" smtClean="0"/>
              <a:t>network systems by establishing and enforcing policies, and defining and monitoring </a:t>
            </a:r>
            <a:r>
              <a:rPr lang="en-US" dirty="0" smtClean="0"/>
              <a:t>access.</a:t>
            </a:r>
            <a:endParaRPr lang="en-US" dirty="0" smtClean="0"/>
          </a:p>
          <a:p>
            <a:r>
              <a:rPr lang="en-US" dirty="0" smtClean="0"/>
              <a:t>Support </a:t>
            </a:r>
            <a:r>
              <a:rPr lang="en-US" dirty="0" smtClean="0"/>
              <a:t>and administer firewall environments in line with IT security </a:t>
            </a:r>
            <a:r>
              <a:rPr lang="en-US" dirty="0" smtClean="0"/>
              <a:t>policy.</a:t>
            </a:r>
            <a:endParaRPr lang="en-US" dirty="0" smtClean="0"/>
          </a:p>
          <a:p>
            <a:r>
              <a:rPr lang="en-US" dirty="0" smtClean="0"/>
              <a:t>Report </a:t>
            </a:r>
            <a:r>
              <a:rPr lang="en-US" dirty="0" smtClean="0"/>
              <a:t>network operational status by gathering and </a:t>
            </a:r>
            <a:r>
              <a:rPr lang="en-US" dirty="0" smtClean="0"/>
              <a:t>prioritizing </a:t>
            </a:r>
            <a:r>
              <a:rPr lang="en-US" dirty="0" smtClean="0"/>
              <a:t>information and managing </a:t>
            </a:r>
            <a:r>
              <a:rPr lang="en-US" dirty="0" smtClean="0"/>
              <a:t>projects.</a:t>
            </a:r>
            <a:endParaRPr lang="en-US" dirty="0" smtClean="0"/>
          </a:p>
          <a:p>
            <a:r>
              <a:rPr lang="en-US" dirty="0" smtClean="0"/>
              <a:t>Upgrade </a:t>
            </a:r>
            <a:r>
              <a:rPr lang="en-US" dirty="0" smtClean="0"/>
              <a:t>data network equipment to the latest stable firmware </a:t>
            </a:r>
            <a:r>
              <a:rPr lang="en-US" dirty="0" smtClean="0"/>
              <a:t>releases.</a:t>
            </a:r>
            <a:endParaRPr lang="en-US" dirty="0" smtClean="0"/>
          </a:p>
          <a:p>
            <a:r>
              <a:rPr lang="en-US" dirty="0" smtClean="0"/>
              <a:t>Configure </a:t>
            </a:r>
            <a:r>
              <a:rPr lang="en-US" dirty="0" smtClean="0"/>
              <a:t>routing and switching equipment, hosted IP voice services and </a:t>
            </a:r>
            <a:r>
              <a:rPr lang="en-US" dirty="0" smtClean="0"/>
              <a:t>firewalls.</a:t>
            </a:r>
            <a:endParaRPr lang="en-US" dirty="0" smtClean="0"/>
          </a:p>
          <a:p>
            <a:r>
              <a:rPr lang="en-US" dirty="0" smtClean="0"/>
              <a:t>Provide </a:t>
            </a:r>
            <a:r>
              <a:rPr lang="en-US" dirty="0" smtClean="0"/>
              <a:t>remote support to on-site engineers and end users/customers during </a:t>
            </a:r>
            <a:r>
              <a:rPr lang="en-US" dirty="0" smtClean="0"/>
              <a:t>installation.</a:t>
            </a:r>
            <a:endParaRPr lang="en-US" dirty="0" smtClean="0"/>
          </a:p>
          <a:p>
            <a:r>
              <a:rPr lang="en-US" dirty="0" smtClean="0"/>
              <a:t>Provide </a:t>
            </a:r>
            <a:r>
              <a:rPr lang="en-US" dirty="0" smtClean="0"/>
              <a:t>remote troubleshooting and fault finding if issues occur upon initial </a:t>
            </a:r>
            <a:r>
              <a:rPr lang="en-US" dirty="0" smtClean="0"/>
              <a:t>installation.</a:t>
            </a:r>
            <a:endParaRPr lang="en-US" dirty="0" smtClean="0"/>
          </a:p>
          <a:p>
            <a:r>
              <a:rPr lang="en-US" dirty="0" smtClean="0"/>
              <a:t>Undertake </a:t>
            </a:r>
            <a:r>
              <a:rPr lang="en-US" dirty="0" smtClean="0"/>
              <a:t>capacity management and audit of IP addressing and hosted devices within data </a:t>
            </a:r>
            <a:r>
              <a:rPr lang="en-US" dirty="0" smtClean="0"/>
              <a:t>centers.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Cyber Security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cyber security engineer </a:t>
            </a:r>
            <a:r>
              <a:rPr lang="en-US" dirty="0" smtClean="0"/>
              <a:t>is a professional responsible for protecting the IT </a:t>
            </a:r>
            <a:r>
              <a:rPr lang="en-US" dirty="0" smtClean="0"/>
              <a:t>infrastructure (including networks, hardware and software) from a range of criminal activity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Monitor </a:t>
            </a:r>
            <a:r>
              <a:rPr lang="en-US" dirty="0" smtClean="0"/>
              <a:t>networks and systems, detect security threats ('events'), </a:t>
            </a:r>
            <a:r>
              <a:rPr lang="en-US" dirty="0" smtClean="0"/>
              <a:t>analyze </a:t>
            </a:r>
            <a:r>
              <a:rPr lang="en-US" dirty="0" smtClean="0"/>
              <a:t>and assess alarms, and report on threats, intrusion attempts and false alarms, either resolving them or escalating them, depending on the severity.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Cyber Security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557921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As a cyber security </a:t>
            </a:r>
            <a:r>
              <a:rPr lang="en-US" dirty="0" smtClean="0"/>
              <a:t>Engineer, </a:t>
            </a:r>
            <a:r>
              <a:rPr lang="en-US" dirty="0" smtClean="0"/>
              <a:t>you'll need to:</a:t>
            </a:r>
          </a:p>
          <a:p>
            <a:r>
              <a:rPr lang="en-US" dirty="0" smtClean="0"/>
              <a:t>Keep </a:t>
            </a:r>
            <a:r>
              <a:rPr lang="en-US" dirty="0" smtClean="0"/>
              <a:t>up to date with the latest security and technology </a:t>
            </a:r>
            <a:r>
              <a:rPr lang="en-US" dirty="0" smtClean="0"/>
              <a:t>developments.</a:t>
            </a:r>
            <a:endParaRPr lang="en-US" dirty="0" smtClean="0"/>
          </a:p>
          <a:p>
            <a:r>
              <a:rPr lang="en-US" dirty="0" smtClean="0"/>
              <a:t>Research/evaluate </a:t>
            </a:r>
            <a:r>
              <a:rPr lang="en-US" dirty="0" smtClean="0"/>
              <a:t>emerging cyber security threats and ways to manage </a:t>
            </a:r>
            <a:r>
              <a:rPr lang="en-US" dirty="0" smtClean="0"/>
              <a:t>them.</a:t>
            </a:r>
            <a:endParaRPr lang="en-US" dirty="0" smtClean="0"/>
          </a:p>
          <a:p>
            <a:r>
              <a:rPr lang="en-US" dirty="0" smtClean="0"/>
              <a:t>Plan </a:t>
            </a:r>
            <a:r>
              <a:rPr lang="en-US" dirty="0" smtClean="0"/>
              <a:t>for disaster recovery and create contingency plans in the event of any security </a:t>
            </a:r>
            <a:r>
              <a:rPr lang="en-US" dirty="0" smtClean="0"/>
              <a:t>breaches.</a:t>
            </a:r>
            <a:endParaRPr lang="en-US" dirty="0" smtClean="0"/>
          </a:p>
          <a:p>
            <a:r>
              <a:rPr lang="en-US" dirty="0" smtClean="0"/>
              <a:t>Monitor </a:t>
            </a:r>
            <a:r>
              <a:rPr lang="en-US" dirty="0" smtClean="0"/>
              <a:t>for attacks, intrusions and unusual, </a:t>
            </a:r>
            <a:r>
              <a:rPr lang="en-US" dirty="0" smtClean="0"/>
              <a:t>unauthorized </a:t>
            </a:r>
            <a:r>
              <a:rPr lang="en-US" dirty="0" smtClean="0"/>
              <a:t>or illegal </a:t>
            </a:r>
            <a:r>
              <a:rPr lang="en-US" dirty="0" smtClean="0"/>
              <a:t>activity.</a:t>
            </a:r>
            <a:endParaRPr lang="en-US" dirty="0" smtClean="0"/>
          </a:p>
          <a:p>
            <a:r>
              <a:rPr lang="en-US" dirty="0" smtClean="0"/>
              <a:t>U</a:t>
            </a:r>
            <a:r>
              <a:rPr lang="en-US" dirty="0" smtClean="0"/>
              <a:t>se </a:t>
            </a:r>
            <a:r>
              <a:rPr lang="en-US" dirty="0" smtClean="0"/>
              <a:t>advanced analytic tools to determine emerging threat patterns and </a:t>
            </a:r>
            <a:r>
              <a:rPr lang="en-US" dirty="0" smtClean="0"/>
              <a:t>vulnerabilities.</a:t>
            </a:r>
            <a:endParaRPr lang="en-US" dirty="0" smtClean="0"/>
          </a:p>
          <a:p>
            <a:r>
              <a:rPr lang="en-US" dirty="0" smtClean="0"/>
              <a:t>Engage </a:t>
            </a:r>
            <a:r>
              <a:rPr lang="en-US" dirty="0" smtClean="0"/>
              <a:t>in 'ethical hacking', for example, simulating security </a:t>
            </a:r>
            <a:r>
              <a:rPr lang="en-US" dirty="0" smtClean="0"/>
              <a:t>breaches.</a:t>
            </a:r>
            <a:endParaRPr lang="en-US" dirty="0" smtClean="0"/>
          </a:p>
          <a:p>
            <a:r>
              <a:rPr lang="en-US" dirty="0" smtClean="0"/>
              <a:t>Identify </a:t>
            </a:r>
            <a:r>
              <a:rPr lang="en-US" dirty="0" smtClean="0"/>
              <a:t>potential weaknesses and implement measures, such as firewalls and </a:t>
            </a:r>
            <a:r>
              <a:rPr lang="en-US" dirty="0" smtClean="0"/>
              <a:t>encryption.</a:t>
            </a:r>
            <a:endParaRPr lang="en-US" dirty="0" smtClean="0"/>
          </a:p>
          <a:p>
            <a:r>
              <a:rPr lang="en-US" dirty="0" smtClean="0"/>
              <a:t>Investigate </a:t>
            </a:r>
            <a:r>
              <a:rPr lang="en-US" dirty="0" smtClean="0"/>
              <a:t>security alerts and provide incident </a:t>
            </a:r>
            <a:r>
              <a:rPr lang="en-US" dirty="0" smtClean="0"/>
              <a:t>response.</a:t>
            </a:r>
            <a:endParaRPr lang="en-US" dirty="0" smtClean="0"/>
          </a:p>
          <a:p>
            <a:r>
              <a:rPr lang="en-US" dirty="0" smtClean="0"/>
              <a:t>Monitor </a:t>
            </a:r>
            <a:r>
              <a:rPr lang="en-US" dirty="0" smtClean="0"/>
              <a:t>identity and access management, including monitoring for abuse of permissions by </a:t>
            </a:r>
            <a:r>
              <a:rPr lang="en-US" dirty="0" smtClean="0"/>
              <a:t>authorized </a:t>
            </a:r>
            <a:r>
              <a:rPr lang="en-US" dirty="0" smtClean="0"/>
              <a:t>system </a:t>
            </a:r>
            <a:r>
              <a:rPr lang="en-US" dirty="0" smtClean="0"/>
              <a:t>users.</a:t>
            </a:r>
            <a:endParaRPr lang="en-US" dirty="0" smtClean="0"/>
          </a:p>
          <a:p>
            <a:r>
              <a:rPr lang="en-US" dirty="0" smtClean="0"/>
              <a:t>Maintain </a:t>
            </a:r>
            <a:r>
              <a:rPr lang="en-US" dirty="0" smtClean="0"/>
              <a:t>an information security risk register and assist with internal and external audits relating to information </a:t>
            </a:r>
            <a:r>
              <a:rPr lang="en-US" dirty="0" smtClean="0"/>
              <a:t>security.</a:t>
            </a:r>
            <a:endParaRPr lang="en-US" dirty="0" smtClean="0"/>
          </a:p>
          <a:p>
            <a:r>
              <a:rPr lang="en-US" dirty="0" smtClean="0"/>
              <a:t>Monitor </a:t>
            </a:r>
            <a:r>
              <a:rPr lang="en-US" dirty="0" smtClean="0"/>
              <a:t>and respond to 'phishing' emails and '</a:t>
            </a:r>
            <a:r>
              <a:rPr lang="en-US" dirty="0" err="1" smtClean="0"/>
              <a:t>pharming</a:t>
            </a:r>
            <a:r>
              <a:rPr lang="en-US" dirty="0" smtClean="0"/>
              <a:t>' </a:t>
            </a:r>
            <a:r>
              <a:rPr lang="en-US" dirty="0" smtClean="0"/>
              <a:t>activity.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Cloud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Cloud engineers </a:t>
            </a:r>
            <a:r>
              <a:rPr lang="en-US" dirty="0" smtClean="0"/>
              <a:t>are responsible for performing the technical duties associated with cloud computing. This can involve anything from designing cloud software and systems to implementing and maintaining </a:t>
            </a:r>
            <a:r>
              <a:rPr lang="en-US" dirty="0" smtClean="0"/>
              <a:t>them.</a:t>
            </a:r>
          </a:p>
          <a:p>
            <a:r>
              <a:rPr lang="en-US" dirty="0" smtClean="0"/>
              <a:t>Implement </a:t>
            </a:r>
            <a:r>
              <a:rPr lang="en-US" dirty="0" smtClean="0"/>
              <a:t>cloud-applications, migrate existing on-premise applications to the cloud, and debug cloud stacks.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Cloud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557921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As a </a:t>
            </a:r>
            <a:r>
              <a:rPr lang="en-US" dirty="0" smtClean="0"/>
              <a:t>cloud Engineer, </a:t>
            </a:r>
            <a:r>
              <a:rPr lang="en-US" dirty="0" smtClean="0"/>
              <a:t>you'll need to</a:t>
            </a:r>
            <a:r>
              <a:rPr lang="en-US" dirty="0" smtClean="0"/>
              <a:t>:</a:t>
            </a:r>
          </a:p>
          <a:p>
            <a:r>
              <a:rPr lang="en-US" dirty="0" smtClean="0"/>
              <a:t>Collaborate with </a:t>
            </a:r>
            <a:r>
              <a:rPr lang="en-US" dirty="0" smtClean="0"/>
              <a:t>engineering and development teams to evaluate and identify optimal cloud solutions.</a:t>
            </a:r>
          </a:p>
          <a:p>
            <a:r>
              <a:rPr lang="en-US" dirty="0" smtClean="0"/>
              <a:t>Modify </a:t>
            </a:r>
            <a:r>
              <a:rPr lang="en-US" dirty="0" smtClean="0"/>
              <a:t>and </a:t>
            </a:r>
            <a:r>
              <a:rPr lang="en-US" dirty="0" smtClean="0"/>
              <a:t>improve existing </a:t>
            </a:r>
            <a:r>
              <a:rPr lang="en-US" dirty="0" smtClean="0"/>
              <a:t>systems.</a:t>
            </a:r>
          </a:p>
          <a:p>
            <a:r>
              <a:rPr lang="en-US" dirty="0" smtClean="0"/>
              <a:t>Educate  </a:t>
            </a:r>
            <a:r>
              <a:rPr lang="en-US" dirty="0" smtClean="0"/>
              <a:t>teams on the implementation of new cloud technologies and initiatives.</a:t>
            </a:r>
          </a:p>
          <a:p>
            <a:r>
              <a:rPr lang="en-US" dirty="0" smtClean="0"/>
              <a:t>Design, develop, </a:t>
            </a:r>
            <a:r>
              <a:rPr lang="en-US" dirty="0" smtClean="0"/>
              <a:t>and </a:t>
            </a:r>
            <a:r>
              <a:rPr lang="en-US" dirty="0" smtClean="0"/>
              <a:t>deploy </a:t>
            </a:r>
            <a:r>
              <a:rPr lang="en-US" dirty="0" smtClean="0"/>
              <a:t>modular cloud-based systems.</a:t>
            </a:r>
          </a:p>
          <a:p>
            <a:r>
              <a:rPr lang="en-US" dirty="0" smtClean="0"/>
              <a:t>Develop and maintain </a:t>
            </a:r>
            <a:r>
              <a:rPr lang="en-US" dirty="0" smtClean="0"/>
              <a:t>cloud solutions in accordance with best practices.</a:t>
            </a:r>
          </a:p>
          <a:p>
            <a:r>
              <a:rPr lang="en-US" dirty="0" smtClean="0"/>
              <a:t>Ensure </a:t>
            </a:r>
            <a:r>
              <a:rPr lang="en-US" dirty="0" smtClean="0"/>
              <a:t>efficient functioning of data storage and processing functions in accordance with company security policies and best practices in cloud security.</a:t>
            </a:r>
          </a:p>
          <a:p>
            <a:r>
              <a:rPr lang="en-US" dirty="0" smtClean="0"/>
              <a:t>Identify, analyze, </a:t>
            </a:r>
            <a:r>
              <a:rPr lang="en-US" dirty="0" smtClean="0"/>
              <a:t>and </a:t>
            </a:r>
            <a:r>
              <a:rPr lang="en-US" dirty="0" smtClean="0"/>
              <a:t>resolve </a:t>
            </a:r>
            <a:r>
              <a:rPr lang="en-US" dirty="0" smtClean="0"/>
              <a:t>infrastructure vulnerabilities and application deployment issues.</a:t>
            </a:r>
          </a:p>
          <a:p>
            <a:r>
              <a:rPr lang="en-US" dirty="0" smtClean="0"/>
              <a:t>Regularly </a:t>
            </a:r>
            <a:r>
              <a:rPr lang="en-US" dirty="0" smtClean="0"/>
              <a:t>review </a:t>
            </a:r>
            <a:r>
              <a:rPr lang="en-US" dirty="0" smtClean="0"/>
              <a:t>existing systems and making recommendations for improvements.</a:t>
            </a:r>
          </a:p>
          <a:p>
            <a:r>
              <a:rPr lang="en-US" dirty="0" smtClean="0"/>
              <a:t>Interact </a:t>
            </a:r>
            <a:r>
              <a:rPr lang="en-US" dirty="0" smtClean="0"/>
              <a:t>with clients, providing cloud support, and making recommendations based on client needs.</a:t>
            </a:r>
          </a:p>
          <a:p>
            <a:pPr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err="1" smtClean="0"/>
              <a:t>DevOps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err="1" smtClean="0"/>
              <a:t>DevOps</a:t>
            </a:r>
            <a:r>
              <a:rPr lang="en-US" dirty="0" smtClean="0"/>
              <a:t> is a set of </a:t>
            </a:r>
            <a:r>
              <a:rPr lang="en-US" dirty="0" smtClean="0"/>
              <a:t>practices/</a:t>
            </a:r>
            <a:r>
              <a:rPr lang="en-US" dirty="0" smtClean="0"/>
              <a:t>cross-functional combination</a:t>
            </a:r>
            <a:r>
              <a:rPr lang="en-US" dirty="0" smtClean="0"/>
              <a:t> </a:t>
            </a:r>
            <a:r>
              <a:rPr lang="en-US" dirty="0" smtClean="0"/>
              <a:t>that combines software development (Dev) and IT operations (Ops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It aims to shorten the development life cycle and all the IT operations related to a software by continuously and automatically integrating updates and changes through the process called  continuous integration (CI) and continuous deployment (CD).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err="1" smtClean="0"/>
              <a:t>DevOps</a:t>
            </a:r>
            <a:r>
              <a:rPr lang="en-US" dirty="0" smtClean="0"/>
              <a:t>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/>
          </a:bodyPr>
          <a:lstStyle/>
          <a:p>
            <a:r>
              <a:rPr lang="en-US" dirty="0" err="1" smtClean="0"/>
              <a:t>DevOps</a:t>
            </a:r>
            <a:r>
              <a:rPr lang="en-US" dirty="0" smtClean="0"/>
              <a:t> Engineers are professionals who work </a:t>
            </a:r>
            <a:r>
              <a:rPr lang="en-US" dirty="0" smtClean="0"/>
              <a:t>with developers and the IT staff to oversee the </a:t>
            </a:r>
            <a:r>
              <a:rPr lang="en-US" dirty="0" smtClean="0"/>
              <a:t>code </a:t>
            </a:r>
            <a:r>
              <a:rPr lang="en-US" dirty="0" smtClean="0"/>
              <a:t>releases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They </a:t>
            </a:r>
            <a:r>
              <a:rPr lang="en-US" dirty="0" smtClean="0"/>
              <a:t>build, test and maintain the infrastructure and tools to allow for the speedy development and release of software.</a:t>
            </a:r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63042" y="365125"/>
            <a:ext cx="7290758" cy="1325563"/>
          </a:xfrm>
        </p:spPr>
        <p:txBody>
          <a:bodyPr/>
          <a:lstStyle/>
          <a:p>
            <a:r>
              <a:rPr lang="en-US" dirty="0" smtClean="0"/>
              <a:t>Responsibilities of a </a:t>
            </a:r>
            <a:r>
              <a:rPr lang="en-US" dirty="0" err="1" smtClean="0"/>
              <a:t>DevOps</a:t>
            </a:r>
            <a:r>
              <a:rPr lang="en-US" dirty="0" smtClean="0"/>
              <a:t> Engineer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3042" y="1825625"/>
            <a:ext cx="7290758" cy="4351338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dirty="0" smtClean="0"/>
              <a:t>B</a:t>
            </a:r>
            <a:r>
              <a:rPr lang="en-US" dirty="0" smtClean="0"/>
              <a:t>uild </a:t>
            </a:r>
            <a:r>
              <a:rPr lang="en-US" dirty="0" smtClean="0"/>
              <a:t>and </a:t>
            </a:r>
            <a:r>
              <a:rPr lang="en-US" dirty="0" smtClean="0"/>
              <a:t>set </a:t>
            </a:r>
            <a:r>
              <a:rPr lang="en-US" dirty="0" smtClean="0"/>
              <a:t>up new development tools and </a:t>
            </a:r>
            <a:r>
              <a:rPr lang="en-US" dirty="0" smtClean="0"/>
              <a:t>infrastructure.</a:t>
            </a:r>
            <a:endParaRPr lang="en-US" dirty="0" smtClean="0"/>
          </a:p>
          <a:p>
            <a:pPr fontAlgn="base"/>
            <a:r>
              <a:rPr lang="en-US" dirty="0" smtClean="0"/>
              <a:t>W</a:t>
            </a:r>
            <a:r>
              <a:rPr lang="en-US" dirty="0" smtClean="0"/>
              <a:t>ork </a:t>
            </a:r>
            <a:r>
              <a:rPr lang="en-US" dirty="0" smtClean="0"/>
              <a:t>on ways to automate and improve development and release </a:t>
            </a:r>
            <a:r>
              <a:rPr lang="en-US" dirty="0" smtClean="0"/>
              <a:t>processes.</a:t>
            </a:r>
            <a:endParaRPr lang="en-US" dirty="0" smtClean="0"/>
          </a:p>
          <a:p>
            <a:pPr fontAlgn="base"/>
            <a:r>
              <a:rPr lang="en-US" dirty="0" smtClean="0"/>
              <a:t>T</a:t>
            </a:r>
            <a:r>
              <a:rPr lang="en-US" dirty="0" smtClean="0"/>
              <a:t>est </a:t>
            </a:r>
            <a:r>
              <a:rPr lang="en-US" dirty="0" smtClean="0"/>
              <a:t>and </a:t>
            </a:r>
            <a:r>
              <a:rPr lang="en-US" dirty="0" smtClean="0"/>
              <a:t>examine </a:t>
            </a:r>
            <a:r>
              <a:rPr lang="en-US" dirty="0" smtClean="0"/>
              <a:t>code written by others and </a:t>
            </a:r>
            <a:r>
              <a:rPr lang="en-US" dirty="0" smtClean="0"/>
              <a:t>analyzing results.</a:t>
            </a:r>
            <a:endParaRPr lang="en-US" dirty="0" smtClean="0"/>
          </a:p>
          <a:p>
            <a:pPr fontAlgn="base"/>
            <a:r>
              <a:rPr lang="en-US" dirty="0" smtClean="0"/>
              <a:t>E</a:t>
            </a:r>
            <a:r>
              <a:rPr lang="en-US" dirty="0" smtClean="0"/>
              <a:t>nsure </a:t>
            </a:r>
            <a:r>
              <a:rPr lang="en-US" dirty="0" smtClean="0"/>
              <a:t>that systems are safe and secure against </a:t>
            </a:r>
            <a:r>
              <a:rPr lang="en-US" dirty="0" err="1" smtClean="0"/>
              <a:t>cybersecurity</a:t>
            </a:r>
            <a:r>
              <a:rPr lang="en-US" dirty="0" smtClean="0"/>
              <a:t> </a:t>
            </a:r>
            <a:r>
              <a:rPr lang="en-US" dirty="0" smtClean="0"/>
              <a:t>threats.</a:t>
            </a:r>
            <a:endParaRPr lang="en-US" dirty="0" smtClean="0"/>
          </a:p>
          <a:p>
            <a:pPr fontAlgn="base"/>
            <a:r>
              <a:rPr lang="en-US" dirty="0" smtClean="0"/>
              <a:t>I</a:t>
            </a:r>
            <a:r>
              <a:rPr lang="en-US" dirty="0" smtClean="0"/>
              <a:t>dentify </a:t>
            </a:r>
            <a:r>
              <a:rPr lang="en-US" dirty="0" smtClean="0"/>
              <a:t>technical problems and developing software updates and ‘fixes</a:t>
            </a:r>
            <a:r>
              <a:rPr lang="en-US" dirty="0" smtClean="0"/>
              <a:t>’.</a:t>
            </a:r>
            <a:endParaRPr lang="en-US" dirty="0" smtClean="0"/>
          </a:p>
          <a:p>
            <a:pPr fontAlgn="base"/>
            <a:r>
              <a:rPr lang="en-US" dirty="0" smtClean="0"/>
              <a:t>Work with </a:t>
            </a:r>
            <a:r>
              <a:rPr lang="en-US" dirty="0" smtClean="0"/>
              <a:t>software developers and software engineers to ensure that development follows established processes and works as </a:t>
            </a:r>
            <a:r>
              <a:rPr lang="en-US" dirty="0" smtClean="0"/>
              <a:t>intended.</a:t>
            </a:r>
            <a:endParaRPr lang="en-US" dirty="0" smtClean="0"/>
          </a:p>
          <a:p>
            <a:pPr fontAlgn="base"/>
            <a:r>
              <a:rPr lang="en-US" dirty="0" smtClean="0"/>
              <a:t>P</a:t>
            </a:r>
            <a:r>
              <a:rPr lang="en-US" dirty="0" smtClean="0"/>
              <a:t>lan </a:t>
            </a:r>
            <a:r>
              <a:rPr lang="en-US" dirty="0" smtClean="0"/>
              <a:t>out projects and being involved in project management decisions</a:t>
            </a:r>
            <a:r>
              <a:rPr lang="en-US" dirty="0" smtClean="0"/>
              <a:t>.</a:t>
            </a:r>
          </a:p>
          <a:p>
            <a:pPr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40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9F299D9-CB3C-5E4C-B055-26DC8600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1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8626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2413</Words>
  <Application>Microsoft Macintosh PowerPoint</Application>
  <PresentationFormat>Custom</PresentationFormat>
  <Paragraphs>245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Slide 1</vt:lpstr>
      <vt:lpstr>Slide 2</vt:lpstr>
      <vt:lpstr>IT as an Industry</vt:lpstr>
      <vt:lpstr>Branches of IT</vt:lpstr>
      <vt:lpstr>Software</vt:lpstr>
      <vt:lpstr>Software Development</vt:lpstr>
      <vt:lpstr>Application/Web Developer</vt:lpstr>
      <vt:lpstr>Responsibilities of an Application Developer</vt:lpstr>
      <vt:lpstr>Responsibilities of a Web Developer</vt:lpstr>
      <vt:lpstr>Application Architect</vt:lpstr>
      <vt:lpstr>Responsibilities of an Architect</vt:lpstr>
      <vt:lpstr>Data Analyst/Scientist</vt:lpstr>
      <vt:lpstr>Responsibilities of a Data Analyst</vt:lpstr>
      <vt:lpstr>Responsibilities of a Data Scientist</vt:lpstr>
      <vt:lpstr>Software Tester</vt:lpstr>
      <vt:lpstr>Responsibilities of a Tester</vt:lpstr>
      <vt:lpstr>Software Operations</vt:lpstr>
      <vt:lpstr>Database Administrator</vt:lpstr>
      <vt:lpstr>Responsibilities of a DBA</vt:lpstr>
      <vt:lpstr>Network Engineer</vt:lpstr>
      <vt:lpstr>Responsibilities of a Network Engineer</vt:lpstr>
      <vt:lpstr>Cyber Security Engineer</vt:lpstr>
      <vt:lpstr>Responsibilities of a Cyber Security Engineer</vt:lpstr>
      <vt:lpstr>Cloud Engineer</vt:lpstr>
      <vt:lpstr>Responsibilities of a Cloud Engineer</vt:lpstr>
      <vt:lpstr>DevOps</vt:lpstr>
      <vt:lpstr>DevOps Engineer</vt:lpstr>
      <vt:lpstr>Responsibilities of a DevOps Engineer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JOAO</dc:creator>
  <cp:lastModifiedBy>Anantha Narayanan Varadharajan</cp:lastModifiedBy>
  <cp:revision>137</cp:revision>
  <dcterms:created xsi:type="dcterms:W3CDTF">2021-02-09T15:04:07Z</dcterms:created>
  <dcterms:modified xsi:type="dcterms:W3CDTF">2021-02-11T16:12:04Z</dcterms:modified>
</cp:coreProperties>
</file>